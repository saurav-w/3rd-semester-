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5517aa3d6f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5517aa3d6f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5517aa3d6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5517aa3d6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5517aa3d6f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5517aa3d6f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5517aa3d6f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5517aa3d6f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5517aa3d6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5517aa3d6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5517aa3d6f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5517aa3d6f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5517aa3d6f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5517aa3d6f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5517aa3d6f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5517aa3d6f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5517aa3d6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5517aa3d6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5517aa3d6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5517aa3d6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5add3d362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5add3d362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5add3d362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5add3d362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5add3d362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5add3d362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5add3d362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15add3d362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15add3d362d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15add3d362d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15add3d362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15add3d362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15add3d362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15add3d362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5add3d362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5add3d362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5add3d362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5add3d362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574f26106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574f26106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574f26106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574f26106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574f26106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574f26106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574f26106d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574f26106d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574f26106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574f26106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1574f26106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1574f26106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574f26106d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574f26106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574f26106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574f26106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574f26106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574f26106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574f26106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574f26106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574f26106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574f26106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6ac12282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6ac12282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6ac12282e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6ac12282e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6ac12282e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6ac12282e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6ac12282e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6ac12282e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6ac12282e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6ac12282e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6ac12282e4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6ac12282e4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6ac12282e4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6ac12282e4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6ac12282e4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6ac12282e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6ac12282e4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6ac12282e4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574f26106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574f26106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6e4083540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6e4083540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6e4083540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6e4083540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6e4083540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6e4083540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4.png"/><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Unit 7: Searching and Hashing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55000"/>
          </a:bodyPr>
          <a:lstStyle/>
          <a:p>
            <a:pPr indent="0" lvl="0" marL="0" rtl="0" algn="ctr">
              <a:spcBef>
                <a:spcPts val="0"/>
              </a:spcBef>
              <a:spcAft>
                <a:spcPts val="0"/>
              </a:spcAft>
              <a:buNone/>
            </a:pPr>
            <a:r>
              <a:rPr lang="en"/>
              <a:t>Introduction to Searching, Search Algorithms: Sequential Search, Binary Search, Efficiency of Search Algorithms, Hashing : Hash Function and Hash Tables, Collision Resolution Techniques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Searching</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a:t>
            </a:r>
            <a:r>
              <a:rPr lang="en"/>
              <a:t>rocess of checking and finding an element from a list of elements. </a:t>
            </a:r>
            <a:endParaRPr/>
          </a:p>
          <a:p>
            <a:pPr indent="-342900" lvl="0" marL="457200" rtl="0" algn="l">
              <a:spcBef>
                <a:spcPts val="0"/>
              </a:spcBef>
              <a:spcAft>
                <a:spcPts val="0"/>
              </a:spcAft>
              <a:buSzPts val="1800"/>
              <a:buChar char="●"/>
            </a:pPr>
            <a:r>
              <a:rPr lang="en"/>
              <a:t>Let A be a collection of data elements, i.e., A is a linear array of say n elements. If we want to find the presence of an element "data" in A, then we have to </a:t>
            </a:r>
            <a:r>
              <a:rPr b="1" lang="en"/>
              <a:t>search</a:t>
            </a:r>
            <a:r>
              <a:rPr lang="en"/>
              <a:t> for it. </a:t>
            </a:r>
            <a:endParaRPr/>
          </a:p>
          <a:p>
            <a:pPr indent="-342900" lvl="0" marL="457200" rtl="0" algn="l">
              <a:spcBef>
                <a:spcPts val="0"/>
              </a:spcBef>
              <a:spcAft>
                <a:spcPts val="0"/>
              </a:spcAft>
              <a:buSzPts val="1800"/>
              <a:buChar char="●"/>
            </a:pPr>
            <a:r>
              <a:rPr lang="en"/>
              <a:t>The search is successful if data </a:t>
            </a:r>
            <a:r>
              <a:rPr b="1" lang="en"/>
              <a:t>does appear in A</a:t>
            </a:r>
            <a:r>
              <a:rPr lang="en"/>
              <a:t> and unsuccessful if otherwise. </a:t>
            </a:r>
            <a:endParaRPr/>
          </a:p>
          <a:p>
            <a:pPr indent="-342900" lvl="0" marL="457200" rtl="0" algn="l">
              <a:spcBef>
                <a:spcPts val="0"/>
              </a:spcBef>
              <a:spcAft>
                <a:spcPts val="0"/>
              </a:spcAft>
              <a:buSzPts val="1800"/>
              <a:buChar char="●"/>
            </a:pPr>
            <a:r>
              <a:rPr lang="en"/>
              <a:t>There are several types of searching techniques : </a:t>
            </a:r>
            <a:endParaRPr/>
          </a:p>
          <a:p>
            <a:pPr indent="-317500" lvl="1" marL="914400" rtl="0" algn="l">
              <a:spcBef>
                <a:spcPts val="0"/>
              </a:spcBef>
              <a:spcAft>
                <a:spcPts val="0"/>
              </a:spcAft>
              <a:buSzPts val="1400"/>
              <a:buChar char="○"/>
            </a:pPr>
            <a:r>
              <a:rPr lang="en"/>
              <a:t>Linear or Sequential Searching(Small arrays and unsorted arrays) ,</a:t>
            </a:r>
            <a:endParaRPr/>
          </a:p>
          <a:p>
            <a:pPr indent="-317500" lvl="1" marL="914400" rtl="0" algn="l">
              <a:spcBef>
                <a:spcPts val="0"/>
              </a:spcBef>
              <a:spcAft>
                <a:spcPts val="0"/>
              </a:spcAft>
              <a:buSzPts val="1400"/>
              <a:buChar char="○"/>
            </a:pPr>
            <a:r>
              <a:rPr lang="en"/>
              <a:t> Binary Searching(Large arrays and sorted arrays)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Sequential / Linear Search</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Linear Search is a method for finding a target value within a list.</a:t>
            </a:r>
            <a:endParaRPr/>
          </a:p>
          <a:p>
            <a:pPr indent="-342900" lvl="0" marL="457200" rtl="0" algn="l">
              <a:spcBef>
                <a:spcPts val="0"/>
              </a:spcBef>
              <a:spcAft>
                <a:spcPts val="0"/>
              </a:spcAft>
              <a:buSzPts val="1800"/>
              <a:buChar char="●"/>
            </a:pPr>
            <a:r>
              <a:rPr lang="en"/>
              <a:t>It </a:t>
            </a:r>
            <a:r>
              <a:rPr lang="en" u="sng"/>
              <a:t>sequentially checks each element of the list for the target value</a:t>
            </a:r>
            <a:r>
              <a:rPr lang="en"/>
              <a:t> until a match is found or until all the elements have been searched. </a:t>
            </a:r>
            <a:endParaRPr/>
          </a:p>
          <a:p>
            <a:pPr indent="-342900" lvl="0" marL="457200" rtl="0" algn="l">
              <a:spcBef>
                <a:spcPts val="0"/>
              </a:spcBef>
              <a:spcAft>
                <a:spcPts val="0"/>
              </a:spcAft>
              <a:buSzPts val="1800"/>
              <a:buChar char="●"/>
            </a:pPr>
            <a:r>
              <a:rPr lang="en"/>
              <a:t>Linear search algorithm finds a given element in a list of elements with </a:t>
            </a:r>
            <a:r>
              <a:rPr b="1" lang="en"/>
              <a:t>0(n) </a:t>
            </a:r>
            <a:r>
              <a:rPr lang="en"/>
              <a:t>time complexity where n is total number of elements in the list. </a:t>
            </a:r>
            <a:endParaRPr/>
          </a:p>
          <a:p>
            <a:pPr indent="-342900" lvl="0" marL="457200" rtl="0" algn="l">
              <a:spcBef>
                <a:spcPts val="0"/>
              </a:spcBef>
              <a:spcAft>
                <a:spcPts val="0"/>
              </a:spcAft>
              <a:buSzPts val="1800"/>
              <a:buChar char="●"/>
            </a:pPr>
            <a:r>
              <a:rPr lang="en"/>
              <a:t>Algorithm: </a:t>
            </a:r>
            <a:endParaRPr/>
          </a:p>
          <a:p>
            <a:pPr indent="-342900" lvl="0" marL="914400" rtl="0" algn="l">
              <a:spcBef>
                <a:spcPts val="0"/>
              </a:spcBef>
              <a:spcAft>
                <a:spcPts val="0"/>
              </a:spcAft>
              <a:buSzPts val="1800"/>
              <a:buAutoNum type="arabicPeriod"/>
            </a:pPr>
            <a:r>
              <a:rPr lang="en"/>
              <a:t>Start from the leftmost element of array and compare each element one by one with x. </a:t>
            </a:r>
            <a:endParaRPr/>
          </a:p>
          <a:p>
            <a:pPr indent="-342900" lvl="0" marL="914400" rtl="0" algn="l">
              <a:spcBef>
                <a:spcPts val="0"/>
              </a:spcBef>
              <a:spcAft>
                <a:spcPts val="0"/>
              </a:spcAft>
              <a:buSzPts val="1800"/>
              <a:buAutoNum type="arabicPeriod"/>
            </a:pPr>
            <a:r>
              <a:rPr lang="en"/>
              <a:t>If x matches with an element, return the index (hit). </a:t>
            </a:r>
            <a:endParaRPr/>
          </a:p>
          <a:p>
            <a:pPr indent="-342900" lvl="0" marL="914400" rtl="0" algn="l">
              <a:spcBef>
                <a:spcPts val="0"/>
              </a:spcBef>
              <a:spcAft>
                <a:spcPts val="0"/>
              </a:spcAft>
              <a:buSzPts val="1800"/>
              <a:buAutoNum type="arabicPeriod"/>
            </a:pPr>
            <a:r>
              <a:rPr lang="en"/>
              <a:t>If x doesn't match with any of elements, return -1(miss).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Sequential / Linear Search[2]</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Search 12 in list of element {65,20,10,55,32,12,50,99}</a:t>
            </a:r>
            <a:endParaRPr/>
          </a:p>
          <a:p>
            <a:pPr indent="0" lvl="0" marL="0" rtl="0" algn="l">
              <a:spcBef>
                <a:spcPts val="1200"/>
              </a:spcBef>
              <a:spcAft>
                <a:spcPts val="1200"/>
              </a:spcAft>
              <a:buNone/>
            </a:pPr>
            <a:r>
              <a:t/>
            </a:r>
            <a:endParaRPr/>
          </a:p>
        </p:txBody>
      </p:sp>
      <p:pic>
        <p:nvPicPr>
          <p:cNvPr id="74" name="Google Shape;74;p16"/>
          <p:cNvPicPr preferRelativeResize="0"/>
          <p:nvPr/>
        </p:nvPicPr>
        <p:blipFill>
          <a:blip r:embed="rId3">
            <a:alphaModFix/>
          </a:blip>
          <a:stretch>
            <a:fillRect/>
          </a:stretch>
        </p:blipFill>
        <p:spPr>
          <a:xfrm>
            <a:off x="2026900" y="1496725"/>
            <a:ext cx="7007551" cy="3646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Sequential / Linear Search[3]</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1" name="Google Shape;81;p17"/>
          <p:cNvPicPr preferRelativeResize="0"/>
          <p:nvPr/>
        </p:nvPicPr>
        <p:blipFill>
          <a:blip r:embed="rId3">
            <a:alphaModFix/>
          </a:blip>
          <a:stretch>
            <a:fillRect/>
          </a:stretch>
        </p:blipFill>
        <p:spPr>
          <a:xfrm>
            <a:off x="830150" y="1017725"/>
            <a:ext cx="7308012" cy="4125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Sequential / Linear Search - Analysis</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Worst case scenario </a:t>
            </a:r>
            <a:r>
              <a:rPr lang="en"/>
              <a:t>=&gt; The target element is not in the list of at the end</a:t>
            </a:r>
            <a:endParaRPr/>
          </a:p>
          <a:p>
            <a:pPr indent="457200" lvl="0" marL="457200" rtl="0" algn="l">
              <a:spcBef>
                <a:spcPts val="1200"/>
              </a:spcBef>
              <a:spcAft>
                <a:spcPts val="0"/>
              </a:spcAft>
              <a:buNone/>
            </a:pPr>
            <a:r>
              <a:rPr lang="en"/>
              <a:t>Total Comparisons = n, so complexity is O(n)</a:t>
            </a:r>
            <a:endParaRPr/>
          </a:p>
          <a:p>
            <a:pPr indent="0" lvl="0" marL="0" rtl="0" algn="l">
              <a:spcBef>
                <a:spcPts val="1200"/>
              </a:spcBef>
              <a:spcAft>
                <a:spcPts val="0"/>
              </a:spcAft>
              <a:buNone/>
            </a:pPr>
            <a:r>
              <a:rPr b="1" lang="en" u="sng"/>
              <a:t>Best Case Scenario </a:t>
            </a:r>
            <a:r>
              <a:rPr lang="en"/>
              <a:t>=&gt; The target element is at the first position</a:t>
            </a:r>
            <a:endParaRPr/>
          </a:p>
          <a:p>
            <a:pPr indent="0" lvl="0" marL="0" rtl="0" algn="l">
              <a:spcBef>
                <a:spcPts val="1200"/>
              </a:spcBef>
              <a:spcAft>
                <a:spcPts val="0"/>
              </a:spcAft>
              <a:buNone/>
            </a:pPr>
            <a:r>
              <a:rPr lang="en"/>
              <a:t>	Total Comparisons = 1, so complexity is O(1)</a:t>
            </a:r>
            <a:endParaRPr/>
          </a:p>
          <a:p>
            <a:pPr indent="0" lvl="0" marL="0" rtl="0" algn="l">
              <a:spcBef>
                <a:spcPts val="1200"/>
              </a:spcBef>
              <a:spcAft>
                <a:spcPts val="0"/>
              </a:spcAft>
              <a:buNone/>
            </a:pPr>
            <a:r>
              <a:rPr b="1" lang="en" u="sng"/>
              <a:t>Average Case Scenario </a:t>
            </a:r>
            <a:r>
              <a:rPr lang="en"/>
              <a:t>The </a:t>
            </a:r>
            <a:r>
              <a:rPr lang="en"/>
              <a:t>target</a:t>
            </a:r>
            <a:r>
              <a:rPr lang="en"/>
              <a:t> element can be anywhere in the list</a:t>
            </a:r>
            <a:endParaRPr/>
          </a:p>
          <a:p>
            <a:pPr indent="0" lvl="0" marL="0" rtl="0" algn="l">
              <a:spcBef>
                <a:spcPts val="1200"/>
              </a:spcBef>
              <a:spcAft>
                <a:spcPts val="1200"/>
              </a:spcAft>
              <a:buNone/>
            </a:pPr>
            <a:r>
              <a:rPr lang="en"/>
              <a:t>	Total comparisons = average of possible comparisons.</a:t>
            </a:r>
            <a:br>
              <a:rPr lang="en"/>
            </a:br>
            <a:r>
              <a:rPr lang="en"/>
              <a:t>Ie: [ n+(n-1)+(n-2)+.....+1) / n </a:t>
            </a:r>
            <a:r>
              <a:rPr lang="en"/>
              <a:t>comparison</a:t>
            </a:r>
            <a:r>
              <a:rPr lang="en"/>
              <a:t>, so the complexity is 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Sequential / Linear Search - Assignments</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a given array: </a:t>
            </a:r>
            <a:r>
              <a:rPr lang="en"/>
              <a:t>{65,20,10,55,32,12,50,99}</a:t>
            </a:r>
            <a:endParaRPr/>
          </a:p>
          <a:p>
            <a:pPr indent="-342900" lvl="0" marL="457200" rtl="0" algn="l">
              <a:spcBef>
                <a:spcPts val="1200"/>
              </a:spcBef>
              <a:spcAft>
                <a:spcPts val="0"/>
              </a:spcAft>
              <a:buSzPts val="1800"/>
              <a:buAutoNum type="arabicPeriod"/>
            </a:pPr>
            <a:r>
              <a:rPr lang="en"/>
              <a:t>Find the element 65</a:t>
            </a:r>
            <a:endParaRPr/>
          </a:p>
          <a:p>
            <a:pPr indent="-342900" lvl="0" marL="457200" rtl="0" algn="l">
              <a:spcBef>
                <a:spcPts val="0"/>
              </a:spcBef>
              <a:spcAft>
                <a:spcPts val="0"/>
              </a:spcAft>
              <a:buSzPts val="1800"/>
              <a:buAutoNum type="arabicPeriod"/>
            </a:pPr>
            <a:r>
              <a:rPr lang="en"/>
              <a:t>Find the element 55</a:t>
            </a:r>
            <a:endParaRPr/>
          </a:p>
          <a:p>
            <a:pPr indent="-342900" lvl="0" marL="457200" rtl="0" algn="l">
              <a:spcBef>
                <a:spcPts val="0"/>
              </a:spcBef>
              <a:spcAft>
                <a:spcPts val="0"/>
              </a:spcAft>
              <a:buSzPts val="1800"/>
              <a:buAutoNum type="arabicPeriod"/>
            </a:pPr>
            <a:r>
              <a:rPr lang="en"/>
              <a:t>Find the element 100</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Binary Search</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Binary search can be implemented </a:t>
            </a:r>
            <a:r>
              <a:rPr b="1" lang="en" u="sng"/>
              <a:t>only on a sorted list of items</a:t>
            </a:r>
            <a:r>
              <a:rPr lang="en"/>
              <a:t>. </a:t>
            </a:r>
            <a:endParaRPr/>
          </a:p>
          <a:p>
            <a:pPr indent="-342900" lvl="0" marL="457200" rtl="0" algn="l">
              <a:spcBef>
                <a:spcPts val="0"/>
              </a:spcBef>
              <a:spcAft>
                <a:spcPts val="0"/>
              </a:spcAft>
              <a:buSzPts val="1800"/>
              <a:buChar char="●"/>
            </a:pPr>
            <a:r>
              <a:rPr lang="en"/>
              <a:t>If the elements are not sorted already, we need to sort them first. </a:t>
            </a:r>
            <a:endParaRPr/>
          </a:p>
          <a:p>
            <a:pPr indent="-342900" lvl="0" marL="457200" rtl="0" algn="l">
              <a:spcBef>
                <a:spcPts val="0"/>
              </a:spcBef>
              <a:spcAft>
                <a:spcPts val="0"/>
              </a:spcAft>
              <a:buSzPts val="1800"/>
              <a:buChar char="●"/>
            </a:pPr>
            <a:r>
              <a:rPr lang="en"/>
              <a:t>Binary search follows </a:t>
            </a:r>
            <a:r>
              <a:rPr b="1" lang="en"/>
              <a:t>divide and conquer approach</a:t>
            </a:r>
            <a:r>
              <a:rPr lang="en"/>
              <a:t> in which, the list is divided into two halves and the item is compared with the middle element of the list. </a:t>
            </a:r>
            <a:endParaRPr/>
          </a:p>
          <a:p>
            <a:pPr indent="-342900" lvl="0" marL="457200" rtl="0" algn="l">
              <a:spcBef>
                <a:spcPts val="0"/>
              </a:spcBef>
              <a:spcAft>
                <a:spcPts val="0"/>
              </a:spcAft>
              <a:buSzPts val="1800"/>
              <a:buChar char="●"/>
            </a:pPr>
            <a:r>
              <a:rPr lang="en"/>
              <a:t>If the match is found then, the location of middle element is returned otherwise, we search into either of the halves depending upon the result produced through the match. </a:t>
            </a:r>
            <a:endParaRPr/>
          </a:p>
          <a:p>
            <a:pPr indent="-342900" lvl="0" marL="457200" rtl="0" algn="l">
              <a:spcBef>
                <a:spcPts val="0"/>
              </a:spcBef>
              <a:spcAft>
                <a:spcPts val="0"/>
              </a:spcAft>
              <a:buSzPts val="1800"/>
              <a:buChar char="●"/>
            </a:pPr>
            <a:r>
              <a:rPr lang="en"/>
              <a:t>Binary search algorithm reduce the time complexity of search on sorted array to O(Log n)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Binary Search - Algorithm</a:t>
            </a:r>
            <a:endParaRPr/>
          </a:p>
        </p:txBody>
      </p:sp>
      <p:sp>
        <p:nvSpPr>
          <p:cNvPr id="105" name="Google Shape;105;p21"/>
          <p:cNvSpPr txBox="1"/>
          <p:nvPr>
            <p:ph idx="1" type="body"/>
          </p:nvPr>
        </p:nvSpPr>
        <p:spPr>
          <a:xfrm>
            <a:off x="311700" y="1152475"/>
            <a:ext cx="8520600" cy="3767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Step 1: Find the index of the middle (central) element as:</a:t>
            </a:r>
            <a:br>
              <a:rPr lang="en"/>
            </a:br>
            <a:r>
              <a:rPr lang="en"/>
              <a:t>		Mid = (first + last) / 2</a:t>
            </a:r>
            <a:endParaRPr/>
          </a:p>
          <a:p>
            <a:pPr indent="0" lvl="0" marL="0" rtl="0" algn="l">
              <a:spcBef>
                <a:spcPts val="1200"/>
              </a:spcBef>
              <a:spcAft>
                <a:spcPts val="0"/>
              </a:spcAft>
              <a:buNone/>
            </a:pPr>
            <a:r>
              <a:rPr lang="en"/>
              <a:t>Step 2: If the element is at the mid, return mid</a:t>
            </a:r>
            <a:endParaRPr/>
          </a:p>
          <a:p>
            <a:pPr indent="0" lvl="0" marL="0" rtl="0" algn="l">
              <a:spcBef>
                <a:spcPts val="1200"/>
              </a:spcBef>
              <a:spcAft>
                <a:spcPts val="0"/>
              </a:spcAft>
              <a:buNone/>
            </a:pPr>
            <a:r>
              <a:rPr lang="en"/>
              <a:t>Step 3: If the element at the mid is greater than the element to be searched ie element[mid] &gt; number, then update last index as: last = (mid-1) and go to Step 1.</a:t>
            </a:r>
            <a:endParaRPr/>
          </a:p>
          <a:p>
            <a:pPr indent="0" lvl="0" marL="0" rtl="0" algn="l">
              <a:spcBef>
                <a:spcPts val="1200"/>
              </a:spcBef>
              <a:spcAft>
                <a:spcPts val="0"/>
              </a:spcAft>
              <a:buNone/>
            </a:pPr>
            <a:r>
              <a:rPr lang="en"/>
              <a:t>Step 4: If the element at the mid is less than the element to be searched ie element[mid] &lt; number, then update last index as: first = (mid+1) and go to Step 1.</a:t>
            </a:r>
            <a:endParaRPr/>
          </a:p>
          <a:p>
            <a:pPr indent="0" lvl="0" marL="0" rtl="0" algn="l">
              <a:spcBef>
                <a:spcPts val="1200"/>
              </a:spcBef>
              <a:spcAft>
                <a:spcPts val="0"/>
              </a:spcAft>
              <a:buNone/>
            </a:pPr>
            <a:r>
              <a:rPr lang="en"/>
              <a:t>Step 5: Continue until mid == 0</a:t>
            </a:r>
            <a:endParaRPr/>
          </a:p>
          <a:p>
            <a:pPr indent="0" lvl="0" marL="0" rtl="0" algn="l">
              <a:spcBef>
                <a:spcPts val="1200"/>
              </a:spcBef>
              <a:spcAft>
                <a:spcPts val="1200"/>
              </a:spcAft>
              <a:buNone/>
            </a:pPr>
            <a:r>
              <a:rPr lang="en"/>
              <a:t>Step 6: Display number not found, if mid becomes 0.</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Binary Search - Example</a:t>
            </a:r>
            <a:endParaRPr/>
          </a:p>
        </p:txBody>
      </p:sp>
      <p:sp>
        <p:nvSpPr>
          <p:cNvPr id="111" name="Google Shape;111;p22"/>
          <p:cNvSpPr txBox="1"/>
          <p:nvPr>
            <p:ph idx="1" type="body"/>
          </p:nvPr>
        </p:nvSpPr>
        <p:spPr>
          <a:xfrm>
            <a:off x="311700" y="1152475"/>
            <a:ext cx="8520600" cy="3767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Search an element 46 from the list 4,10,16,24,32,46,76,112,144,182 using binary search algorithm.</a:t>
            </a:r>
            <a:endParaRPr/>
          </a:p>
        </p:txBody>
      </p:sp>
      <p:pic>
        <p:nvPicPr>
          <p:cNvPr id="112" name="Google Shape;112;p22"/>
          <p:cNvPicPr preferRelativeResize="0"/>
          <p:nvPr/>
        </p:nvPicPr>
        <p:blipFill>
          <a:blip r:embed="rId3">
            <a:alphaModFix/>
          </a:blip>
          <a:stretch>
            <a:fillRect/>
          </a:stretch>
        </p:blipFill>
        <p:spPr>
          <a:xfrm>
            <a:off x="823150" y="1839050"/>
            <a:ext cx="7679976" cy="3304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Binary Search - Assignment</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 the list of items: {</a:t>
            </a:r>
            <a:r>
              <a:rPr lang="en"/>
              <a:t>4,10,16,24,32,46,76,112,144,182}</a:t>
            </a:r>
            <a:endParaRPr/>
          </a:p>
          <a:p>
            <a:pPr indent="-317500" lvl="1" marL="914400" rtl="0" algn="l">
              <a:spcBef>
                <a:spcPts val="0"/>
              </a:spcBef>
              <a:spcAft>
                <a:spcPts val="0"/>
              </a:spcAft>
              <a:buSzPts val="1400"/>
              <a:buChar char="○"/>
            </a:pPr>
            <a:r>
              <a:rPr lang="en"/>
              <a:t>Find 4</a:t>
            </a:r>
            <a:endParaRPr/>
          </a:p>
          <a:p>
            <a:pPr indent="-317500" lvl="1" marL="914400" rtl="0" algn="l">
              <a:spcBef>
                <a:spcPts val="0"/>
              </a:spcBef>
              <a:spcAft>
                <a:spcPts val="0"/>
              </a:spcAft>
              <a:buSzPts val="1400"/>
              <a:buChar char="○"/>
            </a:pPr>
            <a:r>
              <a:rPr lang="en"/>
              <a:t>Find 182</a:t>
            </a:r>
            <a:endParaRPr/>
          </a:p>
          <a:p>
            <a:pPr indent="-317500" lvl="1" marL="914400" rtl="0" algn="l">
              <a:spcBef>
                <a:spcPts val="0"/>
              </a:spcBef>
              <a:spcAft>
                <a:spcPts val="0"/>
              </a:spcAft>
              <a:buSzPts val="1400"/>
              <a:buChar char="○"/>
            </a:pPr>
            <a:r>
              <a:rPr lang="en"/>
              <a:t>Find 32</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Hashing</a:t>
            </a:r>
            <a:endParaRPr/>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Hashing is a technique that is </a:t>
            </a:r>
            <a:r>
              <a:rPr b="1" lang="en"/>
              <a:t>used to uniquely identify a specific object from a group of similar objects</a:t>
            </a:r>
            <a:r>
              <a:rPr lang="en"/>
              <a:t>. Some examples of how hashing is used in our lives include: </a:t>
            </a:r>
            <a:endParaRPr/>
          </a:p>
          <a:p>
            <a:pPr indent="-310832" lvl="1" marL="914400" rtl="0" algn="l">
              <a:spcBef>
                <a:spcPts val="0"/>
              </a:spcBef>
              <a:spcAft>
                <a:spcPts val="0"/>
              </a:spcAft>
              <a:buSzPct val="100000"/>
              <a:buChar char="○"/>
            </a:pPr>
            <a:r>
              <a:rPr lang="en"/>
              <a:t>In universities, each student is assigned a unique roll number that can be used to retrieve information about them. </a:t>
            </a:r>
            <a:endParaRPr/>
          </a:p>
          <a:p>
            <a:pPr indent="-310832" lvl="1" marL="914400" rtl="0" algn="l">
              <a:spcBef>
                <a:spcPts val="0"/>
              </a:spcBef>
              <a:spcAft>
                <a:spcPts val="0"/>
              </a:spcAft>
              <a:buSzPct val="100000"/>
              <a:buChar char="○"/>
            </a:pPr>
            <a:r>
              <a:rPr lang="en"/>
              <a:t>In libraries, each book is assigned a unique number that can be used to determine information about the book, such as its exact position in the library or the users it has been issued to etc. </a:t>
            </a:r>
            <a:endParaRPr/>
          </a:p>
          <a:p>
            <a:pPr indent="-310832" lvl="1" marL="914400" rtl="0" algn="l">
              <a:spcBef>
                <a:spcPts val="0"/>
              </a:spcBef>
              <a:spcAft>
                <a:spcPts val="0"/>
              </a:spcAft>
              <a:buSzPct val="100000"/>
              <a:buChar char="○"/>
            </a:pPr>
            <a:r>
              <a:rPr lang="en"/>
              <a:t>In both these examples the students and books were hashed to a unique number. </a:t>
            </a:r>
            <a:endParaRPr/>
          </a:p>
          <a:p>
            <a:pPr indent="-334327" lvl="0" marL="457200" rtl="0" algn="l">
              <a:spcBef>
                <a:spcPts val="0"/>
              </a:spcBef>
              <a:spcAft>
                <a:spcPts val="0"/>
              </a:spcAft>
              <a:buSzPct val="100000"/>
              <a:buChar char="●"/>
            </a:pPr>
            <a:r>
              <a:rPr lang="en"/>
              <a:t>Assume that you have an object and you want to assign a key to it to make searching easy. </a:t>
            </a:r>
            <a:endParaRPr/>
          </a:p>
          <a:p>
            <a:pPr indent="-334327" lvl="0" marL="457200" rtl="0" algn="l">
              <a:spcBef>
                <a:spcPts val="0"/>
              </a:spcBef>
              <a:spcAft>
                <a:spcPts val="0"/>
              </a:spcAft>
              <a:buSzPct val="100000"/>
              <a:buChar char="●"/>
            </a:pPr>
            <a:r>
              <a:rPr lang="en"/>
              <a:t>To store the key/value pair, you can use a simple array like a data structure where keys (integers) can be used directly as an index to store values. </a:t>
            </a:r>
            <a:endParaRPr/>
          </a:p>
          <a:p>
            <a:pPr indent="-334327" lvl="0" marL="457200" rtl="0" algn="l">
              <a:spcBef>
                <a:spcPts val="0"/>
              </a:spcBef>
              <a:spcAft>
                <a:spcPts val="0"/>
              </a:spcAft>
              <a:buSzPct val="100000"/>
              <a:buChar char="●"/>
            </a:pPr>
            <a:r>
              <a:rPr lang="en"/>
              <a:t>However, in cases where the keys are large and cannot be used directly as an index, you should use hashing.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Hashing[2]</a:t>
            </a:r>
            <a:endParaRPr/>
          </a:p>
        </p:txBody>
      </p:sp>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hashing, large keys are converted into small keys by using hash functions. </a:t>
            </a:r>
            <a:endParaRPr/>
          </a:p>
          <a:p>
            <a:pPr indent="-342900" lvl="0" marL="457200" rtl="0" algn="l">
              <a:spcBef>
                <a:spcPts val="0"/>
              </a:spcBef>
              <a:spcAft>
                <a:spcPts val="0"/>
              </a:spcAft>
              <a:buSzPts val="1800"/>
              <a:buChar char="●"/>
            </a:pPr>
            <a:r>
              <a:rPr lang="en"/>
              <a:t>The values are then stored in a data structure called hash table. </a:t>
            </a:r>
            <a:endParaRPr/>
          </a:p>
          <a:p>
            <a:pPr indent="-342900" lvl="0" marL="457200" rtl="0" algn="l">
              <a:spcBef>
                <a:spcPts val="0"/>
              </a:spcBef>
              <a:spcAft>
                <a:spcPts val="0"/>
              </a:spcAft>
              <a:buSzPts val="1800"/>
              <a:buChar char="●"/>
            </a:pPr>
            <a:r>
              <a:rPr b="1" lang="en"/>
              <a:t>The idea of hashing is to distribute entries (key/value pairs) uniformly across an array. </a:t>
            </a:r>
            <a:endParaRPr b="1"/>
          </a:p>
          <a:p>
            <a:pPr indent="-342900" lvl="0" marL="457200" rtl="0" algn="l">
              <a:spcBef>
                <a:spcPts val="0"/>
              </a:spcBef>
              <a:spcAft>
                <a:spcPts val="0"/>
              </a:spcAft>
              <a:buSzPts val="1800"/>
              <a:buChar char="●"/>
            </a:pPr>
            <a:r>
              <a:rPr lang="en"/>
              <a:t>Each element is assigned a key (converted key). </a:t>
            </a:r>
            <a:endParaRPr/>
          </a:p>
          <a:p>
            <a:pPr indent="-342900" lvl="0" marL="457200" rtl="0" algn="l">
              <a:spcBef>
                <a:spcPts val="0"/>
              </a:spcBef>
              <a:spcAft>
                <a:spcPts val="0"/>
              </a:spcAft>
              <a:buSzPts val="1800"/>
              <a:buChar char="●"/>
            </a:pPr>
            <a:r>
              <a:rPr lang="en"/>
              <a:t>By using that key you can access the element in 0(1) time. </a:t>
            </a:r>
            <a:endParaRPr/>
          </a:p>
          <a:p>
            <a:pPr indent="-342900" lvl="0" marL="457200" rtl="0" algn="l">
              <a:spcBef>
                <a:spcPts val="0"/>
              </a:spcBef>
              <a:spcAft>
                <a:spcPts val="0"/>
              </a:spcAft>
              <a:buSzPts val="1800"/>
              <a:buChar char="●"/>
            </a:pPr>
            <a:r>
              <a:rPr lang="en"/>
              <a:t>Using the key, the algorithm (hash function) computes an index that suggests where an entry can be found or inserted.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Hashing[3]</a:t>
            </a:r>
            <a:endParaRPr/>
          </a:p>
        </p:txBody>
      </p:sp>
      <p:sp>
        <p:nvSpPr>
          <p:cNvPr id="136" name="Google Shape;136;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Hashing is implemented in two steps: </a:t>
            </a:r>
            <a:endParaRPr/>
          </a:p>
          <a:p>
            <a:pPr indent="-317500" lvl="1" marL="914400" rtl="0" algn="l">
              <a:spcBef>
                <a:spcPts val="0"/>
              </a:spcBef>
              <a:spcAft>
                <a:spcPts val="0"/>
              </a:spcAft>
              <a:buSzPts val="1400"/>
              <a:buChar char="○"/>
            </a:pPr>
            <a:r>
              <a:rPr lang="en"/>
              <a:t>An element is converted into an integer by using a </a:t>
            </a:r>
            <a:r>
              <a:rPr b="1" lang="en"/>
              <a:t>hash function</a:t>
            </a:r>
            <a:r>
              <a:rPr lang="en"/>
              <a:t>. </a:t>
            </a:r>
            <a:endParaRPr/>
          </a:p>
          <a:p>
            <a:pPr indent="-317500" lvl="1" marL="914400" rtl="0" algn="l">
              <a:spcBef>
                <a:spcPts val="0"/>
              </a:spcBef>
              <a:spcAft>
                <a:spcPts val="0"/>
              </a:spcAft>
              <a:buSzPts val="1400"/>
              <a:buChar char="○"/>
            </a:pPr>
            <a:r>
              <a:rPr lang="en"/>
              <a:t>This element can be used as an index to store the original element, which falls into the hash table. </a:t>
            </a:r>
            <a:endParaRPr/>
          </a:p>
          <a:p>
            <a:pPr indent="-317500" lvl="1" marL="914400" rtl="0" algn="l">
              <a:spcBef>
                <a:spcPts val="0"/>
              </a:spcBef>
              <a:spcAft>
                <a:spcPts val="0"/>
              </a:spcAft>
              <a:buSzPts val="1400"/>
              <a:buChar char="○"/>
            </a:pPr>
            <a:r>
              <a:rPr lang="en"/>
              <a:t>The element is stored in the hash table where it can be quickly retrieved using hashed key. hash = hashfunc(key) </a:t>
            </a:r>
            <a:br>
              <a:rPr lang="en"/>
            </a:br>
            <a:r>
              <a:rPr lang="en"/>
              <a:t>index = hash % array_size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Hash Function</a:t>
            </a:r>
            <a:endParaRPr/>
          </a:p>
        </p:txBody>
      </p:sp>
      <p:sp>
        <p:nvSpPr>
          <p:cNvPr id="142" name="Google Shape;142;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 hash function is any function that can be used to map a data set of an arbitrary size to a data set of a fixed size, which falls into the hash table. </a:t>
            </a:r>
            <a:endParaRPr/>
          </a:p>
          <a:p>
            <a:pPr indent="-342900" lvl="0" marL="457200" rtl="0" algn="l">
              <a:spcBef>
                <a:spcPts val="0"/>
              </a:spcBef>
              <a:spcAft>
                <a:spcPts val="0"/>
              </a:spcAft>
              <a:buSzPts val="1800"/>
              <a:buChar char="●"/>
            </a:pPr>
            <a:r>
              <a:rPr lang="en"/>
              <a:t>A common hash function is h(x)=x mod SIZE </a:t>
            </a:r>
            <a:endParaRPr/>
          </a:p>
          <a:p>
            <a:pPr indent="-317500" lvl="1" marL="914400" rtl="0" algn="l">
              <a:spcBef>
                <a:spcPts val="0"/>
              </a:spcBef>
              <a:spcAft>
                <a:spcPts val="0"/>
              </a:spcAft>
              <a:buSzPts val="1400"/>
              <a:buChar char="○"/>
            </a:pPr>
            <a:r>
              <a:rPr b="1" lang="en"/>
              <a:t>if key=27 and SIZE=10 then hash address = 27 mod 10 = 7 </a:t>
            </a:r>
            <a:endParaRPr b="1"/>
          </a:p>
          <a:p>
            <a:pPr indent="-342900" lvl="0" marL="457200" rtl="0" algn="l">
              <a:spcBef>
                <a:spcPts val="0"/>
              </a:spcBef>
              <a:spcAft>
                <a:spcPts val="0"/>
              </a:spcAft>
              <a:buSzPts val="1800"/>
              <a:buChar char="●"/>
            </a:pPr>
            <a:r>
              <a:rPr lang="en"/>
              <a:t>The values returned by a hash function are called </a:t>
            </a:r>
            <a:r>
              <a:rPr b="1" lang="en"/>
              <a:t>hash values, hash codes, hash sums, or simply hashes</a:t>
            </a:r>
            <a:r>
              <a:rPr lang="en"/>
              <a:t>. </a:t>
            </a:r>
            <a:endParaRPr/>
          </a:p>
          <a:p>
            <a:pPr indent="-342900" lvl="0" marL="457200" rtl="0" algn="l">
              <a:spcBef>
                <a:spcPts val="0"/>
              </a:spcBef>
              <a:spcAft>
                <a:spcPts val="0"/>
              </a:spcAft>
              <a:buSzPts val="1800"/>
              <a:buChar char="●"/>
            </a:pPr>
            <a:r>
              <a:rPr lang="en"/>
              <a:t>To achieve a good hashing mechanism, It is important to have a good hash function with the following basic requirements: </a:t>
            </a:r>
            <a:endParaRPr/>
          </a:p>
          <a:p>
            <a:pPr indent="-317500" lvl="1" marL="914400" rtl="0" algn="l">
              <a:spcBef>
                <a:spcPts val="0"/>
              </a:spcBef>
              <a:spcAft>
                <a:spcPts val="0"/>
              </a:spcAft>
              <a:buSzPts val="1400"/>
              <a:buChar char="○"/>
            </a:pPr>
            <a:r>
              <a:rPr b="1" lang="en"/>
              <a:t>Easy to compute</a:t>
            </a:r>
            <a:r>
              <a:rPr lang="en"/>
              <a:t>: It should be easy to compute and must not become an algorithm in itself </a:t>
            </a:r>
            <a:endParaRPr/>
          </a:p>
          <a:p>
            <a:pPr indent="-317500" lvl="1" marL="914400" rtl="0" algn="l">
              <a:spcBef>
                <a:spcPts val="0"/>
              </a:spcBef>
              <a:spcAft>
                <a:spcPts val="0"/>
              </a:spcAft>
              <a:buSzPts val="1400"/>
              <a:buChar char="○"/>
            </a:pPr>
            <a:r>
              <a:rPr b="1" lang="en"/>
              <a:t>Uniform distribution</a:t>
            </a:r>
            <a:r>
              <a:rPr lang="en"/>
              <a:t>: It should provide a uniform distribution across the hash table and should not result in clustering. </a:t>
            </a:r>
            <a:endParaRPr/>
          </a:p>
          <a:p>
            <a:pPr indent="-317500" lvl="1" marL="914400" rtl="0" algn="l">
              <a:spcBef>
                <a:spcPts val="0"/>
              </a:spcBef>
              <a:spcAft>
                <a:spcPts val="0"/>
              </a:spcAft>
              <a:buSzPts val="1400"/>
              <a:buChar char="○"/>
            </a:pPr>
            <a:r>
              <a:rPr b="1" lang="en"/>
              <a:t>Less collisions</a:t>
            </a:r>
            <a:r>
              <a:rPr lang="en"/>
              <a:t>: Collisions occur when pairs of elements are mapped to the same hash value. These should be avoided.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Hash Function - Types</a:t>
            </a:r>
            <a:endParaRPr/>
          </a:p>
        </p:txBody>
      </p:sp>
      <p:sp>
        <p:nvSpPr>
          <p:cNvPr id="148" name="Google Shape;148;p28"/>
          <p:cNvSpPr txBox="1"/>
          <p:nvPr>
            <p:ph idx="1" type="body"/>
          </p:nvPr>
        </p:nvSpPr>
        <p:spPr>
          <a:xfrm>
            <a:off x="311700" y="1152475"/>
            <a:ext cx="8520600" cy="39168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b="1" lang="en"/>
              <a:t>Division method</a:t>
            </a:r>
            <a:r>
              <a:rPr lang="en"/>
              <a:t> </a:t>
            </a:r>
            <a:endParaRPr/>
          </a:p>
          <a:p>
            <a:pPr indent="-308610" lvl="0" marL="457200" rtl="0" algn="l">
              <a:spcBef>
                <a:spcPts val="1200"/>
              </a:spcBef>
              <a:spcAft>
                <a:spcPts val="0"/>
              </a:spcAft>
              <a:buSzPct val="100000"/>
              <a:buChar char="●"/>
            </a:pPr>
            <a:r>
              <a:rPr lang="en"/>
              <a:t>In this the hash, function is dependent upon the remainder of a division. </a:t>
            </a:r>
            <a:br>
              <a:rPr lang="en"/>
            </a:br>
            <a:r>
              <a:rPr lang="en"/>
              <a:t>For example:-if the record 52,68,99,84 is to be placed in a hash table and let us take the table size is 10. </a:t>
            </a:r>
            <a:br>
              <a:rPr lang="en"/>
            </a:br>
            <a:r>
              <a:rPr lang="en"/>
              <a:t>Then: h(key)=record% table_size. </a:t>
            </a:r>
            <a:br>
              <a:rPr lang="en"/>
            </a:br>
            <a:r>
              <a:rPr lang="en"/>
              <a:t>2=52%10;	8=68%10;	9=99%10	4=84%10 </a:t>
            </a:r>
            <a:endParaRPr/>
          </a:p>
          <a:p>
            <a:pPr indent="0" lvl="0" marL="0" rtl="0" algn="l">
              <a:spcBef>
                <a:spcPts val="1200"/>
              </a:spcBef>
              <a:spcAft>
                <a:spcPts val="0"/>
              </a:spcAft>
              <a:buNone/>
            </a:pPr>
            <a:r>
              <a:rPr b="1" lang="en"/>
              <a:t>Mid square method</a:t>
            </a:r>
            <a:r>
              <a:rPr lang="en"/>
              <a:t> </a:t>
            </a:r>
            <a:endParaRPr/>
          </a:p>
          <a:p>
            <a:pPr indent="-308610" lvl="0" marL="457200" rtl="0" algn="l">
              <a:spcBef>
                <a:spcPts val="1200"/>
              </a:spcBef>
              <a:spcAft>
                <a:spcPts val="0"/>
              </a:spcAft>
              <a:buSzPct val="100000"/>
              <a:buChar char="●"/>
            </a:pPr>
            <a:r>
              <a:rPr lang="en"/>
              <a:t>In this method firstly key is squared and then mid part of the result is taken as the index. </a:t>
            </a:r>
            <a:br>
              <a:rPr lang="en"/>
            </a:br>
            <a:r>
              <a:rPr lang="en"/>
              <a:t>For example: consider that if we want to place a record of 3101 and the size of table is 1000. So 3101*3101 - 9616201 i.e. h (3101) = 162 (middle 3 digit) </a:t>
            </a:r>
            <a:endParaRPr/>
          </a:p>
          <a:p>
            <a:pPr indent="0" lvl="0" marL="0" rtl="0" algn="l">
              <a:spcBef>
                <a:spcPts val="1200"/>
              </a:spcBef>
              <a:spcAft>
                <a:spcPts val="0"/>
              </a:spcAft>
              <a:buNone/>
            </a:pPr>
            <a:r>
              <a:rPr b="1" lang="en"/>
              <a:t>Digit folding method</a:t>
            </a:r>
            <a:r>
              <a:rPr lang="en"/>
              <a:t> </a:t>
            </a:r>
            <a:endParaRPr/>
          </a:p>
          <a:p>
            <a:pPr indent="-308610" lvl="0" marL="457200" rtl="0" algn="l">
              <a:spcBef>
                <a:spcPts val="1200"/>
              </a:spcBef>
              <a:spcAft>
                <a:spcPts val="0"/>
              </a:spcAft>
              <a:buSzPct val="100000"/>
              <a:buChar char="●"/>
            </a:pPr>
            <a:r>
              <a:rPr lang="en"/>
              <a:t>In this method the key is divided into separate parts and by using some simple operations these parts are combined to produce a hash key. </a:t>
            </a:r>
            <a:br>
              <a:rPr lang="en"/>
            </a:br>
            <a:r>
              <a:rPr lang="en"/>
              <a:t>For example: consider a record of 12465512 then it will be divided into parts i.e. 124, 655, 12. </a:t>
            </a:r>
            <a:br>
              <a:rPr lang="en"/>
            </a:br>
            <a:r>
              <a:rPr lang="en"/>
              <a:t>After dividing the parts combine these parts by adding it. H(key)=124+655+12 =791</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Hash Function - Characteristics</a:t>
            </a:r>
            <a:endParaRPr/>
          </a:p>
        </p:txBody>
      </p:sp>
      <p:sp>
        <p:nvSpPr>
          <p:cNvPr id="154" name="Google Shape;15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hash function is easy to understand and simple to compute. </a:t>
            </a:r>
            <a:endParaRPr/>
          </a:p>
          <a:p>
            <a:pPr indent="-342900" lvl="0" marL="457200" rtl="0" algn="l">
              <a:spcBef>
                <a:spcPts val="0"/>
              </a:spcBef>
              <a:spcAft>
                <a:spcPts val="0"/>
              </a:spcAft>
              <a:buSzPts val="1800"/>
              <a:buChar char="●"/>
            </a:pPr>
            <a:r>
              <a:rPr lang="en"/>
              <a:t>The hash function should produce the keys which will get distributed, uniformly over an array. </a:t>
            </a:r>
            <a:endParaRPr/>
          </a:p>
          <a:p>
            <a:pPr indent="-342900" lvl="0" marL="457200" rtl="0" algn="l">
              <a:spcBef>
                <a:spcPts val="0"/>
              </a:spcBef>
              <a:spcAft>
                <a:spcPts val="0"/>
              </a:spcAft>
              <a:buSzPts val="1800"/>
              <a:buChar char="●"/>
            </a:pPr>
            <a:r>
              <a:rPr lang="en"/>
              <a:t>The hash function should generate different hash values for the similar string.</a:t>
            </a:r>
            <a:endParaRPr/>
          </a:p>
          <a:p>
            <a:pPr indent="-342900" lvl="0" marL="457200" rtl="0" algn="l">
              <a:spcBef>
                <a:spcPts val="0"/>
              </a:spcBef>
              <a:spcAft>
                <a:spcPts val="0"/>
              </a:spcAft>
              <a:buSzPts val="1800"/>
              <a:buChar char="●"/>
            </a:pPr>
            <a:r>
              <a:rPr lang="en"/>
              <a:t>A number of collisions should be less while placing the data in the hash table.</a:t>
            </a:r>
            <a:endParaRPr/>
          </a:p>
          <a:p>
            <a:pPr indent="-342900" lvl="0" marL="457200" rtl="0" algn="l">
              <a:spcBef>
                <a:spcPts val="0"/>
              </a:spcBef>
              <a:spcAft>
                <a:spcPts val="0"/>
              </a:spcAft>
              <a:buSzPts val="1800"/>
              <a:buChar char="●"/>
            </a:pPr>
            <a:r>
              <a:rPr lang="en"/>
              <a:t>The hash function is a perfect hash function when it uses all the input data.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Hash Table</a:t>
            </a:r>
            <a:endParaRPr/>
          </a:p>
        </p:txBody>
      </p:sp>
      <p:sp>
        <p:nvSpPr>
          <p:cNvPr id="160" name="Google Shape;16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 hash table is a data structure that is used to store keys/value pairs. </a:t>
            </a:r>
            <a:endParaRPr/>
          </a:p>
          <a:p>
            <a:pPr indent="-342900" lvl="0" marL="457200" rtl="0" algn="l">
              <a:spcBef>
                <a:spcPts val="0"/>
              </a:spcBef>
              <a:spcAft>
                <a:spcPts val="0"/>
              </a:spcAft>
              <a:buSzPts val="1800"/>
              <a:buChar char="●"/>
            </a:pPr>
            <a:r>
              <a:rPr lang="en"/>
              <a:t>It uses a hash function to compute an index into an array in which an element will be inserted or searched. </a:t>
            </a:r>
            <a:endParaRPr/>
          </a:p>
          <a:p>
            <a:pPr indent="-342900" lvl="0" marL="457200" rtl="0" algn="l">
              <a:spcBef>
                <a:spcPts val="0"/>
              </a:spcBef>
              <a:spcAft>
                <a:spcPts val="0"/>
              </a:spcAft>
              <a:buSzPts val="1800"/>
              <a:buChar char="●"/>
            </a:pPr>
            <a:r>
              <a:rPr lang="en"/>
              <a:t>By using a good hash function, hashing can work well. </a:t>
            </a:r>
            <a:endParaRPr/>
          </a:p>
          <a:p>
            <a:pPr indent="-342900" lvl="0" marL="457200" rtl="0" algn="l">
              <a:spcBef>
                <a:spcPts val="0"/>
              </a:spcBef>
              <a:spcAft>
                <a:spcPts val="0"/>
              </a:spcAft>
              <a:buSzPts val="1800"/>
              <a:buChar char="●"/>
            </a:pPr>
            <a:r>
              <a:rPr lang="en"/>
              <a:t>Under reasonable assumptions, the average time required to search for an element in a hash table is 0(1). </a:t>
            </a:r>
            <a:endParaRPr/>
          </a:p>
          <a:p>
            <a:pPr indent="-342900" lvl="0" marL="457200" rtl="0" algn="l">
              <a:spcBef>
                <a:spcPts val="0"/>
              </a:spcBef>
              <a:spcAft>
                <a:spcPts val="0"/>
              </a:spcAft>
              <a:buSzPts val="1800"/>
              <a:buChar char="●"/>
            </a:pPr>
            <a:r>
              <a:rPr b="1" lang="en"/>
              <a:t>Load Factor of the Hash Table</a:t>
            </a:r>
            <a:r>
              <a:rPr lang="en"/>
              <a:t>: It is the denoted by the symbol</a:t>
            </a:r>
            <a:endParaRPr/>
          </a:p>
          <a:p>
            <a:pPr indent="-342900" lvl="0" marL="457200" rtl="0" algn="l">
              <a:spcBef>
                <a:spcPts val="0"/>
              </a:spcBef>
              <a:spcAft>
                <a:spcPts val="0"/>
              </a:spcAft>
              <a:buSzPts val="1800"/>
              <a:buChar char="●"/>
            </a:pPr>
            <a:r>
              <a:rPr lang="en"/>
              <a:t>     = (number of items in the table) / tablesize </a:t>
            </a:r>
            <a:br>
              <a:rPr lang="en"/>
            </a:br>
            <a:r>
              <a:rPr lang="en"/>
              <a:t>Example: Assume that the tablesize is 10 and it consists of 6 items, then the load factor of the table is    = 6/10 = 0.6 </a:t>
            </a:r>
            <a:endParaRPr/>
          </a:p>
          <a:p>
            <a:pPr indent="0" lvl="0" marL="457200" rtl="0" algn="l">
              <a:spcBef>
                <a:spcPts val="1200"/>
              </a:spcBef>
              <a:spcAft>
                <a:spcPts val="1200"/>
              </a:spcAft>
              <a:buNone/>
            </a:pPr>
            <a:r>
              <a:t/>
            </a:r>
            <a:endParaRPr/>
          </a:p>
        </p:txBody>
      </p:sp>
      <p:pic>
        <p:nvPicPr>
          <p:cNvPr id="161" name="Google Shape;161;p30"/>
          <p:cNvPicPr preferRelativeResize="0"/>
          <p:nvPr/>
        </p:nvPicPr>
        <p:blipFill>
          <a:blip r:embed="rId3">
            <a:alphaModFix/>
          </a:blip>
          <a:stretch>
            <a:fillRect/>
          </a:stretch>
        </p:blipFill>
        <p:spPr>
          <a:xfrm>
            <a:off x="7448350" y="2811075"/>
            <a:ext cx="287813" cy="269825"/>
          </a:xfrm>
          <a:prstGeom prst="rect">
            <a:avLst/>
          </a:prstGeom>
          <a:noFill/>
          <a:ln>
            <a:noFill/>
          </a:ln>
        </p:spPr>
      </p:pic>
      <p:pic>
        <p:nvPicPr>
          <p:cNvPr id="162" name="Google Shape;162;p30"/>
          <p:cNvPicPr preferRelativeResize="0"/>
          <p:nvPr/>
        </p:nvPicPr>
        <p:blipFill>
          <a:blip r:embed="rId3">
            <a:alphaModFix/>
          </a:blip>
          <a:stretch>
            <a:fillRect/>
          </a:stretch>
        </p:blipFill>
        <p:spPr>
          <a:xfrm>
            <a:off x="835925" y="3080900"/>
            <a:ext cx="287813" cy="269825"/>
          </a:xfrm>
          <a:prstGeom prst="rect">
            <a:avLst/>
          </a:prstGeom>
          <a:noFill/>
          <a:ln>
            <a:noFill/>
          </a:ln>
        </p:spPr>
      </p:pic>
      <p:pic>
        <p:nvPicPr>
          <p:cNvPr id="163" name="Google Shape;163;p30"/>
          <p:cNvPicPr preferRelativeResize="0"/>
          <p:nvPr/>
        </p:nvPicPr>
        <p:blipFill>
          <a:blip r:embed="rId3">
            <a:alphaModFix/>
          </a:blip>
          <a:stretch>
            <a:fillRect/>
          </a:stretch>
        </p:blipFill>
        <p:spPr>
          <a:xfrm>
            <a:off x="3364425" y="3572450"/>
            <a:ext cx="287813" cy="2698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Hash Table - Example</a:t>
            </a:r>
            <a:endParaRPr/>
          </a:p>
        </p:txBody>
      </p:sp>
      <p:sp>
        <p:nvSpPr>
          <p:cNvPr id="169" name="Google Shape;169;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334327" lvl="0" marL="457200" rtl="0" algn="l">
              <a:spcBef>
                <a:spcPts val="0"/>
              </a:spcBef>
              <a:spcAft>
                <a:spcPts val="0"/>
              </a:spcAft>
              <a:buSzPct val="100000"/>
              <a:buChar char="●"/>
            </a:pPr>
            <a:r>
              <a:rPr lang="en"/>
              <a:t>Suppose we have a set of strings ("abc", "der, "ghi"} that we'd like to store in a table.</a:t>
            </a:r>
            <a:endParaRPr/>
          </a:p>
          <a:p>
            <a:pPr indent="-334327" lvl="0" marL="457200" rtl="0" algn="l">
              <a:spcBef>
                <a:spcPts val="0"/>
              </a:spcBef>
              <a:spcAft>
                <a:spcPts val="0"/>
              </a:spcAft>
              <a:buSzPct val="100000"/>
              <a:buChar char="●"/>
            </a:pPr>
            <a:r>
              <a:rPr lang="en"/>
              <a:t>Our objective here is to find or update them quickly from a table, actually in 0(1). </a:t>
            </a:r>
            <a:endParaRPr/>
          </a:p>
          <a:p>
            <a:pPr indent="-334327" lvl="0" marL="457200" rtl="0" algn="l">
              <a:spcBef>
                <a:spcPts val="0"/>
              </a:spcBef>
              <a:spcAft>
                <a:spcPts val="0"/>
              </a:spcAft>
              <a:buSzPct val="100000"/>
              <a:buChar char="●"/>
            </a:pPr>
            <a:r>
              <a:rPr lang="en"/>
              <a:t>We are not concerned about ordering them or maintaining any order at all. Let us think of a simple schema to do this. </a:t>
            </a:r>
            <a:endParaRPr/>
          </a:p>
          <a:p>
            <a:pPr indent="-334327" lvl="0" marL="457200" rtl="0" algn="l">
              <a:spcBef>
                <a:spcPts val="0"/>
              </a:spcBef>
              <a:spcAft>
                <a:spcPts val="0"/>
              </a:spcAft>
              <a:buSzPct val="100000"/>
              <a:buChar char="●"/>
            </a:pPr>
            <a:r>
              <a:rPr lang="en"/>
              <a:t>Suppose we assign "a" = 1, "b"=2, ... etc to all alphabetical characters. </a:t>
            </a:r>
            <a:endParaRPr/>
          </a:p>
          <a:p>
            <a:pPr indent="-334327" lvl="0" marL="457200" rtl="0" algn="l">
              <a:spcBef>
                <a:spcPts val="0"/>
              </a:spcBef>
              <a:spcAft>
                <a:spcPts val="0"/>
              </a:spcAft>
              <a:buSzPct val="100000"/>
              <a:buChar char="●"/>
            </a:pPr>
            <a:r>
              <a:rPr lang="en"/>
              <a:t>We can then simply compute a number for each of the strings by using the sum of the characters as follows. "abc" = 1 + 2 + 3=6, "def' = 4 + 5 + 6=15 , "ghi" = 7 + 8 + 9=24 </a:t>
            </a:r>
            <a:endParaRPr/>
          </a:p>
          <a:p>
            <a:pPr indent="-334327" lvl="0" marL="457200" rtl="0" algn="l">
              <a:spcBef>
                <a:spcPts val="0"/>
              </a:spcBef>
              <a:spcAft>
                <a:spcPts val="0"/>
              </a:spcAft>
              <a:buSzPct val="100000"/>
              <a:buChar char="●"/>
            </a:pPr>
            <a:r>
              <a:rPr lang="en"/>
              <a:t>If we assume that we have a table of size 5 to store these strings, we can compute the location of the string by taking the </a:t>
            </a:r>
            <a:r>
              <a:rPr b="1" lang="en"/>
              <a:t>sum mod 5</a:t>
            </a:r>
            <a:r>
              <a:rPr lang="en"/>
              <a:t>. </a:t>
            </a:r>
            <a:endParaRPr/>
          </a:p>
          <a:p>
            <a:pPr indent="-334327" lvl="0" marL="457200" rtl="0" algn="l">
              <a:spcBef>
                <a:spcPts val="0"/>
              </a:spcBef>
              <a:spcAft>
                <a:spcPts val="0"/>
              </a:spcAft>
              <a:buSzPct val="100000"/>
              <a:buChar char="●"/>
            </a:pPr>
            <a:r>
              <a:rPr lang="en"/>
              <a:t>So we will then store "abc" in 6 mod 5 = 1, def in 15 mod 5 = 0, and "ghi" in 24 mod 5 = 4 in locations 1, 0 and 4 as follows. </a:t>
            </a:r>
            <a:endParaRPr/>
          </a:p>
        </p:txBody>
      </p:sp>
      <p:pic>
        <p:nvPicPr>
          <p:cNvPr id="170" name="Google Shape;170;p31"/>
          <p:cNvPicPr preferRelativeResize="0"/>
          <p:nvPr/>
        </p:nvPicPr>
        <p:blipFill>
          <a:blip r:embed="rId3">
            <a:alphaModFix/>
          </a:blip>
          <a:stretch>
            <a:fillRect/>
          </a:stretch>
        </p:blipFill>
        <p:spPr>
          <a:xfrm>
            <a:off x="0" y="4419762"/>
            <a:ext cx="9144001" cy="7237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a:t>
            </a:r>
            <a:endParaRPr/>
          </a:p>
        </p:txBody>
      </p:sp>
      <p:sp>
        <p:nvSpPr>
          <p:cNvPr id="176" name="Google Shape;176;p32"/>
          <p:cNvSpPr txBox="1"/>
          <p:nvPr>
            <p:ph idx="1" type="body"/>
          </p:nvPr>
        </p:nvSpPr>
        <p:spPr>
          <a:xfrm>
            <a:off x="311700" y="1152475"/>
            <a:ext cx="8520600" cy="393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a:t>
            </a:r>
            <a:r>
              <a:rPr lang="en"/>
              <a:t>f x1 and x2 are two different keys, it is possible that h(x1) = h(x2). </a:t>
            </a:r>
            <a:endParaRPr/>
          </a:p>
          <a:p>
            <a:pPr indent="-342900" lvl="0" marL="457200" rtl="0" algn="l">
              <a:spcBef>
                <a:spcPts val="0"/>
              </a:spcBef>
              <a:spcAft>
                <a:spcPts val="0"/>
              </a:spcAft>
              <a:buSzPts val="1800"/>
              <a:buChar char="●"/>
            </a:pPr>
            <a:r>
              <a:rPr lang="en"/>
              <a:t>This is called a </a:t>
            </a:r>
            <a:r>
              <a:rPr b="1" lang="en"/>
              <a:t>collision</a:t>
            </a:r>
            <a:r>
              <a:rPr lang="en"/>
              <a:t>. </a:t>
            </a:r>
            <a:endParaRPr/>
          </a:p>
          <a:p>
            <a:pPr indent="-342900" lvl="0" marL="457200" rtl="0" algn="l">
              <a:spcBef>
                <a:spcPts val="0"/>
              </a:spcBef>
              <a:spcAft>
                <a:spcPts val="0"/>
              </a:spcAft>
              <a:buSzPts val="1800"/>
              <a:buChar char="●"/>
            </a:pPr>
            <a:r>
              <a:rPr b="1" i="1" lang="en"/>
              <a:t>A collision occurs when two different keys hash to the same value </a:t>
            </a:r>
            <a:endParaRPr b="1" i="1"/>
          </a:p>
          <a:p>
            <a:pPr indent="-342900" lvl="0" marL="457200" rtl="0" algn="l">
              <a:spcBef>
                <a:spcPts val="0"/>
              </a:spcBef>
              <a:spcAft>
                <a:spcPts val="0"/>
              </a:spcAft>
              <a:buSzPts val="1800"/>
              <a:buChar char="●"/>
            </a:pPr>
            <a:r>
              <a:rPr lang="en"/>
              <a:t>E.g. For Table Size = 17, the keys 18 and 35 hash to the same value </a:t>
            </a:r>
            <a:br>
              <a:rPr lang="en"/>
            </a:br>
            <a:r>
              <a:rPr lang="en"/>
              <a:t>18 mod 17 = 1 and 35 mod 17 = 1 </a:t>
            </a:r>
            <a:endParaRPr/>
          </a:p>
          <a:p>
            <a:pPr indent="-342900" lvl="0" marL="457200" rtl="0" algn="l">
              <a:spcBef>
                <a:spcPts val="0"/>
              </a:spcBef>
              <a:spcAft>
                <a:spcPts val="0"/>
              </a:spcAft>
              <a:buSzPts val="1800"/>
              <a:buChar char="●"/>
            </a:pPr>
            <a:r>
              <a:rPr lang="en"/>
              <a:t>Collision Resolution Techniques are the techniques used for resolving or handling the collision.</a:t>
            </a:r>
            <a:endParaRPr/>
          </a:p>
          <a:p>
            <a:pPr indent="-342900" lvl="0" marL="457200" rtl="0" algn="l">
              <a:spcBef>
                <a:spcPts val="0"/>
              </a:spcBef>
              <a:spcAft>
                <a:spcPts val="0"/>
              </a:spcAft>
              <a:buSzPts val="1800"/>
              <a:buChar char="●"/>
            </a:pPr>
            <a:r>
              <a:rPr lang="en"/>
              <a:t>The process of finding an alternate location is called </a:t>
            </a:r>
            <a:r>
              <a:rPr b="1" lang="en"/>
              <a:t>collision resolution</a:t>
            </a:r>
            <a:r>
              <a:rPr lang="en"/>
              <a:t>. </a:t>
            </a:r>
            <a:endParaRPr/>
          </a:p>
          <a:p>
            <a:pPr indent="-342900" lvl="0" marL="457200" rtl="0" algn="l">
              <a:spcBef>
                <a:spcPts val="0"/>
              </a:spcBef>
              <a:spcAft>
                <a:spcPts val="0"/>
              </a:spcAft>
              <a:buSzPts val="1800"/>
              <a:buChar char="●"/>
            </a:pPr>
            <a:r>
              <a:rPr lang="en"/>
              <a:t>Even though hash tables have collision problems, they are more efficient in many cases compared to all other data structures, like search trees. </a:t>
            </a:r>
            <a:endParaRPr/>
          </a:p>
          <a:p>
            <a:pPr indent="-342900" lvl="0" marL="457200" rtl="0" algn="l">
              <a:spcBef>
                <a:spcPts val="0"/>
              </a:spcBef>
              <a:spcAft>
                <a:spcPts val="0"/>
              </a:spcAft>
              <a:buSzPts val="1800"/>
              <a:buChar char="●"/>
            </a:pPr>
            <a:r>
              <a:rPr lang="en"/>
              <a:t>There are a number of collision resolution techniques, and the most popular are </a:t>
            </a:r>
            <a:r>
              <a:rPr b="1" lang="en"/>
              <a:t>direct chaining and open addressing</a:t>
            </a:r>
            <a:r>
              <a:rPr lang="en"/>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Techniques(2)</a:t>
            </a:r>
            <a:endParaRPr/>
          </a:p>
        </p:txBody>
      </p:sp>
      <p:sp>
        <p:nvSpPr>
          <p:cNvPr id="182" name="Google Shape;182;p33"/>
          <p:cNvSpPr txBox="1"/>
          <p:nvPr>
            <p:ph idx="1" type="body"/>
          </p:nvPr>
        </p:nvSpPr>
        <p:spPr>
          <a:xfrm>
            <a:off x="311700" y="1152475"/>
            <a:ext cx="8520600" cy="393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Direct Chaining =&gt; Linked list based implementation</a:t>
            </a:r>
            <a:endParaRPr/>
          </a:p>
          <a:p>
            <a:pPr indent="-317500" lvl="1" marL="914400" rtl="0" algn="l">
              <a:spcBef>
                <a:spcPts val="0"/>
              </a:spcBef>
              <a:spcAft>
                <a:spcPts val="0"/>
              </a:spcAft>
              <a:buSzPts val="1400"/>
              <a:buChar char="○"/>
            </a:pPr>
            <a:r>
              <a:rPr lang="en"/>
              <a:t>Separate Chaining</a:t>
            </a:r>
            <a:endParaRPr/>
          </a:p>
          <a:p>
            <a:pPr indent="-342900" lvl="0" marL="457200" rtl="0" algn="l">
              <a:spcBef>
                <a:spcPts val="0"/>
              </a:spcBef>
              <a:spcAft>
                <a:spcPts val="0"/>
              </a:spcAft>
              <a:buSzPts val="1800"/>
              <a:buChar char="●"/>
            </a:pPr>
            <a:r>
              <a:rPr lang="en"/>
              <a:t>Open Addressing =&gt; Array -based implementation</a:t>
            </a:r>
            <a:endParaRPr/>
          </a:p>
          <a:p>
            <a:pPr indent="-317500" lvl="1" marL="914400" rtl="0" algn="l">
              <a:spcBef>
                <a:spcPts val="0"/>
              </a:spcBef>
              <a:spcAft>
                <a:spcPts val="0"/>
              </a:spcAft>
              <a:buSzPts val="1400"/>
              <a:buChar char="○"/>
            </a:pPr>
            <a:r>
              <a:rPr lang="en"/>
              <a:t>Linear Probing =&gt; linear search</a:t>
            </a:r>
            <a:endParaRPr/>
          </a:p>
          <a:p>
            <a:pPr indent="-317500" lvl="1" marL="914400" rtl="0" algn="l">
              <a:spcBef>
                <a:spcPts val="0"/>
              </a:spcBef>
              <a:spcAft>
                <a:spcPts val="0"/>
              </a:spcAft>
              <a:buSzPts val="1400"/>
              <a:buChar char="○"/>
            </a:pPr>
            <a:r>
              <a:rPr lang="en"/>
              <a:t>Quadratic probing =&gt; nonlinear search</a:t>
            </a:r>
            <a:endParaRPr/>
          </a:p>
          <a:p>
            <a:pPr indent="-317500" lvl="1" marL="914400" rtl="0" algn="l">
              <a:spcBef>
                <a:spcPts val="0"/>
              </a:spcBef>
              <a:spcAft>
                <a:spcPts val="0"/>
              </a:spcAft>
              <a:buSzPts val="1400"/>
              <a:buChar char="○"/>
            </a:pPr>
            <a:r>
              <a:rPr lang="en"/>
              <a:t>Double </a:t>
            </a:r>
            <a:r>
              <a:rPr lang="en"/>
              <a:t>hashing</a:t>
            </a:r>
            <a:r>
              <a:rPr lang="en"/>
              <a:t> =&gt; use of two hash functions</a:t>
            </a:r>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Separate Chaining</a:t>
            </a:r>
            <a:endParaRPr/>
          </a:p>
        </p:txBody>
      </p:sp>
      <p:sp>
        <p:nvSpPr>
          <p:cNvPr id="188" name="Google Shape;188;p34"/>
          <p:cNvSpPr txBox="1"/>
          <p:nvPr>
            <p:ph idx="1" type="body"/>
          </p:nvPr>
        </p:nvSpPr>
        <p:spPr>
          <a:xfrm>
            <a:off x="311700" y="1152475"/>
            <a:ext cx="8520600" cy="393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this technique, a linked list is created from the slot in which collision has occurred, after which the new key is inserted into the linked list. </a:t>
            </a:r>
            <a:endParaRPr/>
          </a:p>
          <a:p>
            <a:pPr indent="-342900" lvl="0" marL="457200" rtl="0" algn="l">
              <a:spcBef>
                <a:spcPts val="0"/>
              </a:spcBef>
              <a:spcAft>
                <a:spcPts val="0"/>
              </a:spcAft>
              <a:buSzPts val="1800"/>
              <a:buChar char="●"/>
            </a:pPr>
            <a:r>
              <a:rPr lang="en"/>
              <a:t>This linked list of slots looks like a chain, so it is called </a:t>
            </a:r>
            <a:r>
              <a:rPr b="1" lang="en"/>
              <a:t>separate chaining</a:t>
            </a:r>
            <a:r>
              <a:rPr lang="en"/>
              <a:t>. </a:t>
            </a:r>
            <a:endParaRPr/>
          </a:p>
          <a:p>
            <a:pPr indent="-342900" lvl="0" marL="457200" rtl="0" algn="l">
              <a:spcBef>
                <a:spcPts val="0"/>
              </a:spcBef>
              <a:spcAft>
                <a:spcPts val="0"/>
              </a:spcAft>
              <a:buSzPts val="1800"/>
              <a:buChar char="●"/>
            </a:pPr>
            <a:r>
              <a:rPr lang="en"/>
              <a:t>It is used more when we </a:t>
            </a:r>
            <a:r>
              <a:rPr b="1" lang="en"/>
              <a:t>do not know how many keys to insert</a:t>
            </a:r>
            <a:r>
              <a:rPr lang="en"/>
              <a:t> or delete.</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Hashing for keys: [key mod 7]</a:t>
            </a:r>
            <a:endParaRPr/>
          </a:p>
          <a:p>
            <a:pPr indent="0" lvl="0" marL="0" rtl="0" algn="l">
              <a:spcBef>
                <a:spcPts val="1200"/>
              </a:spcBef>
              <a:spcAft>
                <a:spcPts val="1200"/>
              </a:spcAft>
              <a:buNone/>
            </a:pPr>
            <a:r>
              <a:rPr lang="en"/>
              <a:t>50, 700, 76, 85, 92</a:t>
            </a:r>
            <a:endParaRPr/>
          </a:p>
        </p:txBody>
      </p:sp>
      <p:pic>
        <p:nvPicPr>
          <p:cNvPr id="189" name="Google Shape;189;p34"/>
          <p:cNvPicPr preferRelativeResize="0"/>
          <p:nvPr/>
        </p:nvPicPr>
        <p:blipFill>
          <a:blip r:embed="rId3">
            <a:alphaModFix/>
          </a:blip>
          <a:stretch>
            <a:fillRect/>
          </a:stretch>
        </p:blipFill>
        <p:spPr>
          <a:xfrm>
            <a:off x="3867122" y="2571750"/>
            <a:ext cx="5157727" cy="25717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Separate Chaining[2]</a:t>
            </a:r>
            <a:endParaRPr/>
          </a:p>
        </p:txBody>
      </p:sp>
      <p:sp>
        <p:nvSpPr>
          <p:cNvPr id="195" name="Google Shape;195;p35"/>
          <p:cNvSpPr txBox="1"/>
          <p:nvPr>
            <p:ph idx="1" type="body"/>
          </p:nvPr>
        </p:nvSpPr>
        <p:spPr>
          <a:xfrm>
            <a:off x="311700" y="1152475"/>
            <a:ext cx="8520600" cy="393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Hashing for keys: [key mod 7]</a:t>
            </a:r>
            <a:endParaRPr/>
          </a:p>
          <a:p>
            <a:pPr indent="0" lvl="0" marL="0" rtl="0" algn="l">
              <a:spcBef>
                <a:spcPts val="1200"/>
              </a:spcBef>
              <a:spcAft>
                <a:spcPts val="0"/>
              </a:spcAft>
              <a:buClr>
                <a:schemeClr val="dk1"/>
              </a:buClr>
              <a:buSzPts val="1100"/>
              <a:buFont typeface="Arial"/>
              <a:buNone/>
            </a:pPr>
            <a:r>
              <a:rPr lang="en"/>
              <a:t>50, 700, 76, 85, 92, </a:t>
            </a:r>
            <a:r>
              <a:rPr b="1" lang="en"/>
              <a:t>73?, 101?</a:t>
            </a:r>
            <a:endParaRPr b="1"/>
          </a:p>
          <a:p>
            <a:pPr indent="0" lvl="0" marL="0" rtl="0" algn="l">
              <a:spcBef>
                <a:spcPts val="1200"/>
              </a:spcBef>
              <a:spcAft>
                <a:spcPts val="1200"/>
              </a:spcAft>
              <a:buNone/>
            </a:pPr>
            <a:r>
              <a:t/>
            </a:r>
            <a:endParaRPr/>
          </a:p>
        </p:txBody>
      </p:sp>
      <p:pic>
        <p:nvPicPr>
          <p:cNvPr id="196" name="Google Shape;196;p35"/>
          <p:cNvPicPr preferRelativeResize="0"/>
          <p:nvPr/>
        </p:nvPicPr>
        <p:blipFill>
          <a:blip r:embed="rId3">
            <a:alphaModFix/>
          </a:blip>
          <a:stretch>
            <a:fillRect/>
          </a:stretch>
        </p:blipFill>
        <p:spPr>
          <a:xfrm>
            <a:off x="3300925" y="1944500"/>
            <a:ext cx="5843076" cy="3199000"/>
          </a:xfrm>
          <a:prstGeom prst="rect">
            <a:avLst/>
          </a:prstGeom>
          <a:noFill/>
          <a:ln>
            <a:noFill/>
          </a:ln>
        </p:spPr>
      </p:pic>
      <p:pic>
        <p:nvPicPr>
          <p:cNvPr id="197" name="Google Shape;197;p35"/>
          <p:cNvPicPr preferRelativeResize="0"/>
          <p:nvPr/>
        </p:nvPicPr>
        <p:blipFill>
          <a:blip r:embed="rId4">
            <a:alphaModFix/>
          </a:blip>
          <a:stretch>
            <a:fillRect/>
          </a:stretch>
        </p:blipFill>
        <p:spPr>
          <a:xfrm>
            <a:off x="-1" y="2644275"/>
            <a:ext cx="3140950" cy="1566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Separate Chaining[3]</a:t>
            </a:r>
            <a:endParaRPr/>
          </a:p>
        </p:txBody>
      </p:sp>
      <p:sp>
        <p:nvSpPr>
          <p:cNvPr id="203" name="Google Shape;203;p36"/>
          <p:cNvSpPr txBox="1"/>
          <p:nvPr>
            <p:ph idx="1" type="body"/>
          </p:nvPr>
        </p:nvSpPr>
        <p:spPr>
          <a:xfrm>
            <a:off x="311700" y="1152475"/>
            <a:ext cx="8520600" cy="393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Advantages</a:t>
            </a:r>
            <a:endParaRPr/>
          </a:p>
          <a:p>
            <a:pPr indent="-317500" lvl="1" marL="914400" rtl="0" algn="l">
              <a:spcBef>
                <a:spcPts val="0"/>
              </a:spcBef>
              <a:spcAft>
                <a:spcPts val="0"/>
              </a:spcAft>
              <a:buSzPts val="1400"/>
              <a:buChar char="○"/>
            </a:pPr>
            <a:r>
              <a:rPr lang="en"/>
              <a:t>Simple to implement</a:t>
            </a:r>
            <a:endParaRPr/>
          </a:p>
          <a:p>
            <a:pPr indent="-317500" lvl="1" marL="914400" rtl="0" algn="l">
              <a:spcBef>
                <a:spcPts val="0"/>
              </a:spcBef>
              <a:spcAft>
                <a:spcPts val="0"/>
              </a:spcAft>
              <a:buSzPts val="1400"/>
              <a:buChar char="○"/>
            </a:pPr>
            <a:r>
              <a:rPr lang="en"/>
              <a:t>Hash table never fills up, we can always add more elements to chain as it is dynamic.</a:t>
            </a:r>
            <a:endParaRPr/>
          </a:p>
          <a:p>
            <a:pPr indent="-342900" lvl="0" marL="457200" rtl="0" algn="l">
              <a:spcBef>
                <a:spcPts val="0"/>
              </a:spcBef>
              <a:spcAft>
                <a:spcPts val="0"/>
              </a:spcAft>
              <a:buSzPts val="1800"/>
              <a:buChar char="●"/>
            </a:pPr>
            <a:r>
              <a:rPr lang="en"/>
              <a:t>Disadvantages</a:t>
            </a:r>
            <a:endParaRPr/>
          </a:p>
          <a:p>
            <a:pPr indent="-317500" lvl="1" marL="914400" rtl="0" algn="l">
              <a:spcBef>
                <a:spcPts val="0"/>
              </a:spcBef>
              <a:spcAft>
                <a:spcPts val="0"/>
              </a:spcAft>
              <a:buSzPts val="1400"/>
              <a:buChar char="○"/>
            </a:pPr>
            <a:r>
              <a:rPr lang="en"/>
              <a:t>Uses extra space for links.</a:t>
            </a:r>
            <a:endParaRPr/>
          </a:p>
          <a:p>
            <a:pPr indent="-317500" lvl="1" marL="914400" rtl="0" algn="l">
              <a:spcBef>
                <a:spcPts val="0"/>
              </a:spcBef>
              <a:spcAft>
                <a:spcPts val="0"/>
              </a:spcAft>
              <a:buSzPts val="1400"/>
              <a:buChar char="○"/>
            </a:pPr>
            <a:r>
              <a:rPr lang="en"/>
              <a:t>Wastage of space - some parts of hash table might never be used</a:t>
            </a:r>
            <a:endParaRPr/>
          </a:p>
          <a:p>
            <a:pPr indent="-317500" lvl="1" marL="914400" rtl="0" algn="l">
              <a:spcBef>
                <a:spcPts val="0"/>
              </a:spcBef>
              <a:spcAft>
                <a:spcPts val="0"/>
              </a:spcAft>
              <a:buSzPts val="1400"/>
              <a:buChar char="○"/>
            </a:pPr>
            <a:r>
              <a:rPr lang="en"/>
              <a:t>If the chain becomes too long, then search time can become O(n) in worst case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Separate Chaining[4]</a:t>
            </a:r>
            <a:endParaRPr/>
          </a:p>
        </p:txBody>
      </p:sp>
      <p:sp>
        <p:nvSpPr>
          <p:cNvPr id="209" name="Google Shape;209;p37"/>
          <p:cNvSpPr txBox="1"/>
          <p:nvPr>
            <p:ph idx="1" type="body"/>
          </p:nvPr>
        </p:nvSpPr>
        <p:spPr>
          <a:xfrm>
            <a:off x="311700" y="1152475"/>
            <a:ext cx="8520600" cy="393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u="sng"/>
              <a:t>Analysis</a:t>
            </a:r>
            <a:endParaRPr b="1" u="sng"/>
          </a:p>
          <a:p>
            <a:pPr indent="-342900" lvl="0" marL="457200" rtl="0" algn="l">
              <a:spcBef>
                <a:spcPts val="1200"/>
              </a:spcBef>
              <a:spcAft>
                <a:spcPts val="0"/>
              </a:spcAft>
              <a:buSzPts val="1800"/>
              <a:buChar char="●"/>
            </a:pPr>
            <a:r>
              <a:rPr lang="en"/>
              <a:t>Worst Case</a:t>
            </a:r>
            <a:endParaRPr/>
          </a:p>
          <a:p>
            <a:pPr indent="-317500" lvl="1" marL="914400" rtl="0" algn="l">
              <a:spcBef>
                <a:spcPts val="0"/>
              </a:spcBef>
              <a:spcAft>
                <a:spcPts val="0"/>
              </a:spcAft>
              <a:buSzPts val="1400"/>
              <a:buChar char="○"/>
            </a:pPr>
            <a:r>
              <a:rPr lang="en"/>
              <a:t>All keys into the same bucket</a:t>
            </a:r>
            <a:endParaRPr/>
          </a:p>
          <a:p>
            <a:pPr indent="-317500" lvl="1" marL="914400" rtl="0" algn="l">
              <a:spcBef>
                <a:spcPts val="0"/>
              </a:spcBef>
              <a:spcAft>
                <a:spcPts val="0"/>
              </a:spcAft>
              <a:buSzPts val="1400"/>
              <a:buChar char="○"/>
            </a:pPr>
            <a:r>
              <a:rPr lang="en"/>
              <a:t>A single linked list is used</a:t>
            </a:r>
            <a:endParaRPr/>
          </a:p>
          <a:p>
            <a:pPr indent="-317500" lvl="1" marL="914400" rtl="0" algn="l">
              <a:spcBef>
                <a:spcPts val="0"/>
              </a:spcBef>
              <a:spcAft>
                <a:spcPts val="0"/>
              </a:spcAft>
              <a:buSzPts val="1400"/>
              <a:buChar char="○"/>
            </a:pPr>
            <a:r>
              <a:rPr lang="en"/>
              <a:t>Insert, delete and search will take O(n) time.</a:t>
            </a:r>
            <a:endParaRPr/>
          </a:p>
          <a:p>
            <a:pPr indent="-342900" lvl="0" marL="457200" rtl="0" algn="l">
              <a:spcBef>
                <a:spcPts val="0"/>
              </a:spcBef>
              <a:spcAft>
                <a:spcPts val="0"/>
              </a:spcAft>
              <a:buSzPts val="1800"/>
              <a:buChar char="●"/>
            </a:pPr>
            <a:r>
              <a:rPr lang="en"/>
              <a:t>Average Case</a:t>
            </a:r>
            <a:endParaRPr/>
          </a:p>
          <a:p>
            <a:pPr indent="-317500" lvl="1" marL="914400" rtl="0" algn="l">
              <a:spcBef>
                <a:spcPts val="0"/>
              </a:spcBef>
              <a:spcAft>
                <a:spcPts val="0"/>
              </a:spcAft>
              <a:buSzPts val="1400"/>
              <a:buChar char="○"/>
            </a:pPr>
            <a:r>
              <a:rPr lang="en"/>
              <a:t>Keys are uniformly distributed into buckets.</a:t>
            </a:r>
            <a:endParaRPr/>
          </a:p>
          <a:p>
            <a:pPr indent="-317500" lvl="1" marL="914400" rtl="0" algn="l">
              <a:spcBef>
                <a:spcPts val="0"/>
              </a:spcBef>
              <a:spcAft>
                <a:spcPts val="0"/>
              </a:spcAft>
              <a:buSzPts val="1400"/>
              <a:buChar char="○"/>
            </a:pPr>
            <a:r>
              <a:rPr lang="en"/>
              <a:t>O(1+N/B): where N is the number of elements in the hash table</a:t>
            </a:r>
            <a:br>
              <a:rPr lang="en"/>
            </a:br>
            <a:r>
              <a:rPr lang="en"/>
              <a:t>		B is the number of buckets</a:t>
            </a:r>
            <a:endParaRPr/>
          </a:p>
          <a:p>
            <a:pPr indent="-317500" lvl="1" marL="914400" rtl="0" algn="l">
              <a:spcBef>
                <a:spcPts val="0"/>
              </a:spcBef>
              <a:spcAft>
                <a:spcPts val="0"/>
              </a:spcAft>
              <a:buSzPts val="1400"/>
              <a:buChar char="○"/>
            </a:pPr>
            <a:r>
              <a:rPr lang="en"/>
              <a:t>If N= O(B), then it will take O(1) time per operation.</a:t>
            </a:r>
            <a:endParaRPr/>
          </a:p>
          <a:p>
            <a:pPr indent="-317500" lvl="1" marL="914400" rtl="0" algn="l">
              <a:spcBef>
                <a:spcPts val="0"/>
              </a:spcBef>
              <a:spcAft>
                <a:spcPts val="0"/>
              </a:spcAft>
              <a:buSzPts val="1400"/>
              <a:buChar char="○"/>
            </a:pPr>
            <a:r>
              <a:rPr b="1" lang="en"/>
              <a:t>N/B is called the load factor of the hash table.</a:t>
            </a:r>
            <a:endParaRPr b="1"/>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Open Addressing</a:t>
            </a:r>
            <a:endParaRPr/>
          </a:p>
        </p:txBody>
      </p:sp>
      <p:sp>
        <p:nvSpPr>
          <p:cNvPr id="215" name="Google Shape;215;p38"/>
          <p:cNvSpPr txBox="1"/>
          <p:nvPr>
            <p:ph idx="1" type="body"/>
          </p:nvPr>
        </p:nvSpPr>
        <p:spPr>
          <a:xfrm>
            <a:off x="311700" y="1152475"/>
            <a:ext cx="8520600" cy="3935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Open addressing is collision-resolution method that is used to control the collision in the hashing table. </a:t>
            </a:r>
            <a:endParaRPr/>
          </a:p>
          <a:p>
            <a:pPr indent="-342900" lvl="0" marL="457200" rtl="0" algn="l">
              <a:spcBef>
                <a:spcPts val="0"/>
              </a:spcBef>
              <a:spcAft>
                <a:spcPts val="0"/>
              </a:spcAft>
              <a:buSzPts val="1800"/>
              <a:buChar char="●"/>
            </a:pPr>
            <a:r>
              <a:rPr b="1" lang="en" u="sng"/>
              <a:t>There is no key stored outside of the hash table</a:t>
            </a:r>
            <a:r>
              <a:rPr lang="en"/>
              <a:t>. </a:t>
            </a:r>
            <a:endParaRPr/>
          </a:p>
          <a:p>
            <a:pPr indent="-342900" lvl="0" marL="457200" rtl="0" algn="l">
              <a:spcBef>
                <a:spcPts val="0"/>
              </a:spcBef>
              <a:spcAft>
                <a:spcPts val="0"/>
              </a:spcAft>
              <a:buSzPts val="1800"/>
              <a:buChar char="●"/>
            </a:pPr>
            <a:r>
              <a:rPr lang="en"/>
              <a:t>Therefore, the size of the hash table is always greater than or equal to the number of keys. </a:t>
            </a:r>
            <a:endParaRPr/>
          </a:p>
          <a:p>
            <a:pPr indent="-342900" lvl="0" marL="457200" rtl="0" algn="l">
              <a:spcBef>
                <a:spcPts val="0"/>
              </a:spcBef>
              <a:spcAft>
                <a:spcPts val="0"/>
              </a:spcAft>
              <a:buSzPts val="1800"/>
              <a:buChar char="●"/>
            </a:pPr>
            <a:r>
              <a:rPr lang="en"/>
              <a:t>It is also called </a:t>
            </a:r>
            <a:r>
              <a:rPr b="1" lang="en"/>
              <a:t>closed hashing</a:t>
            </a:r>
            <a:r>
              <a:rPr lang="en"/>
              <a:t>. </a:t>
            </a:r>
            <a:endParaRPr/>
          </a:p>
          <a:p>
            <a:pPr indent="-342900" lvl="0" marL="457200" rtl="0" algn="l">
              <a:spcBef>
                <a:spcPts val="0"/>
              </a:spcBef>
              <a:spcAft>
                <a:spcPts val="0"/>
              </a:spcAft>
              <a:buSzPts val="1800"/>
              <a:buChar char="●"/>
            </a:pPr>
            <a:r>
              <a:rPr lang="en"/>
              <a:t>The following techniques are used in open addressing: </a:t>
            </a:r>
            <a:endParaRPr/>
          </a:p>
          <a:p>
            <a:pPr indent="-317500" lvl="1" marL="914400" rtl="0" algn="l">
              <a:spcBef>
                <a:spcPts val="0"/>
              </a:spcBef>
              <a:spcAft>
                <a:spcPts val="0"/>
              </a:spcAft>
              <a:buSzPts val="1400"/>
              <a:buChar char="○"/>
            </a:pPr>
            <a:r>
              <a:rPr lang="en"/>
              <a:t>Linear probing </a:t>
            </a:r>
            <a:endParaRPr/>
          </a:p>
          <a:p>
            <a:pPr indent="-317500" lvl="1" marL="914400" rtl="0" algn="l">
              <a:spcBef>
                <a:spcPts val="0"/>
              </a:spcBef>
              <a:spcAft>
                <a:spcPts val="0"/>
              </a:spcAft>
              <a:buSzPts val="1400"/>
              <a:buChar char="○"/>
            </a:pPr>
            <a:r>
              <a:rPr lang="en"/>
              <a:t>Quadratic probing </a:t>
            </a:r>
            <a:endParaRPr/>
          </a:p>
          <a:p>
            <a:pPr indent="-317500" lvl="1" marL="914400" rtl="0" algn="l">
              <a:spcBef>
                <a:spcPts val="0"/>
              </a:spcBef>
              <a:spcAft>
                <a:spcPts val="0"/>
              </a:spcAft>
              <a:buSzPts val="1400"/>
              <a:buChar char="○"/>
            </a:pPr>
            <a:r>
              <a:rPr lang="en"/>
              <a:t>Double hashing.</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Linear Probing</a:t>
            </a:r>
            <a:endParaRPr/>
          </a:p>
        </p:txBody>
      </p:sp>
      <p:sp>
        <p:nvSpPr>
          <p:cNvPr id="221" name="Google Shape;221;p39"/>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linear probing, we search the hash table sequentially, starting from the original hash location. </a:t>
            </a:r>
            <a:endParaRPr/>
          </a:p>
          <a:p>
            <a:pPr indent="-342900" lvl="0" marL="457200" rtl="0" algn="l">
              <a:spcBef>
                <a:spcPts val="0"/>
              </a:spcBef>
              <a:spcAft>
                <a:spcPts val="0"/>
              </a:spcAft>
              <a:buSzPts val="1800"/>
              <a:buChar char="●"/>
            </a:pPr>
            <a:r>
              <a:rPr lang="en"/>
              <a:t>If a location is occupied, we check the next location. </a:t>
            </a:r>
            <a:endParaRPr/>
          </a:p>
          <a:p>
            <a:pPr indent="-342900" lvl="0" marL="457200" rtl="0" algn="l">
              <a:spcBef>
                <a:spcPts val="0"/>
              </a:spcBef>
              <a:spcAft>
                <a:spcPts val="0"/>
              </a:spcAft>
              <a:buSzPts val="1800"/>
              <a:buChar char="●"/>
            </a:pPr>
            <a:r>
              <a:rPr lang="en"/>
              <a:t>We wrap around from the last table location to the first table location if necessary. </a:t>
            </a:r>
            <a:endParaRPr/>
          </a:p>
          <a:p>
            <a:pPr indent="-342900" lvl="0" marL="457200" rtl="0" algn="l">
              <a:spcBef>
                <a:spcPts val="0"/>
              </a:spcBef>
              <a:spcAft>
                <a:spcPts val="0"/>
              </a:spcAft>
              <a:buSzPts val="1800"/>
              <a:buChar char="●"/>
            </a:pPr>
            <a:r>
              <a:rPr lang="en"/>
              <a:t>The function for rehashing is the following: </a:t>
            </a:r>
            <a:endParaRPr/>
          </a:p>
          <a:p>
            <a:pPr indent="-317500" lvl="1" marL="914400" rtl="0" algn="l">
              <a:spcBef>
                <a:spcPts val="0"/>
              </a:spcBef>
              <a:spcAft>
                <a:spcPts val="0"/>
              </a:spcAft>
              <a:buSzPts val="1400"/>
              <a:buChar char="○"/>
            </a:pPr>
            <a:r>
              <a:rPr lang="en"/>
              <a:t>rehash(x) % tablesize</a:t>
            </a:r>
            <a:endParaRPr/>
          </a:p>
          <a:p>
            <a:pPr indent="-342900" lvl="0" marL="457200" rtl="0" algn="l">
              <a:spcBef>
                <a:spcPts val="0"/>
              </a:spcBef>
              <a:spcAft>
                <a:spcPts val="0"/>
              </a:spcAft>
              <a:buSzPts val="1800"/>
              <a:buChar char="●"/>
            </a:pPr>
            <a:r>
              <a:rPr lang="en"/>
              <a:t>If slot </a:t>
            </a:r>
            <a:r>
              <a:rPr b="1" lang="en"/>
              <a:t>hash(x) % tablesize </a:t>
            </a:r>
            <a:r>
              <a:rPr lang="en"/>
              <a:t>is full, then we try (</a:t>
            </a:r>
            <a:r>
              <a:rPr b="1" lang="en"/>
              <a:t>hash(x) + 1) % tablesize</a:t>
            </a:r>
            <a:endParaRPr b="1"/>
          </a:p>
          <a:p>
            <a:pPr indent="-342900" lvl="0" marL="457200" rtl="0" algn="l">
              <a:spcBef>
                <a:spcPts val="0"/>
              </a:spcBef>
              <a:spcAft>
                <a:spcPts val="0"/>
              </a:spcAft>
              <a:buSzPts val="1800"/>
              <a:buChar char="●"/>
            </a:pPr>
            <a:r>
              <a:rPr lang="en"/>
              <a:t>If (</a:t>
            </a:r>
            <a:r>
              <a:rPr b="1" lang="en"/>
              <a:t>hash(x) + 1) % tablesize</a:t>
            </a:r>
            <a:r>
              <a:rPr lang="en"/>
              <a:t> is also full, then we try </a:t>
            </a:r>
            <a:r>
              <a:rPr lang="en"/>
              <a:t>(hash(x) + 2) % tablesize.</a:t>
            </a:r>
            <a:endParaRPr/>
          </a:p>
          <a:p>
            <a:pPr indent="-342900" lvl="0" marL="457200" rtl="0" algn="l">
              <a:spcBef>
                <a:spcPts val="0"/>
              </a:spcBef>
              <a:spcAft>
                <a:spcPts val="0"/>
              </a:spcAft>
              <a:buSzPts val="1800"/>
              <a:buChar char="●"/>
            </a:pPr>
            <a:r>
              <a:rPr lang="en"/>
              <a:t>If </a:t>
            </a:r>
            <a:r>
              <a:rPr b="1" lang="en"/>
              <a:t>(hash(x) + 2) % tablesize</a:t>
            </a:r>
            <a:r>
              <a:rPr lang="en"/>
              <a:t> is also full, then we try </a:t>
            </a:r>
            <a:r>
              <a:rPr lang="en"/>
              <a:t>(hash(x) + 3) % tablesize</a:t>
            </a:r>
            <a:endParaRPr/>
          </a:p>
          <a:p>
            <a:pPr indent="-342900" lvl="0" marL="457200" rtl="0" algn="l">
              <a:spcBef>
                <a:spcPts val="0"/>
              </a:spcBef>
              <a:spcAft>
                <a:spcPts val="0"/>
              </a:spcAft>
              <a:buSzPts val="1800"/>
              <a:buChar char="●"/>
            </a:pPr>
            <a:r>
              <a:rPr lang="en"/>
              <a:t>And so on until you find the empty slot.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Linear Probing[2]</a:t>
            </a:r>
            <a:endParaRPr/>
          </a:p>
        </p:txBody>
      </p:sp>
      <p:sp>
        <p:nvSpPr>
          <p:cNvPr id="227" name="Google Shape;227;p40"/>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Performing hash operations on: [key mod 7]</a:t>
            </a:r>
            <a:endParaRPr/>
          </a:p>
          <a:p>
            <a:pPr indent="0" lvl="0" marL="0" rtl="0" algn="l">
              <a:spcBef>
                <a:spcPts val="1200"/>
              </a:spcBef>
              <a:spcAft>
                <a:spcPts val="1200"/>
              </a:spcAft>
              <a:buNone/>
            </a:pPr>
            <a:r>
              <a:rPr lang="en"/>
              <a:t>50,700,76,85,92</a:t>
            </a:r>
            <a:endParaRPr/>
          </a:p>
        </p:txBody>
      </p:sp>
      <p:pic>
        <p:nvPicPr>
          <p:cNvPr id="228" name="Google Shape;228;p40"/>
          <p:cNvPicPr preferRelativeResize="0"/>
          <p:nvPr/>
        </p:nvPicPr>
        <p:blipFill>
          <a:blip r:embed="rId3">
            <a:alphaModFix/>
          </a:blip>
          <a:stretch>
            <a:fillRect/>
          </a:stretch>
        </p:blipFill>
        <p:spPr>
          <a:xfrm>
            <a:off x="2209800" y="1600200"/>
            <a:ext cx="6934200" cy="35433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Linear Probing[3]</a:t>
            </a:r>
            <a:endParaRPr/>
          </a:p>
        </p:txBody>
      </p:sp>
      <p:sp>
        <p:nvSpPr>
          <p:cNvPr id="234" name="Google Shape;234;p41"/>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Performing hash operations on: [key mod 7]</a:t>
            </a:r>
            <a:endParaRPr/>
          </a:p>
          <a:p>
            <a:pPr indent="0" lvl="0" marL="0" rtl="0" algn="l">
              <a:spcBef>
                <a:spcPts val="1200"/>
              </a:spcBef>
              <a:spcAft>
                <a:spcPts val="1200"/>
              </a:spcAft>
              <a:buNone/>
            </a:pPr>
            <a:r>
              <a:rPr lang="en"/>
              <a:t>50,700,76,85,92</a:t>
            </a:r>
            <a:endParaRPr/>
          </a:p>
        </p:txBody>
      </p:sp>
      <p:pic>
        <p:nvPicPr>
          <p:cNvPr id="235" name="Google Shape;235;p41"/>
          <p:cNvPicPr preferRelativeResize="0"/>
          <p:nvPr/>
        </p:nvPicPr>
        <p:blipFill>
          <a:blip r:embed="rId3">
            <a:alphaModFix/>
          </a:blip>
          <a:stretch>
            <a:fillRect/>
          </a:stretch>
        </p:blipFill>
        <p:spPr>
          <a:xfrm>
            <a:off x="2667000" y="1733550"/>
            <a:ext cx="6477000" cy="34099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Linear Probing[4]</a:t>
            </a:r>
            <a:endParaRPr/>
          </a:p>
        </p:txBody>
      </p:sp>
      <p:sp>
        <p:nvSpPr>
          <p:cNvPr id="241" name="Google Shape;241;p42"/>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Performing hash operations on: [key mod 7]</a:t>
            </a:r>
            <a:endParaRPr/>
          </a:p>
          <a:p>
            <a:pPr indent="0" lvl="0" marL="0" rtl="0" algn="l">
              <a:spcBef>
                <a:spcPts val="1200"/>
              </a:spcBef>
              <a:spcAft>
                <a:spcPts val="1200"/>
              </a:spcAft>
              <a:buNone/>
            </a:pPr>
            <a:r>
              <a:rPr lang="en"/>
              <a:t>50,700,76,85,92, </a:t>
            </a:r>
            <a:r>
              <a:rPr b="1" lang="en"/>
              <a:t>73?, 101?</a:t>
            </a:r>
            <a:endParaRPr b="1"/>
          </a:p>
        </p:txBody>
      </p:sp>
      <p:pic>
        <p:nvPicPr>
          <p:cNvPr id="242" name="Google Shape;242;p42"/>
          <p:cNvPicPr preferRelativeResize="0"/>
          <p:nvPr/>
        </p:nvPicPr>
        <p:blipFill rotWithShape="1">
          <a:blip r:embed="rId3">
            <a:alphaModFix/>
          </a:blip>
          <a:srcRect b="0" l="0" r="0" t="18079"/>
          <a:stretch/>
        </p:blipFill>
        <p:spPr>
          <a:xfrm>
            <a:off x="2781300" y="1991150"/>
            <a:ext cx="6362700" cy="31523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Linear Probing[5]</a:t>
            </a:r>
            <a:endParaRPr/>
          </a:p>
        </p:txBody>
      </p:sp>
      <p:sp>
        <p:nvSpPr>
          <p:cNvPr id="248" name="Google Shape;248;p43"/>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Advantages</a:t>
            </a:r>
            <a:endParaRPr/>
          </a:p>
          <a:p>
            <a:pPr indent="-342900" lvl="0" marL="457200" rtl="0" algn="l">
              <a:spcBef>
                <a:spcPts val="1200"/>
              </a:spcBef>
              <a:spcAft>
                <a:spcPts val="0"/>
              </a:spcAft>
              <a:buSzPts val="1800"/>
              <a:buChar char="●"/>
            </a:pPr>
            <a:r>
              <a:rPr lang="en"/>
              <a:t>It is easy to compute</a:t>
            </a:r>
            <a:endParaRPr/>
          </a:p>
          <a:p>
            <a:pPr indent="0" lvl="0" marL="0" rtl="0" algn="l">
              <a:spcBef>
                <a:spcPts val="1200"/>
              </a:spcBef>
              <a:spcAft>
                <a:spcPts val="0"/>
              </a:spcAft>
              <a:buNone/>
            </a:pPr>
            <a:r>
              <a:rPr lang="en"/>
              <a:t>Disadvantages</a:t>
            </a:r>
            <a:endParaRPr/>
          </a:p>
          <a:p>
            <a:pPr indent="-342900" lvl="0" marL="457200" rtl="0" algn="l">
              <a:spcBef>
                <a:spcPts val="1200"/>
              </a:spcBef>
              <a:spcAft>
                <a:spcPts val="0"/>
              </a:spcAft>
              <a:buSzPts val="1800"/>
              <a:buChar char="●"/>
            </a:pPr>
            <a:r>
              <a:rPr lang="en"/>
              <a:t>The main disadvantage is clustering</a:t>
            </a:r>
            <a:endParaRPr/>
          </a:p>
          <a:p>
            <a:pPr indent="-342900" lvl="0" marL="457200" rtl="0" algn="l">
              <a:spcBef>
                <a:spcPts val="0"/>
              </a:spcBef>
              <a:spcAft>
                <a:spcPts val="0"/>
              </a:spcAft>
              <a:buSzPts val="1800"/>
              <a:buChar char="●"/>
            </a:pPr>
            <a:r>
              <a:rPr lang="en"/>
              <a:t>Many consecutive elements might form groups</a:t>
            </a:r>
            <a:endParaRPr/>
          </a:p>
          <a:p>
            <a:pPr indent="-342900" lvl="0" marL="457200" rtl="0" algn="l">
              <a:spcBef>
                <a:spcPts val="0"/>
              </a:spcBef>
              <a:spcAft>
                <a:spcPts val="0"/>
              </a:spcAft>
              <a:buSzPts val="1800"/>
              <a:buChar char="●"/>
            </a:pPr>
            <a:r>
              <a:rPr lang="en"/>
              <a:t>Might be time consuming to search for empty bucket.</a:t>
            </a:r>
            <a:endParaRPr/>
          </a:p>
          <a:p>
            <a:pPr indent="0" lvl="0" marL="0" rtl="0" algn="l">
              <a:spcBef>
                <a:spcPts val="1200"/>
              </a:spcBef>
              <a:spcAft>
                <a:spcPts val="1200"/>
              </a:spcAft>
              <a:buNone/>
            </a:pPr>
            <a:r>
              <a:rPr lang="en"/>
              <a:t>Worst</a:t>
            </a:r>
            <a:r>
              <a:rPr lang="en"/>
              <a:t> time to search an element is </a:t>
            </a:r>
            <a:r>
              <a:rPr b="1" lang="en"/>
              <a:t>O(s)</a:t>
            </a:r>
            <a:r>
              <a:rPr lang="en"/>
              <a:t> where </a:t>
            </a:r>
            <a:r>
              <a:rPr b="1" lang="en"/>
              <a:t>s</a:t>
            </a:r>
            <a:r>
              <a:rPr lang="en"/>
              <a:t> is the table size.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Quadratic Probing</a:t>
            </a:r>
            <a:endParaRPr/>
          </a:p>
        </p:txBody>
      </p:sp>
      <p:sp>
        <p:nvSpPr>
          <p:cNvPr id="254" name="Google Shape;254;p44"/>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The problem of </a:t>
            </a:r>
            <a:r>
              <a:rPr b="1" lang="en" sz="2200"/>
              <a:t>Clustering</a:t>
            </a:r>
            <a:r>
              <a:rPr lang="en" sz="2200"/>
              <a:t> can be eliminated if we use the quadratic probing method. </a:t>
            </a:r>
            <a:endParaRPr sz="2200"/>
          </a:p>
          <a:p>
            <a:pPr indent="-368300" lvl="0" marL="457200" rtl="0" algn="l">
              <a:spcBef>
                <a:spcPts val="0"/>
              </a:spcBef>
              <a:spcAft>
                <a:spcPts val="0"/>
              </a:spcAft>
              <a:buSzPts val="2200"/>
              <a:buChar char="●"/>
            </a:pPr>
            <a:r>
              <a:rPr lang="en" sz="2200"/>
              <a:t>In quadratic probing, when collision occurs, we probe for i</a:t>
            </a:r>
            <a:r>
              <a:rPr baseline="30000" lang="en" sz="2200"/>
              <a:t>2</a:t>
            </a:r>
            <a:r>
              <a:rPr lang="en" sz="2200"/>
              <a:t>`th bucket in ith iteration. i.e.In quadratic probing, we start from the original hash location i. If a location is occupied, we check the locations :H+1</a:t>
            </a:r>
            <a:r>
              <a:rPr baseline="30000" lang="en" sz="2200"/>
              <a:t>2</a:t>
            </a:r>
            <a:r>
              <a:rPr lang="en" sz="2200"/>
              <a:t>,  H+2</a:t>
            </a:r>
            <a:r>
              <a:rPr baseline="30000" lang="en" sz="2200"/>
              <a:t>2</a:t>
            </a:r>
            <a:r>
              <a:rPr lang="en" sz="2200"/>
              <a:t>, H+3</a:t>
            </a:r>
            <a:r>
              <a:rPr baseline="30000" lang="en" sz="2200"/>
              <a:t>2</a:t>
            </a:r>
            <a:r>
              <a:rPr lang="en" sz="2200"/>
              <a:t>, H+4</a:t>
            </a:r>
            <a:r>
              <a:rPr baseline="30000" lang="en" sz="2200"/>
              <a:t>2</a:t>
            </a:r>
            <a:r>
              <a:rPr lang="en" sz="2200"/>
              <a:t>, … H+k</a:t>
            </a:r>
            <a:r>
              <a:rPr baseline="30000" lang="en" sz="2200"/>
              <a:t>2</a:t>
            </a:r>
            <a:r>
              <a:rPr lang="en" sz="2200"/>
              <a:t> where i= 1 to k </a:t>
            </a:r>
            <a:endParaRPr sz="2200"/>
          </a:p>
          <a:p>
            <a:pPr indent="-368300" lvl="0" marL="457200" rtl="0" algn="l">
              <a:spcBef>
                <a:spcPts val="0"/>
              </a:spcBef>
              <a:spcAft>
                <a:spcPts val="0"/>
              </a:spcAft>
              <a:buSzPts val="2200"/>
              <a:buChar char="●"/>
            </a:pPr>
            <a:r>
              <a:rPr lang="en" sz="2200"/>
              <a:t>In quadratic probing, f is a quadratic function of i, typically f(i) = i</a:t>
            </a:r>
            <a:r>
              <a:rPr baseline="30000" lang="en" sz="2200"/>
              <a:t>2</a:t>
            </a:r>
            <a:r>
              <a:rPr lang="en" sz="2200"/>
              <a:t>. </a:t>
            </a:r>
            <a:endParaRPr sz="2200"/>
          </a:p>
          <a:p>
            <a:pPr indent="-368300" lvl="0" marL="457200" rtl="0" algn="l">
              <a:spcBef>
                <a:spcPts val="0"/>
              </a:spcBef>
              <a:spcAft>
                <a:spcPts val="0"/>
              </a:spcAft>
              <a:buSzPts val="2200"/>
              <a:buChar char="●"/>
            </a:pPr>
            <a:r>
              <a:rPr lang="en" sz="2200"/>
              <a:t>For example: Table_Size = 10, hash(x) = x mod 10, </a:t>
            </a:r>
            <a:br>
              <a:rPr lang="en" sz="2200"/>
            </a:br>
            <a:r>
              <a:rPr lang="en" sz="2200"/>
              <a:t>f(i) = i</a:t>
            </a:r>
            <a:r>
              <a:rPr baseline="30000" lang="en" sz="2200"/>
              <a:t>2</a:t>
            </a:r>
            <a:r>
              <a:rPr lang="en" sz="2200"/>
              <a:t>, hi(x) = (hash(x) + f(i)) mod Table_Size. </a:t>
            </a:r>
            <a:endParaRPr sz="22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Quadratic Probing[1]</a:t>
            </a:r>
            <a:endParaRPr/>
          </a:p>
        </p:txBody>
      </p:sp>
      <p:sp>
        <p:nvSpPr>
          <p:cNvPr id="260" name="Google Shape;260;p45"/>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for table size = 11, index from 0…10</a:t>
            </a:r>
            <a:endParaRPr/>
          </a:p>
          <a:p>
            <a:pPr indent="-342900" lvl="0" marL="457200" rtl="0" algn="l">
              <a:spcBef>
                <a:spcPts val="1200"/>
              </a:spcBef>
              <a:spcAft>
                <a:spcPts val="0"/>
              </a:spcAft>
              <a:buSzPts val="1800"/>
              <a:buChar char="●"/>
            </a:pPr>
            <a:r>
              <a:rPr lang="en"/>
              <a:t>Hash Function: h(x) = x mod 11</a:t>
            </a:r>
            <a:endParaRPr/>
          </a:p>
          <a:p>
            <a:pPr indent="-342900" lvl="0" marL="457200" rtl="0" algn="l">
              <a:spcBef>
                <a:spcPts val="0"/>
              </a:spcBef>
              <a:spcAft>
                <a:spcPts val="0"/>
              </a:spcAft>
              <a:buSzPts val="1800"/>
              <a:buChar char="●"/>
            </a:pPr>
            <a:r>
              <a:rPr lang="en"/>
              <a:t>Inserting keys: 20, 30, 2, 13, 25, 24, 10, 9</a:t>
            </a:r>
            <a:endParaRPr/>
          </a:p>
          <a:p>
            <a:pPr indent="-317500" lvl="1" marL="914400" rtl="0" algn="l">
              <a:spcBef>
                <a:spcPts val="0"/>
              </a:spcBef>
              <a:spcAft>
                <a:spcPts val="0"/>
              </a:spcAft>
              <a:buSzPts val="1400"/>
              <a:buChar char="○"/>
            </a:pPr>
            <a:r>
              <a:t/>
            </a:r>
            <a:endParaRPr/>
          </a:p>
        </p:txBody>
      </p:sp>
      <p:pic>
        <p:nvPicPr>
          <p:cNvPr id="261" name="Google Shape;261;p45"/>
          <p:cNvPicPr preferRelativeResize="0"/>
          <p:nvPr/>
        </p:nvPicPr>
        <p:blipFill>
          <a:blip r:embed="rId3">
            <a:alphaModFix/>
          </a:blip>
          <a:stretch>
            <a:fillRect/>
          </a:stretch>
        </p:blipFill>
        <p:spPr>
          <a:xfrm>
            <a:off x="7982230" y="1017725"/>
            <a:ext cx="1161771" cy="4125775"/>
          </a:xfrm>
          <a:prstGeom prst="rect">
            <a:avLst/>
          </a:prstGeom>
          <a:noFill/>
          <a:ln>
            <a:noFill/>
          </a:ln>
        </p:spPr>
      </p:pic>
      <p:pic>
        <p:nvPicPr>
          <p:cNvPr id="262" name="Google Shape;262;p45"/>
          <p:cNvPicPr preferRelativeResize="0"/>
          <p:nvPr/>
        </p:nvPicPr>
        <p:blipFill>
          <a:blip r:embed="rId4">
            <a:alphaModFix/>
          </a:blip>
          <a:stretch>
            <a:fillRect/>
          </a:stretch>
        </p:blipFill>
        <p:spPr>
          <a:xfrm>
            <a:off x="1337602" y="2347800"/>
            <a:ext cx="3850599" cy="2571750"/>
          </a:xfrm>
          <a:prstGeom prst="rect">
            <a:avLst/>
          </a:prstGeom>
          <a:noFill/>
          <a:ln>
            <a:noFill/>
          </a:ln>
        </p:spPr>
      </p:pic>
      <p:pic>
        <p:nvPicPr>
          <p:cNvPr id="263" name="Google Shape;263;p45"/>
          <p:cNvPicPr preferRelativeResize="0"/>
          <p:nvPr/>
        </p:nvPicPr>
        <p:blipFill>
          <a:blip r:embed="rId5">
            <a:alphaModFix/>
          </a:blip>
          <a:stretch>
            <a:fillRect/>
          </a:stretch>
        </p:blipFill>
        <p:spPr>
          <a:xfrm>
            <a:off x="5284250" y="4612425"/>
            <a:ext cx="1945136" cy="3071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Quadratic Probing[2]</a:t>
            </a:r>
            <a:endParaRPr/>
          </a:p>
        </p:txBody>
      </p:sp>
      <p:sp>
        <p:nvSpPr>
          <p:cNvPr id="269" name="Google Shape;269;p46"/>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2: for table size = 7, index from 0…6</a:t>
            </a:r>
            <a:endParaRPr/>
          </a:p>
          <a:p>
            <a:pPr indent="-342900" lvl="0" marL="457200" rtl="0" algn="l">
              <a:spcBef>
                <a:spcPts val="1200"/>
              </a:spcBef>
              <a:spcAft>
                <a:spcPts val="0"/>
              </a:spcAft>
              <a:buSzPts val="1800"/>
              <a:buChar char="●"/>
            </a:pPr>
            <a:r>
              <a:rPr lang="en"/>
              <a:t>Hash Function: h(x) = x mod 7</a:t>
            </a:r>
            <a:endParaRPr/>
          </a:p>
          <a:p>
            <a:pPr indent="-342900" lvl="0" marL="457200" rtl="0" algn="l">
              <a:spcBef>
                <a:spcPts val="0"/>
              </a:spcBef>
              <a:spcAft>
                <a:spcPts val="0"/>
              </a:spcAft>
              <a:buSzPts val="1800"/>
              <a:buChar char="●"/>
            </a:pPr>
            <a:r>
              <a:rPr lang="en"/>
              <a:t>Inserting keys: 76, 40, 48, 5, 55</a:t>
            </a:r>
            <a:endParaRPr/>
          </a:p>
          <a:p>
            <a:pPr indent="-342900" lvl="0" marL="457200" rtl="0" algn="l">
              <a:spcBef>
                <a:spcPts val="0"/>
              </a:spcBef>
              <a:spcAft>
                <a:spcPts val="0"/>
              </a:spcAft>
              <a:buSzPts val="1800"/>
              <a:buChar char="●"/>
            </a:pPr>
            <a:r>
              <a:rPr lang="en"/>
              <a:t>Insert Keys: 76, 93, 40, 35, 47</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Quadratic Probing[3]</a:t>
            </a:r>
            <a:endParaRPr/>
          </a:p>
        </p:txBody>
      </p:sp>
      <p:sp>
        <p:nvSpPr>
          <p:cNvPr id="275" name="Google Shape;275;p47"/>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387350" lvl="0" marL="457200" rtl="0" algn="l">
              <a:spcBef>
                <a:spcPts val="0"/>
              </a:spcBef>
              <a:spcAft>
                <a:spcPts val="0"/>
              </a:spcAft>
              <a:buSzPts val="2500"/>
              <a:buChar char="●"/>
            </a:pPr>
            <a:r>
              <a:rPr b="1" lang="en" sz="2500"/>
              <a:t>Advantages</a:t>
            </a:r>
            <a:endParaRPr b="1" sz="2500"/>
          </a:p>
          <a:p>
            <a:pPr indent="-361950" lvl="1" marL="914400" rtl="0" algn="l">
              <a:spcBef>
                <a:spcPts val="0"/>
              </a:spcBef>
              <a:spcAft>
                <a:spcPts val="0"/>
              </a:spcAft>
              <a:buSzPts val="2100"/>
              <a:buChar char="○"/>
            </a:pPr>
            <a:r>
              <a:rPr lang="en" sz="2100"/>
              <a:t>Quadratic probing is less likely to have the problem of primary clustering and is easier to implement than Double Hashing. </a:t>
            </a:r>
            <a:endParaRPr sz="2100"/>
          </a:p>
          <a:p>
            <a:pPr indent="-387350" lvl="0" marL="457200" rtl="0" algn="l">
              <a:spcBef>
                <a:spcPts val="0"/>
              </a:spcBef>
              <a:spcAft>
                <a:spcPts val="0"/>
              </a:spcAft>
              <a:buSzPts val="2500"/>
              <a:buChar char="●"/>
            </a:pPr>
            <a:r>
              <a:rPr b="1" lang="en" sz="2500"/>
              <a:t>Disadvantages</a:t>
            </a:r>
            <a:r>
              <a:rPr lang="en" sz="2500"/>
              <a:t> </a:t>
            </a:r>
            <a:endParaRPr sz="2500"/>
          </a:p>
          <a:p>
            <a:pPr indent="-361950" lvl="1" marL="914400" rtl="0" algn="l">
              <a:spcBef>
                <a:spcPts val="0"/>
              </a:spcBef>
              <a:spcAft>
                <a:spcPts val="0"/>
              </a:spcAft>
              <a:buSzPts val="2100"/>
              <a:buChar char="○"/>
            </a:pPr>
            <a:r>
              <a:rPr lang="en" sz="2100"/>
              <a:t>Quadratic probing has secondary clustering. This occurs when 2 keys hash to the same location, they have the same probe sequence. So, it may take many attempts before an insertion is being made. </a:t>
            </a:r>
            <a:endParaRPr sz="2100"/>
          </a:p>
          <a:p>
            <a:pPr indent="-361950" lvl="1" marL="914400" rtl="0" algn="l">
              <a:spcBef>
                <a:spcPts val="0"/>
              </a:spcBef>
              <a:spcAft>
                <a:spcPts val="0"/>
              </a:spcAft>
              <a:buSzPts val="2100"/>
              <a:buChar char="○"/>
            </a:pPr>
            <a:r>
              <a:rPr lang="en" sz="2100"/>
              <a:t>Also probe sequences do not probe all locations in the table. </a:t>
            </a:r>
            <a:endParaRPr sz="2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Double Hashing</a:t>
            </a:r>
            <a:endParaRPr/>
          </a:p>
        </p:txBody>
      </p:sp>
      <p:sp>
        <p:nvSpPr>
          <p:cNvPr id="281" name="Google Shape;281;p48"/>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For double hashing, one popular choice is f(i) -= i * hash</a:t>
            </a:r>
            <a:r>
              <a:rPr baseline="-25000" lang="en" sz="2100"/>
              <a:t>2</a:t>
            </a:r>
            <a:r>
              <a:rPr lang="en" sz="2100"/>
              <a:t>(x). </a:t>
            </a:r>
            <a:endParaRPr sz="2100"/>
          </a:p>
          <a:p>
            <a:pPr indent="-361950" lvl="0" marL="457200" rtl="0" algn="l">
              <a:spcBef>
                <a:spcPts val="0"/>
              </a:spcBef>
              <a:spcAft>
                <a:spcPts val="0"/>
              </a:spcAft>
              <a:buSzPts val="2100"/>
              <a:buChar char="●"/>
            </a:pPr>
            <a:r>
              <a:rPr lang="en" sz="2100"/>
              <a:t>This formula says that we apply a second hash function to x and probe at a distance hash</a:t>
            </a:r>
            <a:r>
              <a:rPr baseline="-25000" lang="en" sz="2100"/>
              <a:t>2</a:t>
            </a:r>
            <a:r>
              <a:rPr lang="en" sz="2100"/>
              <a:t>(x), 2hash</a:t>
            </a:r>
            <a:r>
              <a:rPr baseline="-25000" lang="en" sz="2100"/>
              <a:t>2</a:t>
            </a:r>
            <a:r>
              <a:rPr lang="en" sz="2100"/>
              <a:t>(x), 3hash</a:t>
            </a:r>
            <a:r>
              <a:rPr baseline="-25000" lang="en" sz="2100"/>
              <a:t>2</a:t>
            </a:r>
            <a:r>
              <a:rPr lang="en" sz="2100"/>
              <a:t>(x), ..., and so on. </a:t>
            </a:r>
            <a:endParaRPr sz="2100"/>
          </a:p>
          <a:p>
            <a:pPr indent="-361950" lvl="0" marL="457200" rtl="0" algn="l">
              <a:spcBef>
                <a:spcPts val="0"/>
              </a:spcBef>
              <a:spcAft>
                <a:spcPts val="0"/>
              </a:spcAft>
              <a:buSzPts val="2100"/>
              <a:buChar char="●"/>
            </a:pPr>
            <a:r>
              <a:rPr lang="en" sz="2100"/>
              <a:t>The choice of hash</a:t>
            </a:r>
            <a:r>
              <a:rPr baseline="-25000" lang="en" sz="2100"/>
              <a:t>2</a:t>
            </a:r>
            <a:r>
              <a:rPr lang="en" sz="2100"/>
              <a:t>(x) is essential. </a:t>
            </a:r>
            <a:endParaRPr sz="2100"/>
          </a:p>
          <a:p>
            <a:pPr indent="-336550" lvl="1" marL="914400" rtl="0" algn="l">
              <a:spcBef>
                <a:spcPts val="0"/>
              </a:spcBef>
              <a:spcAft>
                <a:spcPts val="0"/>
              </a:spcAft>
              <a:buSzPts val="1700"/>
              <a:buChar char="○"/>
            </a:pPr>
            <a:r>
              <a:rPr lang="en" sz="1700"/>
              <a:t>The function must never evaluate to zero. </a:t>
            </a:r>
            <a:endParaRPr sz="1700"/>
          </a:p>
          <a:p>
            <a:pPr indent="-336550" lvl="1" marL="914400" rtl="0" algn="l">
              <a:spcBef>
                <a:spcPts val="0"/>
              </a:spcBef>
              <a:spcAft>
                <a:spcPts val="0"/>
              </a:spcAft>
              <a:buSzPts val="1700"/>
              <a:buChar char="○"/>
            </a:pPr>
            <a:r>
              <a:rPr lang="en" sz="1700"/>
              <a:t>It is important to make sure all cells can be probed. </a:t>
            </a:r>
            <a:endParaRPr sz="1700"/>
          </a:p>
          <a:p>
            <a:pPr indent="-336550" lvl="1" marL="914400" rtl="0" algn="l">
              <a:spcBef>
                <a:spcPts val="0"/>
              </a:spcBef>
              <a:spcAft>
                <a:spcPts val="0"/>
              </a:spcAft>
              <a:buSzPts val="1700"/>
              <a:buChar char="○"/>
            </a:pPr>
            <a:r>
              <a:rPr lang="en" sz="1700"/>
              <a:t>A function such as hash</a:t>
            </a:r>
            <a:r>
              <a:rPr baseline="-25000" lang="en" sz="1700"/>
              <a:t>2</a:t>
            </a:r>
            <a:r>
              <a:rPr lang="en" sz="1700"/>
              <a:t>(x) = R — (x mod R), with R a prime, smaller than Table Size. </a:t>
            </a:r>
            <a:endParaRPr sz="1700"/>
          </a:p>
          <a:p>
            <a:pPr indent="-336550" lvl="1" marL="914400" rtl="0" algn="l">
              <a:spcBef>
                <a:spcPts val="0"/>
              </a:spcBef>
              <a:spcAft>
                <a:spcPts val="0"/>
              </a:spcAft>
              <a:buSzPts val="1700"/>
              <a:buChar char="○"/>
            </a:pPr>
            <a:r>
              <a:rPr lang="en" sz="1700"/>
              <a:t>Table Size need to be prime. </a:t>
            </a:r>
            <a:endParaRPr sz="1700"/>
          </a:p>
          <a:p>
            <a:pPr indent="-336550" lvl="1" marL="914400" rtl="0" algn="l">
              <a:spcBef>
                <a:spcPts val="0"/>
              </a:spcBef>
              <a:spcAft>
                <a:spcPts val="0"/>
              </a:spcAft>
              <a:buSzPts val="1700"/>
              <a:buChar char="○"/>
            </a:pPr>
            <a:r>
              <a:rPr lang="en" sz="1700"/>
              <a:t>The cost of double hashing is determined by the use of a second hash function.</a:t>
            </a:r>
            <a:endParaRPr sz="17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Double Hashing[2]</a:t>
            </a:r>
            <a:endParaRPr/>
          </a:p>
        </p:txBody>
      </p:sp>
      <p:sp>
        <p:nvSpPr>
          <p:cNvPr id="287" name="Google Shape;287;p49"/>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Ex: Table size = 10, hash(x) = x mod 10</a:t>
            </a:r>
            <a:endParaRPr sz="2100"/>
          </a:p>
          <a:p>
            <a:pPr indent="0" lvl="0" marL="0" rtl="0" algn="l">
              <a:spcBef>
                <a:spcPts val="1200"/>
              </a:spcBef>
              <a:spcAft>
                <a:spcPts val="0"/>
              </a:spcAft>
              <a:buNone/>
            </a:pPr>
            <a:r>
              <a:rPr lang="en" sz="2100"/>
              <a:t>Insert keys: 89, 18, 49, 58, 69</a:t>
            </a:r>
            <a:endParaRPr sz="2100"/>
          </a:p>
          <a:p>
            <a:pPr indent="0" lvl="0" marL="0" rtl="0" algn="l">
              <a:spcBef>
                <a:spcPts val="1200"/>
              </a:spcBef>
              <a:spcAft>
                <a:spcPts val="1200"/>
              </a:spcAft>
              <a:buNone/>
            </a:pPr>
            <a:r>
              <a:t/>
            </a:r>
            <a:endParaRPr sz="2100"/>
          </a:p>
        </p:txBody>
      </p:sp>
      <p:pic>
        <p:nvPicPr>
          <p:cNvPr id="288" name="Google Shape;288;p49"/>
          <p:cNvPicPr preferRelativeResize="0"/>
          <p:nvPr/>
        </p:nvPicPr>
        <p:blipFill>
          <a:blip r:embed="rId3">
            <a:alphaModFix/>
          </a:blip>
          <a:stretch>
            <a:fillRect/>
          </a:stretch>
        </p:blipFill>
        <p:spPr>
          <a:xfrm>
            <a:off x="311700" y="2181025"/>
            <a:ext cx="5638800" cy="1714500"/>
          </a:xfrm>
          <a:prstGeom prst="rect">
            <a:avLst/>
          </a:prstGeom>
          <a:noFill/>
          <a:ln>
            <a:noFill/>
          </a:ln>
        </p:spPr>
      </p:pic>
      <p:pic>
        <p:nvPicPr>
          <p:cNvPr id="289" name="Google Shape;289;p49"/>
          <p:cNvPicPr preferRelativeResize="0"/>
          <p:nvPr/>
        </p:nvPicPr>
        <p:blipFill>
          <a:blip r:embed="rId4">
            <a:alphaModFix/>
          </a:blip>
          <a:stretch>
            <a:fillRect/>
          </a:stretch>
        </p:blipFill>
        <p:spPr>
          <a:xfrm>
            <a:off x="7348425" y="1329325"/>
            <a:ext cx="1619250" cy="3581400"/>
          </a:xfrm>
          <a:prstGeom prst="rect">
            <a:avLst/>
          </a:prstGeom>
          <a:noFill/>
          <a:ln>
            <a:noFill/>
          </a:ln>
        </p:spPr>
      </p:pic>
      <p:pic>
        <p:nvPicPr>
          <p:cNvPr id="290" name="Google Shape;290;p49"/>
          <p:cNvPicPr preferRelativeResize="0"/>
          <p:nvPr/>
        </p:nvPicPr>
        <p:blipFill>
          <a:blip r:embed="rId5">
            <a:alphaModFix/>
          </a:blip>
          <a:stretch>
            <a:fillRect/>
          </a:stretch>
        </p:blipFill>
        <p:spPr>
          <a:xfrm>
            <a:off x="628525" y="3895525"/>
            <a:ext cx="4349450" cy="3227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Double Hashing[3]</a:t>
            </a:r>
            <a:endParaRPr/>
          </a:p>
        </p:txBody>
      </p:sp>
      <p:sp>
        <p:nvSpPr>
          <p:cNvPr id="296" name="Google Shape;296;p50"/>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Ex: Table size = 10, hash(x) = x mod 10</a:t>
            </a:r>
            <a:endParaRPr sz="2100"/>
          </a:p>
          <a:p>
            <a:pPr indent="0" lvl="0" marL="0" rtl="0" algn="l">
              <a:spcBef>
                <a:spcPts val="1200"/>
              </a:spcBef>
              <a:spcAft>
                <a:spcPts val="0"/>
              </a:spcAft>
              <a:buNone/>
            </a:pPr>
            <a:r>
              <a:rPr lang="en" sz="2100"/>
              <a:t>Insert keys: 89, 18, 49, 58, 69</a:t>
            </a:r>
            <a:endParaRPr sz="2100"/>
          </a:p>
          <a:p>
            <a:pPr indent="0" lvl="0" marL="0" rtl="0" algn="l">
              <a:spcBef>
                <a:spcPts val="1200"/>
              </a:spcBef>
              <a:spcAft>
                <a:spcPts val="1200"/>
              </a:spcAft>
              <a:buNone/>
            </a:pPr>
            <a:r>
              <a:t/>
            </a:r>
            <a:endParaRPr sz="2100"/>
          </a:p>
        </p:txBody>
      </p:sp>
      <p:pic>
        <p:nvPicPr>
          <p:cNvPr id="297" name="Google Shape;297;p50"/>
          <p:cNvPicPr preferRelativeResize="0"/>
          <p:nvPr/>
        </p:nvPicPr>
        <p:blipFill>
          <a:blip r:embed="rId3">
            <a:alphaModFix/>
          </a:blip>
          <a:stretch>
            <a:fillRect/>
          </a:stretch>
        </p:blipFill>
        <p:spPr>
          <a:xfrm>
            <a:off x="7348425" y="1329325"/>
            <a:ext cx="1619250" cy="3581400"/>
          </a:xfrm>
          <a:prstGeom prst="rect">
            <a:avLst/>
          </a:prstGeom>
          <a:noFill/>
          <a:ln>
            <a:noFill/>
          </a:ln>
        </p:spPr>
      </p:pic>
      <p:pic>
        <p:nvPicPr>
          <p:cNvPr id="298" name="Google Shape;298;p50"/>
          <p:cNvPicPr preferRelativeResize="0"/>
          <p:nvPr/>
        </p:nvPicPr>
        <p:blipFill>
          <a:blip r:embed="rId4">
            <a:alphaModFix/>
          </a:blip>
          <a:stretch>
            <a:fillRect/>
          </a:stretch>
        </p:blipFill>
        <p:spPr>
          <a:xfrm>
            <a:off x="129275" y="2514164"/>
            <a:ext cx="7219151" cy="259823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Double Hashing[4]</a:t>
            </a:r>
            <a:endParaRPr/>
          </a:p>
        </p:txBody>
      </p:sp>
      <p:sp>
        <p:nvSpPr>
          <p:cNvPr id="304" name="Google Shape;304;p51"/>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100"/>
              <a:t>Ex: Table size = 7, hash(x) = x mod 7</a:t>
            </a:r>
            <a:endParaRPr sz="2100"/>
          </a:p>
          <a:p>
            <a:pPr indent="0" lvl="0" marL="0" rtl="0" algn="l">
              <a:spcBef>
                <a:spcPts val="1200"/>
              </a:spcBef>
              <a:spcAft>
                <a:spcPts val="0"/>
              </a:spcAft>
              <a:buNone/>
            </a:pPr>
            <a:r>
              <a:rPr lang="en" sz="2100"/>
              <a:t>Insert keys: 76, 93, 40, 47, 10, 55</a:t>
            </a:r>
            <a:endParaRPr sz="2100"/>
          </a:p>
          <a:p>
            <a:pPr indent="0" lvl="0" marL="0" rtl="0" algn="l">
              <a:spcBef>
                <a:spcPts val="1200"/>
              </a:spcBef>
              <a:spcAft>
                <a:spcPts val="1200"/>
              </a:spcAft>
              <a:buNone/>
            </a:pPr>
            <a:r>
              <a:t/>
            </a:r>
            <a:endParaRPr sz="21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Collision Resolution Techniques =&gt; Double Hashing[5]</a:t>
            </a:r>
            <a:endParaRPr/>
          </a:p>
        </p:txBody>
      </p:sp>
      <p:sp>
        <p:nvSpPr>
          <p:cNvPr id="310" name="Google Shape;310;p52"/>
          <p:cNvSpPr txBox="1"/>
          <p:nvPr>
            <p:ph idx="1" type="body"/>
          </p:nvPr>
        </p:nvSpPr>
        <p:spPr>
          <a:xfrm>
            <a:off x="311700" y="1152475"/>
            <a:ext cx="8520600" cy="393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100" u="sng"/>
              <a:t>Advantages</a:t>
            </a:r>
            <a:endParaRPr b="1" sz="2100" u="sng"/>
          </a:p>
          <a:p>
            <a:pPr indent="-361950" lvl="0" marL="457200" rtl="0" algn="l">
              <a:spcBef>
                <a:spcPts val="1200"/>
              </a:spcBef>
              <a:spcAft>
                <a:spcPts val="0"/>
              </a:spcAft>
              <a:buSzPts val="2100"/>
              <a:buChar char="●"/>
            </a:pPr>
            <a:r>
              <a:rPr lang="en" sz="2100"/>
              <a:t>It drastically reduces clustering</a:t>
            </a:r>
            <a:endParaRPr sz="2100"/>
          </a:p>
          <a:p>
            <a:pPr indent="-361950" lvl="0" marL="457200" rtl="0" algn="l">
              <a:spcBef>
                <a:spcPts val="0"/>
              </a:spcBef>
              <a:spcAft>
                <a:spcPts val="0"/>
              </a:spcAft>
              <a:buSzPts val="2100"/>
              <a:buChar char="●"/>
            </a:pPr>
            <a:r>
              <a:rPr lang="en" sz="2100"/>
              <a:t>Requires fewer comparisons</a:t>
            </a:r>
            <a:endParaRPr sz="2100"/>
          </a:p>
          <a:p>
            <a:pPr indent="-361950" lvl="0" marL="457200" rtl="0" algn="l">
              <a:spcBef>
                <a:spcPts val="0"/>
              </a:spcBef>
              <a:spcAft>
                <a:spcPts val="0"/>
              </a:spcAft>
              <a:buSzPts val="2100"/>
              <a:buChar char="●"/>
            </a:pPr>
            <a:r>
              <a:rPr lang="en" sz="2100"/>
              <a:t>Smaller hash tables can be used.</a:t>
            </a:r>
            <a:endParaRPr sz="2100"/>
          </a:p>
          <a:p>
            <a:pPr indent="0" lvl="0" marL="0" rtl="0" algn="l">
              <a:spcBef>
                <a:spcPts val="1200"/>
              </a:spcBef>
              <a:spcAft>
                <a:spcPts val="0"/>
              </a:spcAft>
              <a:buNone/>
            </a:pPr>
            <a:r>
              <a:t/>
            </a:r>
            <a:endParaRPr sz="2100"/>
          </a:p>
          <a:p>
            <a:pPr indent="0" lvl="0" marL="0" rtl="0" algn="l">
              <a:spcBef>
                <a:spcPts val="1200"/>
              </a:spcBef>
              <a:spcAft>
                <a:spcPts val="0"/>
              </a:spcAft>
              <a:buNone/>
            </a:pPr>
            <a:r>
              <a:rPr b="1" lang="en" sz="2100"/>
              <a:t>Disadvantages</a:t>
            </a:r>
            <a:endParaRPr b="1" sz="2100"/>
          </a:p>
          <a:p>
            <a:pPr indent="-361950" lvl="0" marL="457200" rtl="0" algn="l">
              <a:spcBef>
                <a:spcPts val="1200"/>
              </a:spcBef>
              <a:spcAft>
                <a:spcPts val="0"/>
              </a:spcAft>
              <a:buSzPts val="2100"/>
              <a:buChar char="●"/>
            </a:pPr>
            <a:r>
              <a:rPr lang="en" sz="2100"/>
              <a:t>Performance starts degrading as the table fills up.</a:t>
            </a:r>
            <a:endParaRPr sz="2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Rehashing</a:t>
            </a:r>
            <a:endParaRPr/>
          </a:p>
        </p:txBody>
      </p:sp>
      <p:sp>
        <p:nvSpPr>
          <p:cNvPr id="316" name="Google Shape;316;p5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Rehashing is a technique in which the table is resized, i.e., the size of table is doubled by creating a new table. </a:t>
            </a:r>
            <a:endParaRPr sz="2200"/>
          </a:p>
          <a:p>
            <a:pPr indent="-368300" lvl="0" marL="457200" rtl="0" algn="l">
              <a:spcBef>
                <a:spcPts val="0"/>
              </a:spcBef>
              <a:spcAft>
                <a:spcPts val="0"/>
              </a:spcAft>
              <a:buSzPts val="2200"/>
              <a:buChar char="●"/>
            </a:pPr>
            <a:r>
              <a:rPr lang="en" sz="2200"/>
              <a:t>While increasing the size, it is preferable that the total size of table is a prime number. </a:t>
            </a:r>
            <a:endParaRPr sz="2200"/>
          </a:p>
          <a:p>
            <a:pPr indent="-368300" lvl="0" marL="457200" rtl="0" algn="l">
              <a:spcBef>
                <a:spcPts val="0"/>
              </a:spcBef>
              <a:spcAft>
                <a:spcPts val="0"/>
              </a:spcAft>
              <a:buSzPts val="2200"/>
              <a:buChar char="●"/>
            </a:pPr>
            <a:r>
              <a:rPr lang="en" sz="2200"/>
              <a:t>Some situations in which the rehashing is required:</a:t>
            </a:r>
            <a:endParaRPr sz="2200"/>
          </a:p>
          <a:p>
            <a:pPr indent="-342900" lvl="1" marL="914400" rtl="0" algn="l">
              <a:spcBef>
                <a:spcPts val="0"/>
              </a:spcBef>
              <a:spcAft>
                <a:spcPts val="0"/>
              </a:spcAft>
              <a:buSzPts val="1800"/>
              <a:buChar char="○"/>
            </a:pPr>
            <a:r>
              <a:rPr lang="en" sz="1800"/>
              <a:t>When table is completely full </a:t>
            </a:r>
            <a:endParaRPr sz="1800"/>
          </a:p>
          <a:p>
            <a:pPr indent="-342900" lvl="1" marL="914400" rtl="0" algn="l">
              <a:spcBef>
                <a:spcPts val="0"/>
              </a:spcBef>
              <a:spcAft>
                <a:spcPts val="0"/>
              </a:spcAft>
              <a:buSzPts val="1800"/>
              <a:buChar char="○"/>
            </a:pPr>
            <a:r>
              <a:rPr lang="en" sz="1800"/>
              <a:t>With quadratic probing when the table is filled half. </a:t>
            </a:r>
            <a:endParaRPr sz="1800"/>
          </a:p>
          <a:p>
            <a:pPr indent="-342900" lvl="1" marL="914400" rtl="0" algn="l">
              <a:spcBef>
                <a:spcPts val="0"/>
              </a:spcBef>
              <a:spcAft>
                <a:spcPts val="0"/>
              </a:spcAft>
              <a:buSzPts val="1800"/>
              <a:buChar char="○"/>
            </a:pPr>
            <a:r>
              <a:rPr lang="en" sz="1800"/>
              <a:t>When insertions fail due to overflow </a:t>
            </a:r>
            <a:endParaRPr sz="1800"/>
          </a:p>
          <a:p>
            <a:pPr indent="-368300" lvl="0" marL="457200" rtl="0" algn="l">
              <a:spcBef>
                <a:spcPts val="0"/>
              </a:spcBef>
              <a:spcAft>
                <a:spcPts val="0"/>
              </a:spcAft>
              <a:buSzPts val="2200"/>
              <a:buChar char="●"/>
            </a:pPr>
            <a:r>
              <a:rPr lang="en" sz="2200"/>
              <a:t>In such situations, we have to transfer entries from old table to the new table by re computing their positions using hash functions. </a:t>
            </a:r>
            <a:endParaRPr sz="22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Rehashing[2]</a:t>
            </a:r>
            <a:endParaRPr/>
          </a:p>
        </p:txBody>
      </p:sp>
      <p:sp>
        <p:nvSpPr>
          <p:cNvPr id="322" name="Google Shape;322;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lnSpc>
                <a:spcPct val="95000"/>
              </a:lnSpc>
              <a:spcBef>
                <a:spcPts val="0"/>
              </a:spcBef>
              <a:spcAft>
                <a:spcPts val="0"/>
              </a:spcAft>
              <a:buSzPts val="2000"/>
              <a:buChar char="●"/>
            </a:pPr>
            <a:r>
              <a:rPr lang="en" sz="2000"/>
              <a:t>In such situations, we have to transfer entries from old table to the new table by re computing their positions using hash functions. </a:t>
            </a:r>
            <a:endParaRPr sz="2000"/>
          </a:p>
          <a:p>
            <a:pPr indent="-355600" lvl="0" marL="457200" rtl="0" algn="l">
              <a:lnSpc>
                <a:spcPct val="95000"/>
              </a:lnSpc>
              <a:spcBef>
                <a:spcPts val="0"/>
              </a:spcBef>
              <a:spcAft>
                <a:spcPts val="0"/>
              </a:spcAft>
              <a:buSzPts val="2000"/>
              <a:buChar char="●"/>
            </a:pPr>
            <a:r>
              <a:rPr lang="en" sz="2000"/>
              <a:t>Example: Compute the hash for keys (37,90,55,22,17,49) with table size 10.</a:t>
            </a:r>
            <a:endParaRPr sz="2000"/>
          </a:p>
          <a:p>
            <a:pPr indent="-330200" lvl="1" marL="914400" rtl="0" algn="l">
              <a:lnSpc>
                <a:spcPct val="95000"/>
              </a:lnSpc>
              <a:spcBef>
                <a:spcPts val="0"/>
              </a:spcBef>
              <a:spcAft>
                <a:spcPts val="0"/>
              </a:spcAft>
              <a:buSzPts val="1600"/>
              <a:buChar char="○"/>
            </a:pPr>
            <a:r>
              <a:rPr lang="en" sz="1600"/>
              <a:t>Here, H(key) = key mod tablesize </a:t>
            </a:r>
            <a:endParaRPr sz="1600"/>
          </a:p>
          <a:p>
            <a:pPr indent="-330200" lvl="1" marL="914400" rtl="0" algn="l">
              <a:lnSpc>
                <a:spcPct val="95000"/>
              </a:lnSpc>
              <a:spcBef>
                <a:spcPts val="0"/>
              </a:spcBef>
              <a:spcAft>
                <a:spcPts val="0"/>
              </a:spcAft>
              <a:buSzPts val="1600"/>
              <a:buChar char="○"/>
            </a:pPr>
            <a:r>
              <a:rPr lang="en" sz="1600"/>
              <a:t>37 % 10 = 7 </a:t>
            </a:r>
            <a:endParaRPr sz="1600"/>
          </a:p>
          <a:p>
            <a:pPr indent="-330200" lvl="1" marL="914400" rtl="0" algn="l">
              <a:lnSpc>
                <a:spcPct val="95000"/>
              </a:lnSpc>
              <a:spcBef>
                <a:spcPts val="0"/>
              </a:spcBef>
              <a:spcAft>
                <a:spcPts val="0"/>
              </a:spcAft>
              <a:buSzPts val="1600"/>
              <a:buChar char="○"/>
            </a:pPr>
            <a:r>
              <a:rPr lang="en" sz="1600"/>
              <a:t>90% 10=0 </a:t>
            </a:r>
            <a:endParaRPr sz="1600"/>
          </a:p>
          <a:p>
            <a:pPr indent="-330200" lvl="1" marL="914400" rtl="0" algn="l">
              <a:lnSpc>
                <a:spcPct val="95000"/>
              </a:lnSpc>
              <a:spcBef>
                <a:spcPts val="0"/>
              </a:spcBef>
              <a:spcAft>
                <a:spcPts val="0"/>
              </a:spcAft>
              <a:buSzPts val="1600"/>
              <a:buChar char="○"/>
            </a:pPr>
            <a:r>
              <a:rPr lang="en" sz="1600"/>
              <a:t>55 % 10 = 5</a:t>
            </a:r>
            <a:endParaRPr sz="1600"/>
          </a:p>
          <a:p>
            <a:pPr indent="-330200" lvl="1" marL="914400" rtl="0" algn="l">
              <a:lnSpc>
                <a:spcPct val="95000"/>
              </a:lnSpc>
              <a:spcBef>
                <a:spcPts val="0"/>
              </a:spcBef>
              <a:spcAft>
                <a:spcPts val="0"/>
              </a:spcAft>
              <a:buSzPts val="1600"/>
              <a:buChar char="○"/>
            </a:pPr>
            <a:r>
              <a:rPr lang="en" sz="1600"/>
              <a:t>22% 10 = 2 </a:t>
            </a:r>
            <a:endParaRPr sz="1600"/>
          </a:p>
          <a:p>
            <a:pPr indent="-330200" lvl="1" marL="914400" rtl="0" algn="l">
              <a:lnSpc>
                <a:spcPct val="95000"/>
              </a:lnSpc>
              <a:spcBef>
                <a:spcPts val="0"/>
              </a:spcBef>
              <a:spcAft>
                <a:spcPts val="0"/>
              </a:spcAft>
              <a:buSzPts val="1600"/>
              <a:buChar char="○"/>
            </a:pPr>
            <a:r>
              <a:rPr lang="en" sz="1600"/>
              <a:t>17 % 10 = 7 Collision solved by linear probing </a:t>
            </a:r>
            <a:endParaRPr sz="1600"/>
          </a:p>
          <a:p>
            <a:pPr indent="-330200" lvl="1" marL="914400" rtl="0" algn="l">
              <a:lnSpc>
                <a:spcPct val="95000"/>
              </a:lnSpc>
              <a:spcBef>
                <a:spcPts val="0"/>
              </a:spcBef>
              <a:spcAft>
                <a:spcPts val="0"/>
              </a:spcAft>
              <a:buSzPts val="1600"/>
              <a:buChar char="○"/>
            </a:pPr>
            <a:r>
              <a:rPr lang="en" sz="1600"/>
              <a:t>49% 10 = 9 </a:t>
            </a:r>
            <a:endParaRPr sz="1600"/>
          </a:p>
          <a:p>
            <a:pPr indent="-330200" lvl="1" marL="914400" rtl="0" algn="l">
              <a:lnSpc>
                <a:spcPct val="95000"/>
              </a:lnSpc>
              <a:spcBef>
                <a:spcPts val="0"/>
              </a:spcBef>
              <a:spcAft>
                <a:spcPts val="0"/>
              </a:spcAft>
              <a:buSzPts val="1600"/>
              <a:buChar char="○"/>
            </a:pPr>
            <a:r>
              <a:rPr lang="en" sz="1600"/>
              <a:t>Now this table is almost full and if we try to insert more elements collisions will occur and eventually further insertions will fail. Hence we will rehash by doubling the table size. The old table size is 10 then we should double this size for new table, that becomes 20. But 20 is not a prime number, we will prefer to make the table size as 23. </a:t>
            </a:r>
            <a:endParaRPr sz="16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Rehashing[3]</a:t>
            </a:r>
            <a:endParaRPr/>
          </a:p>
        </p:txBody>
      </p:sp>
      <p:sp>
        <p:nvSpPr>
          <p:cNvPr id="328" name="Google Shape;328;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lnSpc>
                <a:spcPct val="95000"/>
              </a:lnSpc>
              <a:spcBef>
                <a:spcPts val="0"/>
              </a:spcBef>
              <a:spcAft>
                <a:spcPts val="0"/>
              </a:spcAft>
              <a:buSzPts val="2000"/>
              <a:buChar char="●"/>
            </a:pPr>
            <a:r>
              <a:rPr lang="en" sz="2000"/>
              <a:t>Now the new hash function will be:</a:t>
            </a:r>
            <a:endParaRPr sz="2000"/>
          </a:p>
          <a:p>
            <a:pPr indent="-355600" lvl="0" marL="457200" rtl="0" algn="l">
              <a:lnSpc>
                <a:spcPct val="95000"/>
              </a:lnSpc>
              <a:spcBef>
                <a:spcPts val="0"/>
              </a:spcBef>
              <a:spcAft>
                <a:spcPts val="0"/>
              </a:spcAft>
              <a:buSzPts val="2000"/>
              <a:buChar char="●"/>
            </a:pPr>
            <a:r>
              <a:rPr lang="en" sz="2000"/>
              <a:t>h(key) = key mod 23</a:t>
            </a:r>
            <a:endParaRPr sz="2000"/>
          </a:p>
          <a:p>
            <a:pPr indent="0" lvl="0" marL="0" rtl="0" algn="l">
              <a:lnSpc>
                <a:spcPct val="95000"/>
              </a:lnSpc>
              <a:spcBef>
                <a:spcPts val="1200"/>
              </a:spcBef>
              <a:spcAft>
                <a:spcPts val="0"/>
              </a:spcAft>
              <a:buNone/>
            </a:pPr>
            <a:r>
              <a:t/>
            </a:r>
            <a:endParaRPr sz="2000"/>
          </a:p>
          <a:p>
            <a:pPr indent="0" lvl="0" marL="0" rtl="0" algn="l">
              <a:lnSpc>
                <a:spcPct val="95000"/>
              </a:lnSpc>
              <a:spcBef>
                <a:spcPts val="1200"/>
              </a:spcBef>
              <a:spcAft>
                <a:spcPts val="0"/>
              </a:spcAft>
              <a:buNone/>
            </a:pPr>
            <a:r>
              <a:t/>
            </a:r>
            <a:endParaRPr sz="2000"/>
          </a:p>
          <a:p>
            <a:pPr indent="-355600" lvl="0" marL="457200" rtl="0" algn="l">
              <a:lnSpc>
                <a:spcPct val="95000"/>
              </a:lnSpc>
              <a:spcBef>
                <a:spcPts val="1200"/>
              </a:spcBef>
              <a:spcAft>
                <a:spcPts val="0"/>
              </a:spcAft>
              <a:buSzPts val="2000"/>
              <a:buChar char="●"/>
            </a:pPr>
            <a:r>
              <a:rPr lang="en" sz="2000"/>
              <a:t>As seen, now the hash table is sufficiently large to </a:t>
            </a:r>
            <a:r>
              <a:rPr lang="en" sz="2000"/>
              <a:t>accommodate</a:t>
            </a:r>
            <a:r>
              <a:rPr lang="en" sz="2000"/>
              <a:t> new insertions.</a:t>
            </a:r>
            <a:endParaRPr sz="2000"/>
          </a:p>
          <a:p>
            <a:pPr indent="0" lvl="0" marL="0" rtl="0" algn="l">
              <a:lnSpc>
                <a:spcPct val="95000"/>
              </a:lnSpc>
              <a:spcBef>
                <a:spcPts val="1200"/>
              </a:spcBef>
              <a:spcAft>
                <a:spcPts val="0"/>
              </a:spcAft>
              <a:buNone/>
            </a:pPr>
            <a:r>
              <a:rPr b="1" lang="en" sz="2000" u="sng"/>
              <a:t>Advantages</a:t>
            </a:r>
            <a:endParaRPr b="1" sz="2000" u="sng"/>
          </a:p>
          <a:p>
            <a:pPr indent="-355600" lvl="0" marL="457200" rtl="0" algn="l">
              <a:lnSpc>
                <a:spcPct val="95000"/>
              </a:lnSpc>
              <a:spcBef>
                <a:spcPts val="1200"/>
              </a:spcBef>
              <a:spcAft>
                <a:spcPts val="0"/>
              </a:spcAft>
              <a:buSzPts val="2000"/>
              <a:buAutoNum type="arabicPeriod"/>
            </a:pPr>
            <a:r>
              <a:rPr lang="en" sz="2000"/>
              <a:t>This technique provides the programmer with a flexibility to enlarge the table size if required.</a:t>
            </a:r>
            <a:endParaRPr sz="2000"/>
          </a:p>
          <a:p>
            <a:pPr indent="-355600" lvl="0" marL="457200" rtl="0" algn="l">
              <a:lnSpc>
                <a:spcPct val="95000"/>
              </a:lnSpc>
              <a:spcBef>
                <a:spcPts val="0"/>
              </a:spcBef>
              <a:spcAft>
                <a:spcPts val="0"/>
              </a:spcAft>
              <a:buSzPts val="2000"/>
              <a:buAutoNum type="arabicPeriod"/>
            </a:pPr>
            <a:r>
              <a:rPr lang="en" sz="2000"/>
              <a:t>Only the space gets doubled with simple hash function which will avoid the </a:t>
            </a:r>
            <a:r>
              <a:rPr lang="en" sz="2000"/>
              <a:t>occurrence</a:t>
            </a:r>
            <a:r>
              <a:rPr lang="en" sz="2000"/>
              <a:t> of collisions.</a:t>
            </a:r>
            <a:endParaRPr sz="2000"/>
          </a:p>
        </p:txBody>
      </p:sp>
      <p:pic>
        <p:nvPicPr>
          <p:cNvPr id="329" name="Google Shape;329;p55"/>
          <p:cNvPicPr preferRelativeResize="0"/>
          <p:nvPr/>
        </p:nvPicPr>
        <p:blipFill>
          <a:blip r:embed="rId3">
            <a:alphaModFix/>
          </a:blip>
          <a:stretch>
            <a:fillRect/>
          </a:stretch>
        </p:blipFill>
        <p:spPr>
          <a:xfrm>
            <a:off x="6189175" y="1229725"/>
            <a:ext cx="2236175" cy="15911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Applications of Hashing</a:t>
            </a:r>
            <a:endParaRPr/>
          </a:p>
        </p:txBody>
      </p:sp>
      <p:sp>
        <p:nvSpPr>
          <p:cNvPr id="335" name="Google Shape;335;p5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61950" lvl="0" marL="457200" rtl="0" algn="l">
              <a:spcBef>
                <a:spcPts val="0"/>
              </a:spcBef>
              <a:spcAft>
                <a:spcPts val="0"/>
              </a:spcAft>
              <a:buSzPts val="2100"/>
              <a:buChar char="●"/>
            </a:pPr>
            <a:r>
              <a:rPr lang="en" sz="2100"/>
              <a:t>In compilers to keep track of declared variables. </a:t>
            </a:r>
            <a:endParaRPr sz="2100"/>
          </a:p>
          <a:p>
            <a:pPr indent="-361950" lvl="0" marL="457200" rtl="0" algn="l">
              <a:spcBef>
                <a:spcPts val="0"/>
              </a:spcBef>
              <a:spcAft>
                <a:spcPts val="0"/>
              </a:spcAft>
              <a:buSzPts val="2100"/>
              <a:buChar char="●"/>
            </a:pPr>
            <a:r>
              <a:rPr lang="en" sz="2100"/>
              <a:t>For online spelling checking, the hashing functions are used. </a:t>
            </a:r>
            <a:endParaRPr sz="2100"/>
          </a:p>
          <a:p>
            <a:pPr indent="-361950" lvl="0" marL="457200" rtl="0" algn="l">
              <a:spcBef>
                <a:spcPts val="0"/>
              </a:spcBef>
              <a:spcAft>
                <a:spcPts val="0"/>
              </a:spcAft>
              <a:buSzPts val="2100"/>
              <a:buChar char="●"/>
            </a:pPr>
            <a:r>
              <a:rPr lang="en" sz="2100"/>
              <a:t>Hashing helps in Game playing programs to store the moves made. </a:t>
            </a:r>
            <a:endParaRPr sz="2100"/>
          </a:p>
          <a:p>
            <a:pPr indent="-361950" lvl="0" marL="457200" rtl="0" algn="l">
              <a:spcBef>
                <a:spcPts val="0"/>
              </a:spcBef>
              <a:spcAft>
                <a:spcPts val="0"/>
              </a:spcAft>
              <a:buSzPts val="2100"/>
              <a:buChar char="●"/>
            </a:pPr>
            <a:r>
              <a:rPr lang="en" sz="2100"/>
              <a:t>For browser program while caching the web pages, hashing is used. </a:t>
            </a:r>
            <a:endParaRPr sz="2100"/>
          </a:p>
          <a:p>
            <a:pPr indent="-361950" lvl="0" marL="457200" rtl="0" algn="l">
              <a:spcBef>
                <a:spcPts val="0"/>
              </a:spcBef>
              <a:spcAft>
                <a:spcPts val="0"/>
              </a:spcAft>
              <a:buSzPts val="2100"/>
              <a:buChar char="●"/>
            </a:pPr>
            <a:r>
              <a:rPr lang="en" sz="2100"/>
              <a:t>Construct a message authentication code (MAC) Digital signature. </a:t>
            </a:r>
            <a:endParaRPr sz="2100"/>
          </a:p>
          <a:p>
            <a:pPr indent="-361950" lvl="0" marL="457200" rtl="0" algn="l">
              <a:spcBef>
                <a:spcPts val="0"/>
              </a:spcBef>
              <a:spcAft>
                <a:spcPts val="0"/>
              </a:spcAft>
              <a:buSzPts val="2100"/>
              <a:buChar char="●"/>
            </a:pPr>
            <a:r>
              <a:rPr lang="en" sz="2100"/>
              <a:t>Time stamping </a:t>
            </a:r>
            <a:endParaRPr sz="2100"/>
          </a:p>
          <a:p>
            <a:pPr indent="-361950" lvl="0" marL="457200" rtl="0" algn="l">
              <a:spcBef>
                <a:spcPts val="0"/>
              </a:spcBef>
              <a:spcAft>
                <a:spcPts val="0"/>
              </a:spcAft>
              <a:buSzPts val="2100"/>
              <a:buChar char="●"/>
            </a:pPr>
            <a:r>
              <a:rPr lang="en" sz="2100"/>
              <a:t>Key updating: key is hashed at specific intervals resulting in new key.</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