
<file path=[Content_Types].xml><?xml version="1.0" encoding="utf-8"?>
<Types xmlns="http://schemas.openxmlformats.org/package/2006/content-types">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6"/>
  </p:notesMasterIdLst>
  <p:sldIdLst>
    <p:sldId id="256" r:id="rId2"/>
    <p:sldId id="257" r:id="rId3"/>
    <p:sldId id="258" r:id="rId4"/>
    <p:sldId id="291" r:id="rId5"/>
    <p:sldId id="292" r:id="rId6"/>
    <p:sldId id="293" r:id="rId7"/>
    <p:sldId id="294" r:id="rId8"/>
    <p:sldId id="295" r:id="rId9"/>
    <p:sldId id="296" r:id="rId10"/>
    <p:sldId id="297" r:id="rId11"/>
    <p:sldId id="298" r:id="rId12"/>
    <p:sldId id="312" r:id="rId13"/>
    <p:sldId id="300" r:id="rId14"/>
    <p:sldId id="301" r:id="rId15"/>
    <p:sldId id="302" r:id="rId16"/>
    <p:sldId id="304" r:id="rId17"/>
    <p:sldId id="305" r:id="rId18"/>
    <p:sldId id="306" r:id="rId19"/>
    <p:sldId id="308" r:id="rId20"/>
    <p:sldId id="307" r:id="rId21"/>
    <p:sldId id="309" r:id="rId22"/>
    <p:sldId id="310" r:id="rId23"/>
    <p:sldId id="311" r:id="rId24"/>
    <p:sldId id="299" r:id="rId25"/>
    <p:sldId id="313" r:id="rId26"/>
    <p:sldId id="314" r:id="rId27"/>
    <p:sldId id="315" r:id="rId28"/>
    <p:sldId id="316" r:id="rId29"/>
    <p:sldId id="317" r:id="rId30"/>
    <p:sldId id="318" r:id="rId31"/>
    <p:sldId id="260" r:id="rId32"/>
    <p:sldId id="261" r:id="rId33"/>
    <p:sldId id="262" r:id="rId34"/>
    <p:sldId id="263" r:id="rId35"/>
    <p:sldId id="264" r:id="rId36"/>
    <p:sldId id="265" r:id="rId37"/>
    <p:sldId id="266" r:id="rId38"/>
    <p:sldId id="267" r:id="rId39"/>
    <p:sldId id="268" r:id="rId40"/>
    <p:sldId id="269" r:id="rId41"/>
    <p:sldId id="270" r:id="rId42"/>
    <p:sldId id="271" r:id="rId43"/>
    <p:sldId id="272" r:id="rId44"/>
    <p:sldId id="273" r:id="rId45"/>
    <p:sldId id="275" r:id="rId46"/>
    <p:sldId id="276" r:id="rId47"/>
    <p:sldId id="277" r:id="rId48"/>
    <p:sldId id="278" r:id="rId49"/>
    <p:sldId id="279" r:id="rId50"/>
    <p:sldId id="280" r:id="rId51"/>
    <p:sldId id="281" r:id="rId52"/>
    <p:sldId id="282" r:id="rId53"/>
    <p:sldId id="283" r:id="rId54"/>
    <p:sldId id="284" r:id="rId55"/>
    <p:sldId id="319" r:id="rId56"/>
    <p:sldId id="320" r:id="rId57"/>
    <p:sldId id="321" r:id="rId58"/>
    <p:sldId id="322" r:id="rId59"/>
    <p:sldId id="323" r:id="rId60"/>
    <p:sldId id="324" r:id="rId61"/>
    <p:sldId id="325" r:id="rId62"/>
    <p:sldId id="326" r:id="rId63"/>
    <p:sldId id="327" r:id="rId64"/>
    <p:sldId id="328" r:id="rId65"/>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86" d="100"/>
          <a:sy n="86" d="100"/>
        </p:scale>
        <p:origin x="797"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614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6148" name="Rectangle 4"/>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14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069C9EC-592E-4B09-9832-456C0B29AE22}" type="slidenum">
              <a:rPr lang="en-US"/>
              <a:pPr/>
              <a:t>‹#›</a:t>
            </a:fld>
            <a:endParaRPr lang="en-US"/>
          </a:p>
        </p:txBody>
      </p:sp>
    </p:spTree>
    <p:extLst>
      <p:ext uri="{BB962C8B-B14F-4D97-AF65-F5344CB8AC3E}">
        <p14:creationId xmlns:p14="http://schemas.microsoft.com/office/powerpoint/2010/main" val="146465196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30633B9-14B7-4D7E-9A58-7520B07225CD}" type="slidenum">
              <a:rPr lang="en-US"/>
              <a:pPr/>
              <a:t>31</a:t>
            </a:fld>
            <a:endParaRPr lang="en-US"/>
          </a:p>
        </p:txBody>
      </p:sp>
      <p:sp>
        <p:nvSpPr>
          <p:cNvPr id="9218"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This lecture introduces hash tables, which are an array-based method for implementing a Dictionary. You should recall that we have seen dictionaries implemented in other ways, for example with a binary search tree. The abstract properties of a dictionary remain the same: We can insert items in the dictionary, and each item has a key associated with it. When we want to retrieve an item, we specify only the key, and the retrieval process finds the associated data.</a:t>
            </a:r>
          </a:p>
          <a:p>
            <a:endParaRPr lang="en-US"/>
          </a:p>
          <a:p>
            <a:r>
              <a:rPr lang="en-US"/>
              <a:t>What we do now is use an array to implement the dictionary. The array is an array of records. In this example, we could store up to 701 records in the array.</a:t>
            </a:r>
          </a:p>
        </p:txBody>
      </p:sp>
      <p:sp>
        <p:nvSpPr>
          <p:cNvPr id="9219"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6757238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B884493-DAAB-48C3-AAC1-2F52237CEDAD}" type="slidenum">
              <a:rPr lang="en-US"/>
              <a:pPr/>
              <a:t>32</a:t>
            </a:fld>
            <a:endParaRPr lang="en-US"/>
          </a:p>
        </p:txBody>
      </p:sp>
      <p:sp>
        <p:nvSpPr>
          <p:cNvPr id="11266"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Each record in the array contains two parts. The first part is a number that we'll use for the key of the item. We could use something else for the keys, such as a string. But for a hash table, numbers make the most convenient keys.</a:t>
            </a:r>
          </a:p>
        </p:txBody>
      </p:sp>
      <p:sp>
        <p:nvSpPr>
          <p:cNvPr id="11267"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587057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9B777F-4F5F-4BD9-A7DD-9FD92F2FF4BB}" type="slidenum">
              <a:rPr lang="en-US"/>
              <a:pPr/>
              <a:t>33</a:t>
            </a:fld>
            <a:endParaRPr lang="en-US"/>
          </a:p>
        </p:txBody>
      </p:sp>
      <p:sp>
        <p:nvSpPr>
          <p:cNvPr id="13314"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The numbers might be identification numbers of some sort, and the rest of the record contains information about a person. So the pattern that you see here is the same pattern that you've seen in other dictionaries: Each entry in the dictionary has a key (in this case an identifying number) and some associated data.</a:t>
            </a:r>
          </a:p>
        </p:txBody>
      </p:sp>
      <p:sp>
        <p:nvSpPr>
          <p:cNvPr id="13315"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6747503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7D8ED2-832B-4502-A222-FF37A254EA4D}" type="slidenum">
              <a:rPr lang="en-US"/>
              <a:pPr/>
              <a:t>34</a:t>
            </a:fld>
            <a:endParaRPr lang="en-US"/>
          </a:p>
        </p:txBody>
      </p:sp>
      <p:sp>
        <p:nvSpPr>
          <p:cNvPr id="15362"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When a hash table is being used as a dictionary, some of the array locations are in use, and other spots are "empty", waiting for a new entry to come along.</a:t>
            </a:r>
          </a:p>
          <a:p>
            <a:endParaRPr lang="en-US"/>
          </a:p>
          <a:p>
            <a:r>
              <a:rPr lang="en-US"/>
              <a:t>Oftentimes, the empty spots are identified by a special key. For example, if all our identification numbers are positive, then we could use 0 as the Number that indicates an empty spot.</a:t>
            </a:r>
          </a:p>
          <a:p>
            <a:endParaRPr lang="en-US"/>
          </a:p>
          <a:p>
            <a:r>
              <a:rPr lang="en-US"/>
              <a:t>With this drawing, locations [0], [4], [6], and maybe some others would all have Number=0.</a:t>
            </a:r>
          </a:p>
        </p:txBody>
      </p:sp>
      <p:sp>
        <p:nvSpPr>
          <p:cNvPr id="15363"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5864586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FDD2A4D-47C4-415C-845A-3B1650611F04}" type="slidenum">
              <a:rPr lang="en-US"/>
              <a:pPr/>
              <a:t>35</a:t>
            </a:fld>
            <a:endParaRPr lang="en-US"/>
          </a:p>
        </p:txBody>
      </p:sp>
      <p:sp>
        <p:nvSpPr>
          <p:cNvPr id="17410"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In order to insert a new entry, the key of the entry must somehow be converted to an index in the array. For our example, we must convert the key number into an index between 0 and 700. The conversion process is called </a:t>
            </a:r>
            <a:r>
              <a:rPr lang="en-US" u="sng"/>
              <a:t>hashing</a:t>
            </a:r>
            <a:r>
              <a:rPr lang="en-US"/>
              <a:t> and the index is called the </a:t>
            </a:r>
            <a:r>
              <a:rPr lang="en-US" u="sng"/>
              <a:t>hash value</a:t>
            </a:r>
            <a:r>
              <a:rPr lang="en-US"/>
              <a:t> of the key.</a:t>
            </a:r>
          </a:p>
        </p:txBody>
      </p:sp>
      <p:sp>
        <p:nvSpPr>
          <p:cNvPr id="17411"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394987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E9D2AB-A7EF-4790-A7CD-8634C0B074CC}" type="slidenum">
              <a:rPr lang="en-US"/>
              <a:pPr/>
              <a:t>36</a:t>
            </a:fld>
            <a:endParaRPr lang="en-US"/>
          </a:p>
        </p:txBody>
      </p:sp>
      <p:sp>
        <p:nvSpPr>
          <p:cNvPr id="19458"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There are many ways to create hash values. Here is a typical approach. </a:t>
            </a:r>
          </a:p>
          <a:p>
            <a:r>
              <a:rPr lang="en-US"/>
              <a:t>a. Take the key mod 701 (which could be anywhere from 0 to 700).</a:t>
            </a:r>
          </a:p>
          <a:p>
            <a:endParaRPr lang="en-US"/>
          </a:p>
          <a:p>
            <a:r>
              <a:rPr lang="en-US"/>
              <a:t>So, quick, what is (580,625,685 mod 701) ?</a:t>
            </a:r>
          </a:p>
        </p:txBody>
      </p:sp>
      <p:sp>
        <p:nvSpPr>
          <p:cNvPr id="19459"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30621563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DFCC33-7C3C-4D6F-84AF-1D7F4F6452A6}" type="slidenum">
              <a:rPr lang="en-US"/>
              <a:pPr/>
              <a:t>37</a:t>
            </a:fld>
            <a:endParaRPr lang="en-US"/>
          </a:p>
        </p:txBody>
      </p:sp>
      <p:sp>
        <p:nvSpPr>
          <p:cNvPr id="21506"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Three.</a:t>
            </a:r>
          </a:p>
        </p:txBody>
      </p:sp>
      <p:sp>
        <p:nvSpPr>
          <p:cNvPr id="21507"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27662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00B1CB-ED6A-46A8-9C44-BFA678C93987}" type="slidenum">
              <a:rPr lang="en-US"/>
              <a:pPr/>
              <a:t>38</a:t>
            </a:fld>
            <a:endParaRPr lang="en-US"/>
          </a:p>
        </p:txBody>
      </p:sp>
      <p:sp>
        <p:nvSpPr>
          <p:cNvPr id="23554"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So, this new item will be placed at location [3] of the array.</a:t>
            </a:r>
          </a:p>
        </p:txBody>
      </p:sp>
      <p:sp>
        <p:nvSpPr>
          <p:cNvPr id="23555"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326629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D9A7DEE-A039-437A-AAFB-D410940B2ABA}" type="slidenum">
              <a:rPr lang="en-US"/>
              <a:pPr/>
              <a:t>39</a:t>
            </a:fld>
            <a:endParaRPr lang="en-US"/>
          </a:p>
        </p:txBody>
      </p:sp>
      <p:sp>
        <p:nvSpPr>
          <p:cNvPr id="25602"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The hash value is always used to find the location for the record.</a:t>
            </a:r>
          </a:p>
        </p:txBody>
      </p:sp>
      <p:sp>
        <p:nvSpPr>
          <p:cNvPr id="25603"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106055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FED3B4-E4AB-4C47-8586-05B9E4972189}" type="slidenum">
              <a:rPr lang="en-US"/>
              <a:pPr/>
              <a:t>40</a:t>
            </a:fld>
            <a:endParaRPr lang="en-US"/>
          </a:p>
        </p:txBody>
      </p:sp>
      <p:sp>
        <p:nvSpPr>
          <p:cNvPr id="27650"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Sometimes, two different records might end up with the same hash value.</a:t>
            </a:r>
          </a:p>
        </p:txBody>
      </p:sp>
      <p:sp>
        <p:nvSpPr>
          <p:cNvPr id="27651"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5478645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B3E5B66-E648-411B-9478-59FE2729C9F3}" type="slidenum">
              <a:rPr lang="en-US"/>
              <a:pPr/>
              <a:t>41</a:t>
            </a:fld>
            <a:endParaRPr lang="en-US"/>
          </a:p>
        </p:txBody>
      </p:sp>
      <p:sp>
        <p:nvSpPr>
          <p:cNvPr id="29698"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This is called a </a:t>
            </a:r>
            <a:r>
              <a:rPr lang="en-US" u="sng"/>
              <a:t>collision</a:t>
            </a:r>
            <a:r>
              <a:rPr lang="en-US"/>
              <a:t>.</a:t>
            </a:r>
          </a:p>
          <a:p>
            <a:endParaRPr lang="en-US"/>
          </a:p>
          <a:p>
            <a:r>
              <a:rPr lang="en-US"/>
              <a:t>When a collision occurs, the insertion process will move forward through the array until an empty spot is found. Sometimes you will have a second collision...</a:t>
            </a:r>
          </a:p>
        </p:txBody>
      </p:sp>
      <p:sp>
        <p:nvSpPr>
          <p:cNvPr id="29699"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49192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31C56D-2E8B-4A4C-AEFB-D572CE29FAC2}" type="slidenum">
              <a:rPr lang="en-US"/>
              <a:pPr/>
              <a:t>42</a:t>
            </a:fld>
            <a:endParaRPr lang="en-US"/>
          </a:p>
        </p:txBody>
      </p:sp>
      <p:sp>
        <p:nvSpPr>
          <p:cNvPr id="31746"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...and a third collision...</a:t>
            </a:r>
          </a:p>
        </p:txBody>
      </p:sp>
      <p:sp>
        <p:nvSpPr>
          <p:cNvPr id="31747"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41366978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5BDA97E-5985-4302-885B-1C809CE6C576}" type="slidenum">
              <a:rPr lang="en-US"/>
              <a:pPr/>
              <a:t>43</a:t>
            </a:fld>
            <a:endParaRPr lang="en-US"/>
          </a:p>
        </p:txBody>
      </p:sp>
      <p:sp>
        <p:nvSpPr>
          <p:cNvPr id="33794"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But if there are any empty spots, eventually you will reach an empty spot, and the new item is inserted here.</a:t>
            </a:r>
          </a:p>
        </p:txBody>
      </p:sp>
      <p:sp>
        <p:nvSpPr>
          <p:cNvPr id="33795"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916328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CE0D107-1990-4A75-8F1D-223440591AE1}" type="slidenum">
              <a:rPr lang="en-US"/>
              <a:pPr/>
              <a:t>44</a:t>
            </a:fld>
            <a:endParaRPr lang="en-US"/>
          </a:p>
        </p:txBody>
      </p:sp>
      <p:sp>
        <p:nvSpPr>
          <p:cNvPr id="35842"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The new record is always placed in the first available empty spot, after the hash value.</a:t>
            </a:r>
          </a:p>
          <a:p>
            <a:endParaRPr lang="en-US"/>
          </a:p>
          <a:p>
            <a:endParaRPr lang="en-US"/>
          </a:p>
        </p:txBody>
      </p:sp>
      <p:sp>
        <p:nvSpPr>
          <p:cNvPr id="35843"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33358618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841086-5514-4891-B55D-AC5F18631318}" type="slidenum">
              <a:rPr lang="en-US"/>
              <a:pPr/>
              <a:t>45</a:t>
            </a:fld>
            <a:endParaRPr lang="en-US"/>
          </a:p>
        </p:txBody>
      </p:sp>
      <p:sp>
        <p:nvSpPr>
          <p:cNvPr id="39938"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It is fairly easy to search for a particular item based on its key.</a:t>
            </a:r>
          </a:p>
        </p:txBody>
      </p:sp>
      <p:sp>
        <p:nvSpPr>
          <p:cNvPr id="39939"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42821637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480350-64AE-4A70-B0C8-8791C24522E8}" type="slidenum">
              <a:rPr lang="en-US"/>
              <a:pPr/>
              <a:t>46</a:t>
            </a:fld>
            <a:endParaRPr lang="en-US"/>
          </a:p>
        </p:txBody>
      </p:sp>
      <p:sp>
        <p:nvSpPr>
          <p:cNvPr id="41986"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Start by computing the hash value, which is 2 in this case. Then check location 2. If location 2 has a different key than the one you are looking for, then move forward...</a:t>
            </a:r>
          </a:p>
        </p:txBody>
      </p:sp>
      <p:sp>
        <p:nvSpPr>
          <p:cNvPr id="41987"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38960341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A46853-7545-4913-9E68-2B175C6F83DA}" type="slidenum">
              <a:rPr lang="en-US"/>
              <a:pPr/>
              <a:t>47</a:t>
            </a:fld>
            <a:endParaRPr lang="en-US"/>
          </a:p>
        </p:txBody>
      </p:sp>
      <p:sp>
        <p:nvSpPr>
          <p:cNvPr id="44034"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...if the next location is not the one we are looking for, then keep moving forward...</a:t>
            </a:r>
          </a:p>
        </p:txBody>
      </p:sp>
      <p:sp>
        <p:nvSpPr>
          <p:cNvPr id="44035"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022949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47B07E-F6F4-4730-842B-AF49B3AD4227}" type="slidenum">
              <a:rPr lang="en-US"/>
              <a:pPr/>
              <a:t>48</a:t>
            </a:fld>
            <a:endParaRPr lang="en-US"/>
          </a:p>
        </p:txBody>
      </p:sp>
      <p:sp>
        <p:nvSpPr>
          <p:cNvPr id="46082"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Keep moving forward until you find the sought-after key...</a:t>
            </a:r>
          </a:p>
        </p:txBody>
      </p:sp>
      <p:sp>
        <p:nvSpPr>
          <p:cNvPr id="46083"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5273624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370FF2-E2AF-4DA1-8B5D-37EA6E4BBA60}" type="slidenum">
              <a:rPr lang="en-US"/>
              <a:pPr/>
              <a:t>49</a:t>
            </a:fld>
            <a:endParaRPr lang="en-US"/>
          </a:p>
        </p:txBody>
      </p:sp>
      <p:sp>
        <p:nvSpPr>
          <p:cNvPr id="48130"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In this case we find the key at location [5].</a:t>
            </a:r>
          </a:p>
        </p:txBody>
      </p:sp>
      <p:sp>
        <p:nvSpPr>
          <p:cNvPr id="48131"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6049748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803992-13EA-46D4-A63C-60CCD264A47A}" type="slidenum">
              <a:rPr lang="en-US"/>
              <a:pPr/>
              <a:t>50</a:t>
            </a:fld>
            <a:endParaRPr lang="en-US"/>
          </a:p>
        </p:txBody>
      </p:sp>
      <p:sp>
        <p:nvSpPr>
          <p:cNvPr id="50178"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The data from location [5] can then be copied to to provide the result of the search function.</a:t>
            </a:r>
          </a:p>
          <a:p>
            <a:endParaRPr lang="en-US"/>
          </a:p>
          <a:p>
            <a:r>
              <a:rPr lang="en-US"/>
              <a:t>What happens if a search reaches an empty spot?  In that case, it can</a:t>
            </a:r>
          </a:p>
          <a:p>
            <a:r>
              <a:rPr lang="en-US"/>
              <a:t>halt and indicate that the key was not in the hash table.</a:t>
            </a:r>
          </a:p>
          <a:p>
            <a:endParaRPr lang="en-US"/>
          </a:p>
        </p:txBody>
      </p:sp>
      <p:sp>
        <p:nvSpPr>
          <p:cNvPr id="50179"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1275245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6236846-5BD4-411C-A530-876E598B4D76}" type="slidenum">
              <a:rPr lang="en-US"/>
              <a:pPr/>
              <a:t>51</a:t>
            </a:fld>
            <a:endParaRPr lang="en-US"/>
          </a:p>
        </p:txBody>
      </p:sp>
      <p:sp>
        <p:nvSpPr>
          <p:cNvPr id="52226"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Records can be deleted from a hash table...</a:t>
            </a:r>
          </a:p>
        </p:txBody>
      </p:sp>
      <p:sp>
        <p:nvSpPr>
          <p:cNvPr id="52227"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28479764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2DFEBFA-154D-4BC9-B186-0DBB194EB07A}" type="slidenum">
              <a:rPr lang="en-US"/>
              <a:pPr/>
              <a:t>52</a:t>
            </a:fld>
            <a:endParaRPr lang="en-US"/>
          </a:p>
        </p:txBody>
      </p:sp>
      <p:sp>
        <p:nvSpPr>
          <p:cNvPr id="54274"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But the spot of the deleted record cannot be left as an ordinary empty spot, since that would interfere with searches.  (Remember that a search can stop when it reaches an empty spot.)</a:t>
            </a:r>
          </a:p>
        </p:txBody>
      </p:sp>
      <p:sp>
        <p:nvSpPr>
          <p:cNvPr id="54275"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741174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A9B4BC-A9EF-428B-9C8B-26372654443B}" type="slidenum">
              <a:rPr lang="en-US"/>
              <a:pPr/>
              <a:t>53</a:t>
            </a:fld>
            <a:endParaRPr lang="en-US"/>
          </a:p>
        </p:txBody>
      </p:sp>
      <p:sp>
        <p:nvSpPr>
          <p:cNvPr id="56322"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Instead we must somehow mark the location as "a location that used to have something here, but no longer does."</a:t>
            </a:r>
          </a:p>
          <a:p>
            <a:endParaRPr lang="en-US"/>
          </a:p>
          <a:p>
            <a:r>
              <a:rPr lang="en-US"/>
              <a:t>We might do this by using some other special value for the Number field of the record.</a:t>
            </a:r>
          </a:p>
          <a:p>
            <a:endParaRPr lang="en-US"/>
          </a:p>
          <a:p>
            <a:r>
              <a:rPr lang="en-US"/>
              <a:t>In any case, a search can not stop when it reaches "a location that used to have something here". A search can only stop when it reaches a true empty spot.</a:t>
            </a:r>
          </a:p>
        </p:txBody>
      </p:sp>
      <p:sp>
        <p:nvSpPr>
          <p:cNvPr id="56323"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35210174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DD6468-7D62-4E86-8AF4-B5F20FB6ABBF}" type="slidenum">
              <a:rPr lang="en-US"/>
              <a:pPr/>
              <a:t>54</a:t>
            </a:fld>
            <a:endParaRPr lang="en-US"/>
          </a:p>
        </p:txBody>
      </p:sp>
      <p:sp>
        <p:nvSpPr>
          <p:cNvPr id="58370" name="Rectangle 2"/>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t>A quick summary . . .</a:t>
            </a:r>
          </a:p>
        </p:txBody>
      </p:sp>
      <p:sp>
        <p:nvSpPr>
          <p:cNvPr id="58371" name="Rectangle 3"/>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extLst>
      <p:ext uri="{BB962C8B-B14F-4D97-AF65-F5344CB8AC3E}">
        <p14:creationId xmlns:p14="http://schemas.microsoft.com/office/powerpoint/2010/main" val="13164690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2876C3F-45E3-4260-98F4-FAF67207B41D}" type="slidenum">
              <a:rPr lang="en-US"/>
              <a:pPr/>
              <a:t>‹#›</a:t>
            </a:fld>
            <a:endParaRPr lang="en-US"/>
          </a:p>
        </p:txBody>
      </p:sp>
    </p:spTree>
    <p:extLst>
      <p:ext uri="{BB962C8B-B14F-4D97-AF65-F5344CB8AC3E}">
        <p14:creationId xmlns:p14="http://schemas.microsoft.com/office/powerpoint/2010/main" val="35288071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EF7ADAE4-4EA6-4429-8B63-5FC08B4CEFB1}" type="slidenum">
              <a:rPr lang="en-US"/>
              <a:pPr/>
              <a:t>‹#›</a:t>
            </a:fld>
            <a:endParaRPr lang="en-US"/>
          </a:p>
        </p:txBody>
      </p:sp>
    </p:spTree>
    <p:extLst>
      <p:ext uri="{BB962C8B-B14F-4D97-AF65-F5344CB8AC3E}">
        <p14:creationId xmlns:p14="http://schemas.microsoft.com/office/powerpoint/2010/main" val="1483485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AC18BFA-65D1-4F2C-9F26-0CC0E1AAB670}" type="slidenum">
              <a:rPr lang="en-US"/>
              <a:pPr/>
              <a:t>‹#›</a:t>
            </a:fld>
            <a:endParaRPr lang="en-US"/>
          </a:p>
        </p:txBody>
      </p:sp>
    </p:spTree>
    <p:extLst>
      <p:ext uri="{BB962C8B-B14F-4D97-AF65-F5344CB8AC3E}">
        <p14:creationId xmlns:p14="http://schemas.microsoft.com/office/powerpoint/2010/main" val="2169906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981200"/>
            <a:ext cx="381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81F52EB-FE0C-4B37-9913-DD42543DBBF6}" type="slidenum">
              <a:rPr lang="en-US"/>
              <a:pPr/>
              <a:t>‹#›</a:t>
            </a:fld>
            <a:endParaRPr lang="en-US"/>
          </a:p>
        </p:txBody>
      </p:sp>
    </p:spTree>
    <p:extLst>
      <p:ext uri="{BB962C8B-B14F-4D97-AF65-F5344CB8AC3E}">
        <p14:creationId xmlns:p14="http://schemas.microsoft.com/office/powerpoint/2010/main" val="3520936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64C4A325-1C75-40AB-83D4-6BADBF9D87FA}" type="slidenum">
              <a:rPr lang="en-US"/>
              <a:pPr/>
              <a:t>‹#›</a:t>
            </a:fld>
            <a:endParaRPr lang="en-US"/>
          </a:p>
        </p:txBody>
      </p:sp>
    </p:spTree>
    <p:extLst>
      <p:ext uri="{BB962C8B-B14F-4D97-AF65-F5344CB8AC3E}">
        <p14:creationId xmlns:p14="http://schemas.microsoft.com/office/powerpoint/2010/main" val="879643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0F56D703-8E05-4155-A3BE-4BFC6038B729}" type="slidenum">
              <a:rPr lang="en-US"/>
              <a:pPr/>
              <a:t>‹#›</a:t>
            </a:fld>
            <a:endParaRPr lang="en-US"/>
          </a:p>
        </p:txBody>
      </p:sp>
    </p:spTree>
    <p:extLst>
      <p:ext uri="{BB962C8B-B14F-4D97-AF65-F5344CB8AC3E}">
        <p14:creationId xmlns:p14="http://schemas.microsoft.com/office/powerpoint/2010/main" val="24196757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B3B492E1-2195-4202-92B3-4786F13F072C}" type="slidenum">
              <a:rPr lang="en-US"/>
              <a:pPr/>
              <a:t>‹#›</a:t>
            </a:fld>
            <a:endParaRPr lang="en-US"/>
          </a:p>
        </p:txBody>
      </p:sp>
    </p:spTree>
    <p:extLst>
      <p:ext uri="{BB962C8B-B14F-4D97-AF65-F5344CB8AC3E}">
        <p14:creationId xmlns:p14="http://schemas.microsoft.com/office/powerpoint/2010/main" val="3811479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CD51FC6-5BDD-4E6B-A41C-53E8E704A48A}" type="slidenum">
              <a:rPr lang="en-US"/>
              <a:pPr/>
              <a:t>‹#›</a:t>
            </a:fld>
            <a:endParaRPr lang="en-US"/>
          </a:p>
        </p:txBody>
      </p:sp>
    </p:spTree>
    <p:extLst>
      <p:ext uri="{BB962C8B-B14F-4D97-AF65-F5344CB8AC3E}">
        <p14:creationId xmlns:p14="http://schemas.microsoft.com/office/powerpoint/2010/main" val="70171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46357518-2785-4EE4-B0AC-FC36EA6E22D1}" type="slidenum">
              <a:rPr lang="en-US"/>
              <a:pPr/>
              <a:t>‹#›</a:t>
            </a:fld>
            <a:endParaRPr lang="en-US"/>
          </a:p>
        </p:txBody>
      </p:sp>
    </p:spTree>
    <p:extLst>
      <p:ext uri="{BB962C8B-B14F-4D97-AF65-F5344CB8AC3E}">
        <p14:creationId xmlns:p14="http://schemas.microsoft.com/office/powerpoint/2010/main" val="27122537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1ECA5BF-78E6-414C-AEA1-6E4BB3DA68D0}" type="slidenum">
              <a:rPr lang="en-US"/>
              <a:pPr/>
              <a:t>‹#›</a:t>
            </a:fld>
            <a:endParaRPr lang="en-US"/>
          </a:p>
        </p:txBody>
      </p:sp>
    </p:spTree>
    <p:extLst>
      <p:ext uri="{BB962C8B-B14F-4D97-AF65-F5344CB8AC3E}">
        <p14:creationId xmlns:p14="http://schemas.microsoft.com/office/powerpoint/2010/main" val="962958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8144EC4-A2D7-4030-873E-745B524E2DBA}" type="slidenum">
              <a:rPr lang="en-US"/>
              <a:pPr/>
              <a:t>‹#›</a:t>
            </a:fld>
            <a:endParaRPr lang="en-US"/>
          </a:p>
        </p:txBody>
      </p:sp>
    </p:spTree>
    <p:extLst>
      <p:ext uri="{BB962C8B-B14F-4D97-AF65-F5344CB8AC3E}">
        <p14:creationId xmlns:p14="http://schemas.microsoft.com/office/powerpoint/2010/main" val="3366859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97EC5F44-9EB3-4DB2-BCE8-67BB3788F029}"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anose="02020603050405020304" pitchFamily="18" charset="0"/>
        </a:defRPr>
      </a:lvl2pPr>
      <a:lvl3pPr algn="ctr" rtl="0" fontAlgn="base">
        <a:spcBef>
          <a:spcPct val="0"/>
        </a:spcBef>
        <a:spcAft>
          <a:spcPct val="0"/>
        </a:spcAft>
        <a:defRPr sz="4400">
          <a:solidFill>
            <a:schemeClr val="tx2"/>
          </a:solidFill>
          <a:latin typeface="Times New Roman" panose="02020603050405020304" pitchFamily="18" charset="0"/>
        </a:defRPr>
      </a:lvl3pPr>
      <a:lvl4pPr algn="ctr" rtl="0" fontAlgn="base">
        <a:spcBef>
          <a:spcPct val="0"/>
        </a:spcBef>
        <a:spcAft>
          <a:spcPct val="0"/>
        </a:spcAft>
        <a:defRPr sz="4400">
          <a:solidFill>
            <a:schemeClr val="tx2"/>
          </a:solidFill>
          <a:latin typeface="Times New Roman" panose="02020603050405020304" pitchFamily="18" charset="0"/>
        </a:defRPr>
      </a:lvl4pPr>
      <a:lvl5pPr algn="ctr" rtl="0" fontAlgn="base">
        <a:spcBef>
          <a:spcPct val="0"/>
        </a:spcBef>
        <a:spcAft>
          <a:spcPct val="0"/>
        </a:spcAft>
        <a:defRPr sz="4400">
          <a:solidFill>
            <a:schemeClr val="tx2"/>
          </a:solidFill>
          <a:latin typeface="Times New Roman" panose="02020603050405020304" pitchFamily="18" charset="0"/>
        </a:defRPr>
      </a:lvl5pPr>
      <a:lvl6pPr marL="457200" algn="ctr" rtl="0" fontAlgn="base">
        <a:spcBef>
          <a:spcPct val="0"/>
        </a:spcBef>
        <a:spcAft>
          <a:spcPct val="0"/>
        </a:spcAft>
        <a:defRPr sz="4400">
          <a:solidFill>
            <a:schemeClr val="tx2"/>
          </a:solidFill>
          <a:latin typeface="Times New Roman" panose="02020603050405020304" pitchFamily="18" charset="0"/>
        </a:defRPr>
      </a:lvl6pPr>
      <a:lvl7pPr marL="914400" algn="ctr" rtl="0" fontAlgn="base">
        <a:spcBef>
          <a:spcPct val="0"/>
        </a:spcBef>
        <a:spcAft>
          <a:spcPct val="0"/>
        </a:spcAft>
        <a:defRPr sz="4400">
          <a:solidFill>
            <a:schemeClr val="tx2"/>
          </a:solidFill>
          <a:latin typeface="Times New Roman" panose="02020603050405020304" pitchFamily="18" charset="0"/>
        </a:defRPr>
      </a:lvl7pPr>
      <a:lvl8pPr marL="1371600" algn="ctr" rtl="0" fontAlgn="base">
        <a:spcBef>
          <a:spcPct val="0"/>
        </a:spcBef>
        <a:spcAft>
          <a:spcPct val="0"/>
        </a:spcAft>
        <a:defRPr sz="4400">
          <a:solidFill>
            <a:schemeClr val="tx2"/>
          </a:solidFill>
          <a:latin typeface="Times New Roman" panose="02020603050405020304" pitchFamily="18" charset="0"/>
        </a:defRPr>
      </a:lvl8pPr>
      <a:lvl9pPr marL="1828800" algn="ctr" rtl="0" fontAlgn="base">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image" Target="../media/image1.wmf"/><Relationship Id="rId1" Type="http://schemas.openxmlformats.org/officeDocument/2006/relationships/slideLayout" Target="../slideLayouts/slideLayout6.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35.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36.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37.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38.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4.wmf"/><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3.wmf"/><Relationship Id="rId5" Type="http://schemas.openxmlformats.org/officeDocument/2006/relationships/image" Target="../media/image2.wmf"/><Relationship Id="rId4" Type="http://schemas.openxmlformats.org/officeDocument/2006/relationships/image" Target="../media/image1.wmf"/></Relationships>
</file>

<file path=ppt/slides/_rels/slide39.xml.rels><?xml version="1.0" encoding="UTF-8" standalone="yes"?>
<Relationships xmlns="http://schemas.openxmlformats.org/package/2006/relationships"><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 Id="rId9" Type="http://schemas.openxmlformats.org/officeDocument/2006/relationships/image" Target="../media/image7.wmf"/></Relationships>
</file>

<file path=ppt/slides/_rels/slide42.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 Id="rId9" Type="http://schemas.openxmlformats.org/officeDocument/2006/relationships/image" Target="../media/image7.wmf"/></Relationships>
</file>

<file path=ppt/slides/_rels/slide43.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4.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5.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7.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8.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49.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50.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5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1.wmf"/><Relationship Id="rId7" Type="http://schemas.openxmlformats.org/officeDocument/2006/relationships/image" Target="../media/image5.wmf"/><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4.wmf"/><Relationship Id="rId5" Type="http://schemas.openxmlformats.org/officeDocument/2006/relationships/image" Target="../media/image3.wmf"/><Relationship Id="rId4" Type="http://schemas.openxmlformats.org/officeDocument/2006/relationships/image" Target="../media/image2.wmf"/></Relationships>
</file>

<file path=ppt/slides/_rels/slide52.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53.xml.rels><?xml version="1.0" encoding="UTF-8" standalone="yes"?>
<Relationships xmlns="http://schemas.openxmlformats.org/package/2006/relationships"><Relationship Id="rId3" Type="http://schemas.openxmlformats.org/officeDocument/2006/relationships/image" Target="../media/image2.wmf"/><Relationship Id="rId7" Type="http://schemas.openxmlformats.org/officeDocument/2006/relationships/image" Target="../media/image6.wmf"/><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85800" y="2286000"/>
            <a:ext cx="7772400" cy="1143000"/>
          </a:xfrm>
        </p:spPr>
        <p:txBody>
          <a:bodyPr anchor="ctr"/>
          <a:lstStyle/>
          <a:p>
            <a:r>
              <a:rPr lang="en-US" sz="4400" dirty="0" smtClean="0"/>
              <a:t>Searching and Hashing Technique</a:t>
            </a:r>
            <a:endParaRPr lang="en-US" sz="4400" dirty="0"/>
          </a:p>
        </p:txBody>
      </p:sp>
      <p:sp>
        <p:nvSpPr>
          <p:cNvPr id="2051" name="Rectangle 3"/>
          <p:cNvSpPr>
            <a:spLocks noGrp="1" noChangeArrowheads="1"/>
          </p:cNvSpPr>
          <p:nvPr>
            <p:ph type="subTitle" idx="1"/>
          </p:nvPr>
        </p:nvSpPr>
        <p:spPr>
          <a:xfrm>
            <a:off x="1371600" y="3886200"/>
            <a:ext cx="6400800" cy="1752600"/>
          </a:xfrm>
        </p:spPr>
        <p:txBody>
          <a:bodyPr/>
          <a:lstStyle/>
          <a:p>
            <a:r>
              <a:rPr lang="en-US" sz="3200" dirty="0" smtClean="0"/>
              <a:t>Radha Krishna Gajurel</a:t>
            </a:r>
            <a:endParaRPr lang="en-US" sz="3200" dirty="0"/>
          </a:p>
          <a:p>
            <a:r>
              <a:rPr lang="en-US" sz="3200" smtClean="0"/>
              <a:t>Unit 7</a:t>
            </a:r>
            <a:endParaRPr 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a:t>Problem: Search</a:t>
            </a:r>
          </a:p>
        </p:txBody>
      </p:sp>
      <p:sp>
        <p:nvSpPr>
          <p:cNvPr id="3075" name="Rectangle 3"/>
          <p:cNvSpPr>
            <a:spLocks noGrp="1" noChangeArrowheads="1"/>
          </p:cNvSpPr>
          <p:nvPr>
            <p:ph type="body" idx="1"/>
          </p:nvPr>
        </p:nvSpPr>
        <p:spPr/>
        <p:txBody>
          <a:bodyPr/>
          <a:lstStyle/>
          <a:p>
            <a:r>
              <a:rPr lang="en-US"/>
              <a:t>We are given a list of records.  </a:t>
            </a:r>
          </a:p>
          <a:p>
            <a:r>
              <a:rPr lang="en-US"/>
              <a:t>Each record has an associated key.</a:t>
            </a:r>
          </a:p>
          <a:p>
            <a:r>
              <a:rPr lang="en-US"/>
              <a:t>Give efficient algorithm for searching for a record containing a particular key.</a:t>
            </a:r>
          </a:p>
          <a:p>
            <a:r>
              <a:rPr lang="en-US"/>
              <a:t>Efficiency is quantified in terms of average time analysis (number of comparisons) to retrieve an item.</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t>Search</a:t>
            </a:r>
          </a:p>
        </p:txBody>
      </p:sp>
      <p:sp>
        <p:nvSpPr>
          <p:cNvPr id="4099" name="Rectangle 3"/>
          <p:cNvSpPr>
            <a:spLocks noChangeArrowheads="1"/>
          </p:cNvSpPr>
          <p:nvPr/>
        </p:nvSpPr>
        <p:spPr bwMode="auto">
          <a:xfrm>
            <a:off x="457200" y="2354263"/>
            <a:ext cx="5930900" cy="11795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0" name="Line 4"/>
          <p:cNvSpPr>
            <a:spLocks noChangeShapeType="1"/>
          </p:cNvSpPr>
          <p:nvPr/>
        </p:nvSpPr>
        <p:spPr bwMode="auto">
          <a:xfrm>
            <a:off x="1641475" y="2360613"/>
            <a:ext cx="0" cy="1177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1" name="Line 5"/>
          <p:cNvSpPr>
            <a:spLocks noChangeShapeType="1"/>
          </p:cNvSpPr>
          <p:nvPr/>
        </p:nvSpPr>
        <p:spPr bwMode="auto">
          <a:xfrm>
            <a:off x="2828925" y="2360613"/>
            <a:ext cx="0" cy="1177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2" name="Line 6"/>
          <p:cNvSpPr>
            <a:spLocks noChangeShapeType="1"/>
          </p:cNvSpPr>
          <p:nvPr/>
        </p:nvSpPr>
        <p:spPr bwMode="auto">
          <a:xfrm>
            <a:off x="4013200" y="2360613"/>
            <a:ext cx="1588" cy="1177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3" name="Line 7"/>
          <p:cNvSpPr>
            <a:spLocks noChangeShapeType="1"/>
          </p:cNvSpPr>
          <p:nvPr/>
        </p:nvSpPr>
        <p:spPr bwMode="auto">
          <a:xfrm>
            <a:off x="5200650" y="2365375"/>
            <a:ext cx="0" cy="11668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4" name="Line 8"/>
          <p:cNvSpPr>
            <a:spLocks noChangeShapeType="1"/>
          </p:cNvSpPr>
          <p:nvPr/>
        </p:nvSpPr>
        <p:spPr bwMode="auto">
          <a:xfrm>
            <a:off x="6388100" y="2365375"/>
            <a:ext cx="0" cy="11668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6" name="Rectangle 10"/>
          <p:cNvSpPr>
            <a:spLocks noChangeArrowheads="1"/>
          </p:cNvSpPr>
          <p:nvPr/>
        </p:nvSpPr>
        <p:spPr bwMode="auto">
          <a:xfrm>
            <a:off x="615950" y="1828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4107" name="Rectangle 11"/>
          <p:cNvSpPr>
            <a:spLocks noChangeArrowheads="1"/>
          </p:cNvSpPr>
          <p:nvPr/>
        </p:nvSpPr>
        <p:spPr bwMode="auto">
          <a:xfrm>
            <a:off x="1839913" y="1828800"/>
            <a:ext cx="722312"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4108" name="Rectangle 12"/>
          <p:cNvSpPr>
            <a:spLocks noChangeArrowheads="1"/>
          </p:cNvSpPr>
          <p:nvPr/>
        </p:nvSpPr>
        <p:spPr bwMode="auto">
          <a:xfrm>
            <a:off x="3024188" y="1828800"/>
            <a:ext cx="722312"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4109" name="Rectangle 13"/>
          <p:cNvSpPr>
            <a:spLocks noChangeArrowheads="1"/>
          </p:cNvSpPr>
          <p:nvPr/>
        </p:nvSpPr>
        <p:spPr bwMode="auto">
          <a:xfrm>
            <a:off x="4171950" y="1828800"/>
            <a:ext cx="720725"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4110" name="Rectangle 14"/>
          <p:cNvSpPr>
            <a:spLocks noChangeArrowheads="1"/>
          </p:cNvSpPr>
          <p:nvPr/>
        </p:nvSpPr>
        <p:spPr bwMode="auto">
          <a:xfrm>
            <a:off x="5353050" y="1828800"/>
            <a:ext cx="723900"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4112" name="Rectangle 16"/>
          <p:cNvSpPr>
            <a:spLocks noChangeArrowheads="1"/>
          </p:cNvSpPr>
          <p:nvPr/>
        </p:nvSpPr>
        <p:spPr bwMode="auto">
          <a:xfrm>
            <a:off x="7288213" y="2365375"/>
            <a:ext cx="1169987" cy="11684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3" name="Rectangle 17"/>
          <p:cNvSpPr>
            <a:spLocks noChangeArrowheads="1"/>
          </p:cNvSpPr>
          <p:nvPr/>
        </p:nvSpPr>
        <p:spPr bwMode="auto">
          <a:xfrm>
            <a:off x="7315200" y="1833563"/>
            <a:ext cx="1062038"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[ 700 ]</a:t>
            </a:r>
          </a:p>
        </p:txBody>
      </p:sp>
      <p:grpSp>
        <p:nvGrpSpPr>
          <p:cNvPr id="4114" name="Group 18"/>
          <p:cNvGrpSpPr>
            <a:grpSpLocks/>
          </p:cNvGrpSpPr>
          <p:nvPr/>
        </p:nvGrpSpPr>
        <p:grpSpPr bwMode="auto">
          <a:xfrm>
            <a:off x="5335588" y="2563813"/>
            <a:ext cx="671512" cy="771525"/>
            <a:chOff x="2897" y="3449"/>
            <a:chExt cx="326" cy="327"/>
          </a:xfrm>
        </p:grpSpPr>
        <p:sp>
          <p:nvSpPr>
            <p:cNvPr id="4115" name="Rectangle 19"/>
            <p:cNvSpPr>
              <a:spLocks noChangeArrowheads="1"/>
            </p:cNvSpPr>
            <p:nvPr/>
          </p:nvSpPr>
          <p:spPr bwMode="auto">
            <a:xfrm>
              <a:off x="2897" y="3449"/>
              <a:ext cx="326"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4116" name="Picture 20"/>
            <p:cNvPicPr>
              <a:picLocks noChangeArrowheads="1"/>
            </p:cNvPicPr>
            <p:nvPr/>
          </p:nvPicPr>
          <p:blipFill>
            <a:blip r:embed="rId2"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17" name="Group 21"/>
          <p:cNvGrpSpPr>
            <a:grpSpLocks/>
          </p:cNvGrpSpPr>
          <p:nvPr/>
        </p:nvGrpSpPr>
        <p:grpSpPr bwMode="auto">
          <a:xfrm>
            <a:off x="3030538" y="2525713"/>
            <a:ext cx="730250" cy="847725"/>
            <a:chOff x="1778" y="3433"/>
            <a:chExt cx="355" cy="359"/>
          </a:xfrm>
        </p:grpSpPr>
        <p:sp>
          <p:nvSpPr>
            <p:cNvPr id="4118" name="Rectangle 22"/>
            <p:cNvSpPr>
              <a:spLocks noChangeArrowheads="1"/>
            </p:cNvSpPr>
            <p:nvPr/>
          </p:nvSpPr>
          <p:spPr bwMode="auto">
            <a:xfrm>
              <a:off x="1778" y="3433"/>
              <a:ext cx="326"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4119" name="Picture 2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20" name="Group 24"/>
          <p:cNvGrpSpPr>
            <a:grpSpLocks/>
          </p:cNvGrpSpPr>
          <p:nvPr/>
        </p:nvGrpSpPr>
        <p:grpSpPr bwMode="auto">
          <a:xfrm>
            <a:off x="1841500" y="2519363"/>
            <a:ext cx="727075" cy="858837"/>
            <a:chOff x="1201" y="3430"/>
            <a:chExt cx="353" cy="364"/>
          </a:xfrm>
        </p:grpSpPr>
        <p:sp>
          <p:nvSpPr>
            <p:cNvPr id="4121" name="Rectangle 25"/>
            <p:cNvSpPr>
              <a:spLocks noChangeArrowheads="1"/>
            </p:cNvSpPr>
            <p:nvPr/>
          </p:nvSpPr>
          <p:spPr bwMode="auto">
            <a:xfrm>
              <a:off x="1201" y="3430"/>
              <a:ext cx="301"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4122" name="Picture 2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23" name="Group 27"/>
          <p:cNvGrpSpPr>
            <a:grpSpLocks/>
          </p:cNvGrpSpPr>
          <p:nvPr/>
        </p:nvGrpSpPr>
        <p:grpSpPr bwMode="auto">
          <a:xfrm>
            <a:off x="7412038" y="2570163"/>
            <a:ext cx="942975" cy="755650"/>
            <a:chOff x="4891" y="3452"/>
            <a:chExt cx="458" cy="320"/>
          </a:xfrm>
        </p:grpSpPr>
        <p:sp>
          <p:nvSpPr>
            <p:cNvPr id="4124" name="Rectangle 28"/>
            <p:cNvSpPr>
              <a:spLocks noChangeArrowheads="1"/>
            </p:cNvSpPr>
            <p:nvPr/>
          </p:nvSpPr>
          <p:spPr bwMode="auto">
            <a:xfrm>
              <a:off x="4927" y="3452"/>
              <a:ext cx="301" cy="4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4125" name="Picture 29"/>
            <p:cNvPicPr>
              <a:picLocks noChangeArrowheads="1"/>
            </p:cNvPicPr>
            <p:nvPr/>
          </p:nvPicPr>
          <p:blipFill>
            <a:blip r:embed="rId5"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26" name="Group 30"/>
          <p:cNvGrpSpPr>
            <a:grpSpLocks/>
          </p:cNvGrpSpPr>
          <p:nvPr/>
        </p:nvGrpSpPr>
        <p:grpSpPr bwMode="auto">
          <a:xfrm>
            <a:off x="4186238" y="2549525"/>
            <a:ext cx="749300" cy="830263"/>
            <a:chOff x="2339" y="3443"/>
            <a:chExt cx="364" cy="352"/>
          </a:xfrm>
        </p:grpSpPr>
        <p:pic>
          <p:nvPicPr>
            <p:cNvPr id="4127" name="Picture 31"/>
            <p:cNvPicPr>
              <a:picLocks noChangeArrowheads="1"/>
            </p:cNvPicPr>
            <p:nvPr/>
          </p:nvPicPr>
          <p:blipFill>
            <a:blip r:embed="rId6"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28" name="Rectangle 32"/>
            <p:cNvSpPr>
              <a:spLocks noChangeArrowheads="1"/>
            </p:cNvSpPr>
            <p:nvPr/>
          </p:nvSpPr>
          <p:spPr bwMode="auto">
            <a:xfrm>
              <a:off x="2339" y="3443"/>
              <a:ext cx="301"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4129" name="Group 33"/>
          <p:cNvGrpSpPr>
            <a:grpSpLocks/>
          </p:cNvGrpSpPr>
          <p:nvPr/>
        </p:nvGrpSpPr>
        <p:grpSpPr bwMode="auto">
          <a:xfrm>
            <a:off x="652463" y="2554288"/>
            <a:ext cx="679450" cy="819150"/>
            <a:chOff x="3495" y="3436"/>
            <a:chExt cx="330" cy="347"/>
          </a:xfrm>
        </p:grpSpPr>
        <p:pic>
          <p:nvPicPr>
            <p:cNvPr id="4130" name="Picture 3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31" name="Rectangle 35"/>
            <p:cNvSpPr>
              <a:spLocks noChangeArrowheads="1"/>
            </p:cNvSpPr>
            <p:nvPr/>
          </p:nvSpPr>
          <p:spPr bwMode="auto">
            <a:xfrm>
              <a:off x="3495" y="3436"/>
              <a:ext cx="300"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4132" name="Text Box 36"/>
          <p:cNvSpPr txBox="1">
            <a:spLocks noChangeArrowheads="1"/>
          </p:cNvSpPr>
          <p:nvPr/>
        </p:nvSpPr>
        <p:spPr bwMode="auto">
          <a:xfrm>
            <a:off x="6494463" y="2276475"/>
            <a:ext cx="74453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400"/>
              <a:t>…</a:t>
            </a:r>
          </a:p>
        </p:txBody>
      </p:sp>
      <p:sp>
        <p:nvSpPr>
          <p:cNvPr id="4133" name="Rectangle 37"/>
          <p:cNvSpPr>
            <a:spLocks noChangeArrowheads="1"/>
          </p:cNvSpPr>
          <p:nvPr/>
        </p:nvSpPr>
        <p:spPr bwMode="auto">
          <a:xfrm>
            <a:off x="6029325" y="4306888"/>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4134" name="Picture 38"/>
          <p:cNvPicPr>
            <a:picLocks noChangeArrowheads="1"/>
          </p:cNvPicPr>
          <p:nvPr/>
        </p:nvPicPr>
        <p:blipFill>
          <a:blip r:embed="rId6" cstate="print">
            <a:extLst>
              <a:ext uri="{28A0092B-C50C-407E-A947-70E740481C1C}">
                <a14:useLocalDpi xmlns:a14="http://schemas.microsoft.com/office/drawing/2010/main" val="0"/>
              </a:ext>
            </a:extLst>
          </a:blip>
          <a:srcRect l="50790" b="42133"/>
          <a:stretch>
            <a:fillRect/>
          </a:stretch>
        </p:blipFill>
        <p:spPr bwMode="auto">
          <a:xfrm>
            <a:off x="6342063" y="4810125"/>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35" name="Oval 39"/>
          <p:cNvSpPr>
            <a:spLocks noChangeArrowheads="1"/>
          </p:cNvSpPr>
          <p:nvPr/>
        </p:nvSpPr>
        <p:spPr bwMode="auto">
          <a:xfrm>
            <a:off x="6864350" y="4289425"/>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36" name="Rectangle 40"/>
          <p:cNvSpPr>
            <a:spLocks noChangeArrowheads="1"/>
          </p:cNvSpPr>
          <p:nvPr/>
        </p:nvSpPr>
        <p:spPr bwMode="auto">
          <a:xfrm>
            <a:off x="6157913" y="4498975"/>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580625685</a:t>
            </a:r>
          </a:p>
        </p:txBody>
      </p:sp>
      <p:sp>
        <p:nvSpPr>
          <p:cNvPr id="4137" name="Text Box 41"/>
          <p:cNvSpPr txBox="1">
            <a:spLocks noChangeArrowheads="1"/>
          </p:cNvSpPr>
          <p:nvPr/>
        </p:nvSpPr>
        <p:spPr bwMode="auto">
          <a:xfrm>
            <a:off x="381000" y="4483100"/>
            <a:ext cx="5486400" cy="191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t>Each record in list has an associated key.</a:t>
            </a:r>
          </a:p>
          <a:p>
            <a:r>
              <a:rPr lang="en-US"/>
              <a:t>In this example, the keys are ID numbers.</a:t>
            </a:r>
          </a:p>
          <a:p>
            <a:endParaRPr lang="en-US"/>
          </a:p>
          <a:p>
            <a:r>
              <a:rPr lang="en-US"/>
              <a:t>Given a particular key, how can we efficiently retrieve the record from the list?</a:t>
            </a:r>
          </a:p>
        </p:txBody>
      </p:sp>
      <p:sp>
        <p:nvSpPr>
          <p:cNvPr id="4141" name="Line 45"/>
          <p:cNvSpPr>
            <a:spLocks noChangeShapeType="1"/>
          </p:cNvSpPr>
          <p:nvPr/>
        </p:nvSpPr>
        <p:spPr bwMode="auto">
          <a:xfrm>
            <a:off x="4038600" y="3505200"/>
            <a:ext cx="1981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3" name="Line 47"/>
          <p:cNvSpPr>
            <a:spLocks noChangeShapeType="1"/>
          </p:cNvSpPr>
          <p:nvPr/>
        </p:nvSpPr>
        <p:spPr bwMode="auto">
          <a:xfrm>
            <a:off x="5181600" y="3505200"/>
            <a:ext cx="3429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26"/>
          <p:cNvSpPr>
            <a:spLocks noGrp="1" noChangeArrowheads="1"/>
          </p:cNvSpPr>
          <p:nvPr>
            <p:ph type="title"/>
          </p:nvPr>
        </p:nvSpPr>
        <p:spPr/>
        <p:txBody>
          <a:bodyPr/>
          <a:lstStyle/>
          <a:p>
            <a:r>
              <a:rPr lang="en-US"/>
              <a:t>Serial Search</a:t>
            </a:r>
          </a:p>
        </p:txBody>
      </p:sp>
      <p:sp>
        <p:nvSpPr>
          <p:cNvPr id="71683" name="Rectangle 1027"/>
          <p:cNvSpPr>
            <a:spLocks noGrp="1" noChangeArrowheads="1"/>
          </p:cNvSpPr>
          <p:nvPr>
            <p:ph type="body" idx="1"/>
          </p:nvPr>
        </p:nvSpPr>
        <p:spPr/>
        <p:txBody>
          <a:bodyPr/>
          <a:lstStyle/>
          <a:p>
            <a:r>
              <a:rPr lang="en-US"/>
              <a:t>Step through array of records, one at a time.</a:t>
            </a:r>
          </a:p>
          <a:p>
            <a:r>
              <a:rPr lang="en-US"/>
              <a:t>Look for record with matching key.</a:t>
            </a:r>
          </a:p>
          <a:p>
            <a:r>
              <a:rPr lang="en-US"/>
              <a:t>Search stops when </a:t>
            </a:r>
          </a:p>
          <a:p>
            <a:pPr lvl="1"/>
            <a:r>
              <a:rPr lang="en-US"/>
              <a:t>record with matching key is found</a:t>
            </a:r>
          </a:p>
          <a:p>
            <a:pPr lvl="1"/>
            <a:r>
              <a:rPr lang="en-US"/>
              <a:t>or when search has examined all records without success.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26"/>
          <p:cNvSpPr>
            <a:spLocks noGrp="1" noChangeArrowheads="1"/>
          </p:cNvSpPr>
          <p:nvPr>
            <p:ph type="title"/>
          </p:nvPr>
        </p:nvSpPr>
        <p:spPr/>
        <p:txBody>
          <a:bodyPr/>
          <a:lstStyle/>
          <a:p>
            <a:r>
              <a:rPr lang="en-US"/>
              <a:t>Pseudocode for Serial Search </a:t>
            </a:r>
          </a:p>
        </p:txBody>
      </p:sp>
      <p:sp>
        <p:nvSpPr>
          <p:cNvPr id="72708" name="Text Box 1028"/>
          <p:cNvSpPr txBox="1">
            <a:spLocks noChangeArrowheads="1"/>
          </p:cNvSpPr>
          <p:nvPr/>
        </p:nvSpPr>
        <p:spPr bwMode="auto">
          <a:xfrm>
            <a:off x="669925" y="1981200"/>
            <a:ext cx="7373938"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 Search for a desired item in the n array elements </a:t>
            </a:r>
          </a:p>
          <a:p>
            <a:r>
              <a:rPr lang="en-US"/>
              <a:t>// starting at a[first].  </a:t>
            </a:r>
          </a:p>
          <a:p>
            <a:r>
              <a:rPr lang="en-US"/>
              <a:t>// Returns pointer to desired record if found.</a:t>
            </a:r>
          </a:p>
          <a:p>
            <a:r>
              <a:rPr lang="en-US"/>
              <a:t>// Otherwise, return NULL</a:t>
            </a:r>
          </a:p>
          <a:p>
            <a:r>
              <a:rPr lang="en-US"/>
              <a:t>…</a:t>
            </a:r>
          </a:p>
          <a:p>
            <a:r>
              <a:rPr lang="en-US"/>
              <a:t>for(i = first; i &lt; n; ++i )</a:t>
            </a:r>
          </a:p>
          <a:p>
            <a:r>
              <a:rPr lang="en-US"/>
              <a:t>	if(a[first+i] is desired item)</a:t>
            </a:r>
          </a:p>
          <a:p>
            <a:r>
              <a:rPr lang="en-US"/>
              <a:t>		return &amp;a[first+i];</a:t>
            </a:r>
          </a:p>
          <a:p>
            <a:endParaRPr lang="en-US"/>
          </a:p>
          <a:p>
            <a:r>
              <a:rPr lang="en-US"/>
              <a:t>// if we drop through loop, then desired item was not found</a:t>
            </a:r>
          </a:p>
          <a:p>
            <a:r>
              <a:rPr lang="en-US"/>
              <a:t>return NULL;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26"/>
          <p:cNvSpPr>
            <a:spLocks noGrp="1" noChangeArrowheads="1"/>
          </p:cNvSpPr>
          <p:nvPr>
            <p:ph type="title"/>
          </p:nvPr>
        </p:nvSpPr>
        <p:spPr/>
        <p:txBody>
          <a:bodyPr/>
          <a:lstStyle/>
          <a:p>
            <a:r>
              <a:rPr lang="en-US"/>
              <a:t>Serial Search Analysis</a:t>
            </a:r>
          </a:p>
        </p:txBody>
      </p:sp>
      <p:sp>
        <p:nvSpPr>
          <p:cNvPr id="73731" name="Rectangle 1027"/>
          <p:cNvSpPr>
            <a:spLocks noGrp="1" noChangeArrowheads="1"/>
          </p:cNvSpPr>
          <p:nvPr>
            <p:ph type="body" idx="1"/>
          </p:nvPr>
        </p:nvSpPr>
        <p:spPr/>
        <p:txBody>
          <a:bodyPr/>
          <a:lstStyle/>
          <a:p>
            <a:r>
              <a:rPr lang="en-US"/>
              <a:t>What are the worst and average case running times for serial search? </a:t>
            </a:r>
          </a:p>
          <a:p>
            <a:r>
              <a:rPr lang="en-US"/>
              <a:t>We must determine the O-notation for the number of operations required in search.</a:t>
            </a:r>
          </a:p>
          <a:p>
            <a:r>
              <a:rPr lang="en-US"/>
              <a:t>Number of operations depends on </a:t>
            </a:r>
            <a:r>
              <a:rPr lang="en-US" i="1"/>
              <a:t>n</a:t>
            </a:r>
            <a:r>
              <a:rPr lang="en-US"/>
              <a:t>, the number of entries in the list.</a:t>
            </a:r>
          </a:p>
          <a:p>
            <a:pPr>
              <a:buFontTx/>
              <a:buNone/>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26"/>
          <p:cNvSpPr>
            <a:spLocks noGrp="1" noChangeArrowheads="1"/>
          </p:cNvSpPr>
          <p:nvPr>
            <p:ph type="title"/>
          </p:nvPr>
        </p:nvSpPr>
        <p:spPr>
          <a:xfrm>
            <a:off x="457200" y="609600"/>
            <a:ext cx="8077200" cy="1143000"/>
          </a:xfrm>
        </p:spPr>
        <p:txBody>
          <a:bodyPr/>
          <a:lstStyle/>
          <a:p>
            <a:r>
              <a:rPr lang="en-US"/>
              <a:t>Worst Case Time for Serial Search</a:t>
            </a:r>
          </a:p>
        </p:txBody>
      </p:sp>
      <p:sp>
        <p:nvSpPr>
          <p:cNvPr id="74755" name="Rectangle 1027"/>
          <p:cNvSpPr>
            <a:spLocks noGrp="1" noChangeArrowheads="1"/>
          </p:cNvSpPr>
          <p:nvPr>
            <p:ph type="body" idx="1"/>
          </p:nvPr>
        </p:nvSpPr>
        <p:spPr>
          <a:xfrm>
            <a:off x="685800" y="1981200"/>
            <a:ext cx="7620000" cy="4114800"/>
          </a:xfrm>
        </p:spPr>
        <p:txBody>
          <a:bodyPr/>
          <a:lstStyle/>
          <a:p>
            <a:r>
              <a:rPr lang="en-US" sz="2800"/>
              <a:t>For an array of </a:t>
            </a:r>
            <a:r>
              <a:rPr lang="en-US" sz="2800" i="1"/>
              <a:t>n</a:t>
            </a:r>
            <a:r>
              <a:rPr lang="en-US" sz="2800"/>
              <a:t> elements, the worst case time for serial search requires </a:t>
            </a:r>
            <a:r>
              <a:rPr lang="en-US" sz="2800" i="1"/>
              <a:t>n</a:t>
            </a:r>
            <a:r>
              <a:rPr lang="en-US" sz="2800"/>
              <a:t> array accesses: O(</a:t>
            </a:r>
            <a:r>
              <a:rPr lang="en-US" sz="2800" i="1"/>
              <a:t>n</a:t>
            </a:r>
            <a:r>
              <a:rPr lang="en-US" sz="2800"/>
              <a:t>).</a:t>
            </a:r>
          </a:p>
          <a:p>
            <a:r>
              <a:rPr lang="en-US" sz="2800"/>
              <a:t>Consider cases where we must loop over all </a:t>
            </a:r>
            <a:r>
              <a:rPr lang="en-US" sz="2800" i="1"/>
              <a:t>n</a:t>
            </a:r>
            <a:r>
              <a:rPr lang="en-US" sz="2800"/>
              <a:t> records:</a:t>
            </a:r>
          </a:p>
          <a:p>
            <a:pPr lvl="1"/>
            <a:r>
              <a:rPr lang="en-US"/>
              <a:t>desired record appears in the last position of the array</a:t>
            </a:r>
          </a:p>
          <a:p>
            <a:pPr lvl="1"/>
            <a:r>
              <a:rPr lang="en-US"/>
              <a:t>desired record does not appear in the array at 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26"/>
          <p:cNvSpPr>
            <a:spLocks noGrp="1" noChangeArrowheads="1"/>
          </p:cNvSpPr>
          <p:nvPr>
            <p:ph type="title"/>
          </p:nvPr>
        </p:nvSpPr>
        <p:spPr/>
        <p:txBody>
          <a:bodyPr/>
          <a:lstStyle/>
          <a:p>
            <a:r>
              <a:rPr lang="en-US"/>
              <a:t>Average Case for Serial Search</a:t>
            </a:r>
          </a:p>
        </p:txBody>
      </p:sp>
      <p:sp>
        <p:nvSpPr>
          <p:cNvPr id="75779" name="Rectangle 1027"/>
          <p:cNvSpPr>
            <a:spLocks noGrp="1" noChangeArrowheads="1"/>
          </p:cNvSpPr>
          <p:nvPr>
            <p:ph type="body" idx="1"/>
          </p:nvPr>
        </p:nvSpPr>
        <p:spPr>
          <a:xfrm>
            <a:off x="685800" y="1905000"/>
            <a:ext cx="8153400" cy="4114800"/>
          </a:xfrm>
        </p:spPr>
        <p:txBody>
          <a:bodyPr/>
          <a:lstStyle/>
          <a:p>
            <a:pPr marL="609600" indent="-609600">
              <a:lnSpc>
                <a:spcPct val="90000"/>
              </a:lnSpc>
              <a:buFontTx/>
              <a:buNone/>
            </a:pPr>
            <a:r>
              <a:rPr lang="en-US" sz="2800"/>
              <a:t>Assumptions:</a:t>
            </a:r>
          </a:p>
          <a:p>
            <a:pPr marL="990600" lvl="1" indent="-533400">
              <a:lnSpc>
                <a:spcPct val="90000"/>
              </a:lnSpc>
              <a:buFontTx/>
              <a:buAutoNum type="arabicPeriod"/>
            </a:pPr>
            <a:r>
              <a:rPr lang="en-US" sz="2400"/>
              <a:t>All keys are equally likely in a search</a:t>
            </a:r>
          </a:p>
          <a:p>
            <a:pPr marL="990600" lvl="1" indent="-533400">
              <a:lnSpc>
                <a:spcPct val="90000"/>
              </a:lnSpc>
              <a:buFontTx/>
              <a:buAutoNum type="arabicPeriod"/>
            </a:pPr>
            <a:r>
              <a:rPr lang="en-US" sz="2400"/>
              <a:t>We always search for a key that is in the array</a:t>
            </a:r>
          </a:p>
          <a:p>
            <a:pPr marL="609600" indent="-609600">
              <a:lnSpc>
                <a:spcPct val="90000"/>
              </a:lnSpc>
              <a:buFontTx/>
              <a:buNone/>
            </a:pPr>
            <a:r>
              <a:rPr lang="en-US" sz="2800"/>
              <a:t>Example: </a:t>
            </a:r>
          </a:p>
          <a:p>
            <a:pPr marL="609600" indent="-609600">
              <a:lnSpc>
                <a:spcPct val="90000"/>
              </a:lnSpc>
            </a:pPr>
            <a:r>
              <a:rPr lang="en-US" sz="2800"/>
              <a:t>We have an array of 10 records.</a:t>
            </a:r>
          </a:p>
          <a:p>
            <a:pPr marL="609600" indent="-609600">
              <a:lnSpc>
                <a:spcPct val="90000"/>
              </a:lnSpc>
            </a:pPr>
            <a:r>
              <a:rPr lang="en-US" sz="2800"/>
              <a:t>If search for the first record, then it requires 1 array access; if the second, then 2 array accesses. </a:t>
            </a:r>
            <a:r>
              <a:rPr lang="en-US" sz="2800" i="1"/>
              <a:t>etc.</a:t>
            </a:r>
          </a:p>
          <a:p>
            <a:pPr marL="609600" indent="-609600">
              <a:lnSpc>
                <a:spcPct val="90000"/>
              </a:lnSpc>
              <a:buFontTx/>
              <a:buNone/>
            </a:pPr>
            <a:r>
              <a:rPr lang="en-US" sz="2800"/>
              <a:t>The average of all these searches is:</a:t>
            </a:r>
          </a:p>
          <a:p>
            <a:pPr marL="990600" lvl="1" indent="-533400">
              <a:lnSpc>
                <a:spcPct val="90000"/>
              </a:lnSpc>
              <a:buFontTx/>
              <a:buNone/>
            </a:pPr>
            <a:r>
              <a:rPr lang="en-US" sz="2400" i="1"/>
              <a:t>(1+2+3+4+5+6+7+8+9+10)/10 = 5.5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p:cNvSpPr>
            <a:spLocks noGrp="1" noChangeArrowheads="1"/>
          </p:cNvSpPr>
          <p:nvPr>
            <p:ph type="title"/>
          </p:nvPr>
        </p:nvSpPr>
        <p:spPr>
          <a:xfrm>
            <a:off x="152400" y="304800"/>
            <a:ext cx="8915400" cy="1143000"/>
          </a:xfrm>
        </p:spPr>
        <p:txBody>
          <a:bodyPr/>
          <a:lstStyle/>
          <a:p>
            <a:r>
              <a:rPr lang="en-US"/>
              <a:t>Average Case Time for Serial Search</a:t>
            </a:r>
          </a:p>
        </p:txBody>
      </p:sp>
      <p:sp>
        <p:nvSpPr>
          <p:cNvPr id="76803" name="Rectangle 1027"/>
          <p:cNvSpPr>
            <a:spLocks noGrp="1" noChangeArrowheads="1"/>
          </p:cNvSpPr>
          <p:nvPr>
            <p:ph type="body" idx="1"/>
          </p:nvPr>
        </p:nvSpPr>
        <p:spPr/>
        <p:txBody>
          <a:bodyPr/>
          <a:lstStyle/>
          <a:p>
            <a:pPr>
              <a:lnSpc>
                <a:spcPct val="90000"/>
              </a:lnSpc>
              <a:buFontTx/>
              <a:buNone/>
            </a:pPr>
            <a:r>
              <a:rPr lang="en-US" sz="2800"/>
              <a:t>Generalize for array size </a:t>
            </a:r>
            <a:r>
              <a:rPr lang="en-US" sz="2800" i="1"/>
              <a:t>n.</a:t>
            </a:r>
          </a:p>
          <a:p>
            <a:pPr>
              <a:lnSpc>
                <a:spcPct val="90000"/>
              </a:lnSpc>
              <a:buFontTx/>
              <a:buNone/>
            </a:pPr>
            <a:endParaRPr lang="en-US" sz="2800" i="1"/>
          </a:p>
          <a:p>
            <a:pPr>
              <a:lnSpc>
                <a:spcPct val="90000"/>
              </a:lnSpc>
              <a:buFontTx/>
              <a:buNone/>
            </a:pPr>
            <a:r>
              <a:rPr lang="en-US" sz="2800"/>
              <a:t>Expression for average-case running time:</a:t>
            </a:r>
          </a:p>
          <a:p>
            <a:pPr>
              <a:lnSpc>
                <a:spcPct val="90000"/>
              </a:lnSpc>
              <a:buFontTx/>
              <a:buNone/>
            </a:pPr>
            <a:endParaRPr lang="en-US" sz="2800"/>
          </a:p>
          <a:p>
            <a:pPr>
              <a:lnSpc>
                <a:spcPct val="90000"/>
              </a:lnSpc>
              <a:buFontTx/>
              <a:buNone/>
            </a:pPr>
            <a:r>
              <a:rPr lang="en-US" sz="2800"/>
              <a:t>(1+2+…+n)/n = n(n+1)/2n = (n+1)/2 </a:t>
            </a:r>
          </a:p>
          <a:p>
            <a:pPr>
              <a:lnSpc>
                <a:spcPct val="90000"/>
              </a:lnSpc>
              <a:buFontTx/>
              <a:buNone/>
            </a:pPr>
            <a:endParaRPr lang="en-US" sz="2800"/>
          </a:p>
          <a:p>
            <a:pPr>
              <a:lnSpc>
                <a:spcPct val="90000"/>
              </a:lnSpc>
              <a:buFontTx/>
              <a:buNone/>
            </a:pPr>
            <a:r>
              <a:rPr lang="en-US" sz="2800"/>
              <a:t>Therefore, average case time complexity for serial search is O(n).</a:t>
            </a:r>
          </a:p>
          <a:p>
            <a:pPr>
              <a:lnSpc>
                <a:spcPct val="90000"/>
              </a:lnSpc>
              <a:buFontTx/>
              <a:buNone/>
            </a:pPr>
            <a:r>
              <a:rPr lang="en-US" sz="2800" i="1"/>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26"/>
          <p:cNvSpPr>
            <a:spLocks noGrp="1" noChangeArrowheads="1"/>
          </p:cNvSpPr>
          <p:nvPr>
            <p:ph type="title"/>
          </p:nvPr>
        </p:nvSpPr>
        <p:spPr/>
        <p:txBody>
          <a:bodyPr/>
          <a:lstStyle/>
          <a:p>
            <a:r>
              <a:rPr lang="en-US"/>
              <a:t>Binary Search</a:t>
            </a:r>
          </a:p>
        </p:txBody>
      </p:sp>
      <p:sp>
        <p:nvSpPr>
          <p:cNvPr id="77827" name="Rectangle 1027"/>
          <p:cNvSpPr>
            <a:spLocks noGrp="1" noChangeArrowheads="1"/>
          </p:cNvSpPr>
          <p:nvPr>
            <p:ph type="body" idx="1"/>
          </p:nvPr>
        </p:nvSpPr>
        <p:spPr/>
        <p:txBody>
          <a:bodyPr/>
          <a:lstStyle/>
          <a:p>
            <a:r>
              <a:rPr lang="en-US"/>
              <a:t>Perhaps we can do better than O(n) in the average case?</a:t>
            </a:r>
          </a:p>
          <a:p>
            <a:r>
              <a:rPr lang="en-US"/>
              <a:t>Assume that we are give an array of records that is sorted.  For instance:</a:t>
            </a:r>
          </a:p>
          <a:p>
            <a:pPr lvl="1"/>
            <a:r>
              <a:rPr lang="en-US"/>
              <a:t>an array of records with integer keys sorted from smallest to largest (e.g., ID numbers), or</a:t>
            </a:r>
          </a:p>
          <a:p>
            <a:pPr lvl="1"/>
            <a:r>
              <a:rPr lang="en-US"/>
              <a:t>an array of records with string keys sorted in alphabetical order (e.g., names).</a:t>
            </a:r>
          </a:p>
          <a:p>
            <a:pPr>
              <a:buFontTx/>
              <a:buNone/>
            </a:pPr>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p:cNvSpPr>
            <a:spLocks noGrp="1" noChangeArrowheads="1"/>
          </p:cNvSpPr>
          <p:nvPr>
            <p:ph type="title"/>
          </p:nvPr>
        </p:nvSpPr>
        <p:spPr>
          <a:xfrm>
            <a:off x="685800" y="533400"/>
            <a:ext cx="7772400" cy="1143000"/>
          </a:xfrm>
        </p:spPr>
        <p:txBody>
          <a:bodyPr/>
          <a:lstStyle/>
          <a:p>
            <a:r>
              <a:rPr lang="en-US"/>
              <a:t>Binary Search Pseudocode</a:t>
            </a:r>
          </a:p>
        </p:txBody>
      </p:sp>
      <p:sp>
        <p:nvSpPr>
          <p:cNvPr id="78851" name="Rectangle 1027"/>
          <p:cNvSpPr>
            <a:spLocks noGrp="1" noChangeArrowheads="1"/>
          </p:cNvSpPr>
          <p:nvPr>
            <p:ph type="body" idx="1"/>
          </p:nvPr>
        </p:nvSpPr>
        <p:spPr>
          <a:xfrm>
            <a:off x="685800" y="1752600"/>
            <a:ext cx="7772400" cy="4114800"/>
          </a:xfrm>
        </p:spPr>
        <p:txBody>
          <a:bodyPr/>
          <a:lstStyle/>
          <a:p>
            <a:pPr>
              <a:lnSpc>
                <a:spcPct val="90000"/>
              </a:lnSpc>
              <a:buFontTx/>
              <a:buNone/>
            </a:pPr>
            <a:r>
              <a:rPr lang="en-US" sz="2000"/>
              <a:t>…</a:t>
            </a:r>
          </a:p>
          <a:p>
            <a:pPr>
              <a:lnSpc>
                <a:spcPct val="90000"/>
              </a:lnSpc>
              <a:buFontTx/>
              <a:buNone/>
            </a:pPr>
            <a:r>
              <a:rPr lang="en-US" sz="2000"/>
              <a:t>if(size == 0)</a:t>
            </a:r>
          </a:p>
          <a:p>
            <a:pPr>
              <a:lnSpc>
                <a:spcPct val="90000"/>
              </a:lnSpc>
              <a:buFontTx/>
              <a:buNone/>
            </a:pPr>
            <a:r>
              <a:rPr lang="en-US" sz="2000"/>
              <a:t>	found = false;</a:t>
            </a:r>
          </a:p>
          <a:p>
            <a:pPr>
              <a:lnSpc>
                <a:spcPct val="90000"/>
              </a:lnSpc>
              <a:buFontTx/>
              <a:buNone/>
            </a:pPr>
            <a:r>
              <a:rPr lang="en-US" sz="2000"/>
              <a:t>else {</a:t>
            </a:r>
          </a:p>
          <a:p>
            <a:pPr>
              <a:lnSpc>
                <a:spcPct val="90000"/>
              </a:lnSpc>
              <a:buFontTx/>
              <a:buNone/>
            </a:pPr>
            <a:r>
              <a:rPr lang="en-US" sz="2000"/>
              <a:t>	middle = index of approximate midpoint of array segment;</a:t>
            </a:r>
          </a:p>
          <a:p>
            <a:pPr>
              <a:lnSpc>
                <a:spcPct val="90000"/>
              </a:lnSpc>
              <a:buFontTx/>
              <a:buNone/>
            </a:pPr>
            <a:r>
              <a:rPr lang="en-US" sz="2000"/>
              <a:t>	if(target == a[middle])</a:t>
            </a:r>
          </a:p>
          <a:p>
            <a:pPr>
              <a:lnSpc>
                <a:spcPct val="90000"/>
              </a:lnSpc>
              <a:buFontTx/>
              <a:buNone/>
            </a:pPr>
            <a:r>
              <a:rPr lang="en-US" sz="2000"/>
              <a:t>		target has been found!</a:t>
            </a:r>
          </a:p>
          <a:p>
            <a:pPr>
              <a:lnSpc>
                <a:spcPct val="90000"/>
              </a:lnSpc>
              <a:buFontTx/>
              <a:buNone/>
            </a:pPr>
            <a:r>
              <a:rPr lang="en-US" sz="2000"/>
              <a:t>	else if(target &lt; a[middle])</a:t>
            </a:r>
          </a:p>
          <a:p>
            <a:pPr>
              <a:lnSpc>
                <a:spcPct val="90000"/>
              </a:lnSpc>
              <a:buFontTx/>
              <a:buNone/>
            </a:pPr>
            <a:r>
              <a:rPr lang="en-US" sz="2000"/>
              <a:t>		search for target in area before midpoint;</a:t>
            </a:r>
          </a:p>
          <a:p>
            <a:pPr>
              <a:lnSpc>
                <a:spcPct val="90000"/>
              </a:lnSpc>
              <a:buFontTx/>
              <a:buNone/>
            </a:pPr>
            <a:r>
              <a:rPr lang="en-US" sz="2000"/>
              <a:t>	else</a:t>
            </a:r>
          </a:p>
          <a:p>
            <a:pPr>
              <a:lnSpc>
                <a:spcPct val="90000"/>
              </a:lnSpc>
              <a:buFontTx/>
              <a:buNone/>
            </a:pPr>
            <a:r>
              <a:rPr lang="en-US" sz="2000"/>
              <a:t>		search for target in area after midpoint;</a:t>
            </a:r>
          </a:p>
          <a:p>
            <a:pPr>
              <a:lnSpc>
                <a:spcPct val="90000"/>
              </a:lnSpc>
              <a:buFontTx/>
              <a:buNone/>
            </a:pPr>
            <a:r>
              <a:rPr lang="en-US" sz="2000"/>
              <a:t>}</a:t>
            </a:r>
          </a:p>
          <a:p>
            <a:pPr>
              <a:lnSpc>
                <a:spcPct val="90000"/>
              </a:lnSpc>
              <a:buFontTx/>
              <a:buNone/>
            </a:pPr>
            <a:r>
              <a:rPr lang="en-US" sz="2000"/>
              <a:t>…</a:t>
            </a:r>
          </a:p>
          <a:p>
            <a:pPr>
              <a:lnSpc>
                <a:spcPct val="90000"/>
              </a:lnSpc>
              <a:buFontTx/>
              <a:buNone/>
            </a:pPr>
            <a:r>
              <a:rPr lang="en-US" sz="200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lstStyle/>
          <a:p>
            <a:r>
              <a:rPr lang="en-US"/>
              <a:t>Binary Search</a:t>
            </a:r>
          </a:p>
        </p:txBody>
      </p:sp>
      <p:sp>
        <p:nvSpPr>
          <p:cNvPr id="93187" name="Rectangle 3"/>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93188" name="Rectangle 4"/>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93189" name="Text Box 5"/>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93190" name="Rectangle 6"/>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3191" name="Rectangle 7"/>
          <p:cNvSpPr>
            <a:spLocks noChangeArrowheads="1"/>
          </p:cNvSpPr>
          <p:nvPr/>
        </p:nvSpPr>
        <p:spPr bwMode="auto">
          <a:xfrm>
            <a:off x="1905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3192" name="Rectangle 8"/>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3193" name="Rectangle 9"/>
          <p:cNvSpPr>
            <a:spLocks noChangeArrowheads="1"/>
          </p:cNvSpPr>
          <p:nvPr/>
        </p:nvSpPr>
        <p:spPr bwMode="auto">
          <a:xfrm>
            <a:off x="37338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3194" name="Rectangle 10"/>
          <p:cNvSpPr>
            <a:spLocks noChangeArrowheads="1"/>
          </p:cNvSpPr>
          <p:nvPr/>
        </p:nvSpPr>
        <p:spPr bwMode="auto">
          <a:xfrm>
            <a:off x="46482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3195" name="Rectangle 11"/>
          <p:cNvSpPr>
            <a:spLocks noChangeArrowheads="1"/>
          </p:cNvSpPr>
          <p:nvPr/>
        </p:nvSpPr>
        <p:spPr bwMode="auto">
          <a:xfrm>
            <a:off x="5562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3196" name="Rectangle 12"/>
          <p:cNvSpPr>
            <a:spLocks noChangeArrowheads="1"/>
          </p:cNvSpPr>
          <p:nvPr/>
        </p:nvSpPr>
        <p:spPr bwMode="auto">
          <a:xfrm>
            <a:off x="6477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3197" name="Rectangle 13"/>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93198" name="Rectangle 14"/>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93199" name="Rectangle 15"/>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93200" name="Rectangle 16"/>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93201" name="Rectangle 17"/>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p:cNvSpPr>
            <a:spLocks noGrp="1" noChangeArrowheads="1"/>
          </p:cNvSpPr>
          <p:nvPr>
            <p:ph type="title"/>
          </p:nvPr>
        </p:nvSpPr>
        <p:spPr/>
        <p:txBody>
          <a:bodyPr/>
          <a:lstStyle/>
          <a:p>
            <a:r>
              <a:rPr lang="en-US"/>
              <a:t>Binary Search</a:t>
            </a:r>
          </a:p>
        </p:txBody>
      </p:sp>
      <p:sp>
        <p:nvSpPr>
          <p:cNvPr id="80899"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0900"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0901"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0902"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0903" name="Rectangle 1031"/>
          <p:cNvSpPr>
            <a:spLocks noChangeArrowheads="1"/>
          </p:cNvSpPr>
          <p:nvPr/>
        </p:nvSpPr>
        <p:spPr bwMode="auto">
          <a:xfrm>
            <a:off x="1905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0904"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0905" name="Rectangle 1033"/>
          <p:cNvSpPr>
            <a:spLocks noChangeArrowheads="1"/>
          </p:cNvSpPr>
          <p:nvPr/>
        </p:nvSpPr>
        <p:spPr bwMode="auto">
          <a:xfrm>
            <a:off x="37338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0906" name="Rectangle 1034"/>
          <p:cNvSpPr>
            <a:spLocks noChangeArrowheads="1"/>
          </p:cNvSpPr>
          <p:nvPr/>
        </p:nvSpPr>
        <p:spPr bwMode="auto">
          <a:xfrm>
            <a:off x="46482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0907" name="Rectangle 1035"/>
          <p:cNvSpPr>
            <a:spLocks noChangeArrowheads="1"/>
          </p:cNvSpPr>
          <p:nvPr/>
        </p:nvSpPr>
        <p:spPr bwMode="auto">
          <a:xfrm>
            <a:off x="5562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0908" name="Rectangle 1036"/>
          <p:cNvSpPr>
            <a:spLocks noChangeArrowheads="1"/>
          </p:cNvSpPr>
          <p:nvPr/>
        </p:nvSpPr>
        <p:spPr bwMode="auto">
          <a:xfrm>
            <a:off x="6477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0909"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0910"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0911"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0912"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0913"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0914" name="Line 1042"/>
          <p:cNvSpPr>
            <a:spLocks noChangeShapeType="1"/>
          </p:cNvSpPr>
          <p:nvPr/>
        </p:nvSpPr>
        <p:spPr bwMode="auto">
          <a:xfrm>
            <a:off x="4267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5" name="Text Box 1043"/>
          <p:cNvSpPr txBox="1">
            <a:spLocks noChangeArrowheads="1"/>
          </p:cNvSpPr>
          <p:nvPr/>
        </p:nvSpPr>
        <p:spPr bwMode="auto">
          <a:xfrm>
            <a:off x="2590800" y="5756275"/>
            <a:ext cx="3514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Find approximate midpoint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26"/>
          <p:cNvSpPr>
            <a:spLocks noGrp="1" noChangeArrowheads="1"/>
          </p:cNvSpPr>
          <p:nvPr>
            <p:ph type="title"/>
          </p:nvPr>
        </p:nvSpPr>
        <p:spPr/>
        <p:txBody>
          <a:bodyPr/>
          <a:lstStyle/>
          <a:p>
            <a:r>
              <a:rPr lang="en-US"/>
              <a:t>Binary Search</a:t>
            </a:r>
          </a:p>
        </p:txBody>
      </p:sp>
      <p:sp>
        <p:nvSpPr>
          <p:cNvPr id="81923"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1924"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1925"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1926"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1927" name="Rectangle 1031"/>
          <p:cNvSpPr>
            <a:spLocks noChangeArrowheads="1"/>
          </p:cNvSpPr>
          <p:nvPr/>
        </p:nvSpPr>
        <p:spPr bwMode="auto">
          <a:xfrm>
            <a:off x="1905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1928"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1929" name="Rectangle 1033"/>
          <p:cNvSpPr>
            <a:spLocks noChangeArrowheads="1"/>
          </p:cNvSpPr>
          <p:nvPr/>
        </p:nvSpPr>
        <p:spPr bwMode="auto">
          <a:xfrm>
            <a:off x="37338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1930" name="Rectangle 1034"/>
          <p:cNvSpPr>
            <a:spLocks noChangeArrowheads="1"/>
          </p:cNvSpPr>
          <p:nvPr/>
        </p:nvSpPr>
        <p:spPr bwMode="auto">
          <a:xfrm>
            <a:off x="46482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1931" name="Rectangle 1035"/>
          <p:cNvSpPr>
            <a:spLocks noChangeArrowheads="1"/>
          </p:cNvSpPr>
          <p:nvPr/>
        </p:nvSpPr>
        <p:spPr bwMode="auto">
          <a:xfrm>
            <a:off x="5562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1932" name="Rectangle 1036"/>
          <p:cNvSpPr>
            <a:spLocks noChangeArrowheads="1"/>
          </p:cNvSpPr>
          <p:nvPr/>
        </p:nvSpPr>
        <p:spPr bwMode="auto">
          <a:xfrm>
            <a:off x="6477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1933"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1934"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1935"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1936"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1937"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1938" name="Line 1042"/>
          <p:cNvSpPr>
            <a:spLocks noChangeShapeType="1"/>
          </p:cNvSpPr>
          <p:nvPr/>
        </p:nvSpPr>
        <p:spPr bwMode="auto">
          <a:xfrm>
            <a:off x="4267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39" name="Text Box 1043"/>
          <p:cNvSpPr txBox="1">
            <a:spLocks noChangeArrowheads="1"/>
          </p:cNvSpPr>
          <p:nvPr/>
        </p:nvSpPr>
        <p:spPr bwMode="auto">
          <a:xfrm>
            <a:off x="2830513" y="5756275"/>
            <a:ext cx="33766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Is 7 = midpoint key?  NO.</a:t>
            </a:r>
          </a:p>
          <a:p>
            <a:r>
              <a:rPr lang="en-US"/>
              <a: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26"/>
          <p:cNvSpPr>
            <a:spLocks noGrp="1" noChangeArrowheads="1"/>
          </p:cNvSpPr>
          <p:nvPr>
            <p:ph type="title"/>
          </p:nvPr>
        </p:nvSpPr>
        <p:spPr/>
        <p:txBody>
          <a:bodyPr/>
          <a:lstStyle/>
          <a:p>
            <a:r>
              <a:rPr lang="en-US"/>
              <a:t>Binary Search</a:t>
            </a:r>
          </a:p>
        </p:txBody>
      </p:sp>
      <p:sp>
        <p:nvSpPr>
          <p:cNvPr id="82947"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2948"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2949"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2950"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2951" name="Rectangle 1031"/>
          <p:cNvSpPr>
            <a:spLocks noChangeArrowheads="1"/>
          </p:cNvSpPr>
          <p:nvPr/>
        </p:nvSpPr>
        <p:spPr bwMode="auto">
          <a:xfrm>
            <a:off x="1905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2952"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2953" name="Rectangle 1033"/>
          <p:cNvSpPr>
            <a:spLocks noChangeArrowheads="1"/>
          </p:cNvSpPr>
          <p:nvPr/>
        </p:nvSpPr>
        <p:spPr bwMode="auto">
          <a:xfrm>
            <a:off x="37338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2954" name="Rectangle 1034"/>
          <p:cNvSpPr>
            <a:spLocks noChangeArrowheads="1"/>
          </p:cNvSpPr>
          <p:nvPr/>
        </p:nvSpPr>
        <p:spPr bwMode="auto">
          <a:xfrm>
            <a:off x="46482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2955" name="Rectangle 1035"/>
          <p:cNvSpPr>
            <a:spLocks noChangeArrowheads="1"/>
          </p:cNvSpPr>
          <p:nvPr/>
        </p:nvSpPr>
        <p:spPr bwMode="auto">
          <a:xfrm>
            <a:off x="5562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2956" name="Rectangle 1036"/>
          <p:cNvSpPr>
            <a:spLocks noChangeArrowheads="1"/>
          </p:cNvSpPr>
          <p:nvPr/>
        </p:nvSpPr>
        <p:spPr bwMode="auto">
          <a:xfrm>
            <a:off x="6477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2957"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2958"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2959"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2960"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2961"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2962" name="Line 1042"/>
          <p:cNvSpPr>
            <a:spLocks noChangeShapeType="1"/>
          </p:cNvSpPr>
          <p:nvPr/>
        </p:nvSpPr>
        <p:spPr bwMode="auto">
          <a:xfrm>
            <a:off x="4267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963" name="Text Box 1043"/>
          <p:cNvSpPr txBox="1">
            <a:spLocks noChangeArrowheads="1"/>
          </p:cNvSpPr>
          <p:nvPr/>
        </p:nvSpPr>
        <p:spPr bwMode="auto">
          <a:xfrm>
            <a:off x="2708275" y="5756275"/>
            <a:ext cx="343535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Is 7 &lt; midpoint key? YES.</a:t>
            </a:r>
          </a:p>
          <a:p>
            <a:pPr algn="ctr"/>
            <a:endParaRPr lang="en-US"/>
          </a:p>
          <a:p>
            <a:pPr algn="ctr"/>
            <a:r>
              <a:rPr lang="en-US"/>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26"/>
          <p:cNvSpPr>
            <a:spLocks noGrp="1" noChangeArrowheads="1"/>
          </p:cNvSpPr>
          <p:nvPr>
            <p:ph type="title"/>
          </p:nvPr>
        </p:nvSpPr>
        <p:spPr/>
        <p:txBody>
          <a:bodyPr/>
          <a:lstStyle/>
          <a:p>
            <a:r>
              <a:rPr lang="en-US"/>
              <a:t>Binary Search</a:t>
            </a:r>
          </a:p>
        </p:txBody>
      </p:sp>
      <p:sp>
        <p:nvSpPr>
          <p:cNvPr id="84995"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4996"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4997"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4998"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4999" name="Rectangle 1031"/>
          <p:cNvSpPr>
            <a:spLocks noChangeArrowheads="1"/>
          </p:cNvSpPr>
          <p:nvPr/>
        </p:nvSpPr>
        <p:spPr bwMode="auto">
          <a:xfrm>
            <a:off x="1905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5000"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5001" name="Rectangle 1033"/>
          <p:cNvSpPr>
            <a:spLocks noChangeArrowheads="1"/>
          </p:cNvSpPr>
          <p:nvPr/>
        </p:nvSpPr>
        <p:spPr bwMode="auto">
          <a:xfrm>
            <a:off x="37338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5002" name="Rectangle 1034"/>
          <p:cNvSpPr>
            <a:spLocks noChangeArrowheads="1"/>
          </p:cNvSpPr>
          <p:nvPr/>
        </p:nvSpPr>
        <p:spPr bwMode="auto">
          <a:xfrm>
            <a:off x="46482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5003" name="Rectangle 1035"/>
          <p:cNvSpPr>
            <a:spLocks noChangeArrowheads="1"/>
          </p:cNvSpPr>
          <p:nvPr/>
        </p:nvSpPr>
        <p:spPr bwMode="auto">
          <a:xfrm>
            <a:off x="5562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5004" name="Rectangle 1036"/>
          <p:cNvSpPr>
            <a:spLocks noChangeArrowheads="1"/>
          </p:cNvSpPr>
          <p:nvPr/>
        </p:nvSpPr>
        <p:spPr bwMode="auto">
          <a:xfrm>
            <a:off x="6477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5005"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5006"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5007"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5008"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5009"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5010" name="Text Box 1042"/>
          <p:cNvSpPr txBox="1">
            <a:spLocks noChangeArrowheads="1"/>
          </p:cNvSpPr>
          <p:nvPr/>
        </p:nvSpPr>
        <p:spPr bwMode="auto">
          <a:xfrm>
            <a:off x="1517650" y="5257800"/>
            <a:ext cx="61087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Search for the target in the area before midpoint.</a:t>
            </a:r>
          </a:p>
          <a:p>
            <a:pPr algn="ctr"/>
            <a:r>
              <a:rPr lang="en-US"/>
              <a:t> </a:t>
            </a:r>
          </a:p>
        </p:txBody>
      </p:sp>
      <p:sp>
        <p:nvSpPr>
          <p:cNvPr id="85011" name="AutoShape 1043"/>
          <p:cNvSpPr>
            <a:spLocks/>
          </p:cNvSpPr>
          <p:nvPr/>
        </p:nvSpPr>
        <p:spPr bwMode="auto">
          <a:xfrm rot="-5400000">
            <a:off x="2095500" y="3314700"/>
            <a:ext cx="533400" cy="2743200"/>
          </a:xfrm>
          <a:prstGeom prst="leftBrace">
            <a:avLst>
              <a:gd name="adj1" fmla="val 4285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6"/>
          <p:cNvSpPr>
            <a:spLocks noGrp="1" noChangeArrowheads="1"/>
          </p:cNvSpPr>
          <p:nvPr>
            <p:ph type="title"/>
          </p:nvPr>
        </p:nvSpPr>
        <p:spPr/>
        <p:txBody>
          <a:bodyPr/>
          <a:lstStyle/>
          <a:p>
            <a:r>
              <a:rPr lang="en-US"/>
              <a:t>Binary Search</a:t>
            </a:r>
          </a:p>
        </p:txBody>
      </p:sp>
      <p:sp>
        <p:nvSpPr>
          <p:cNvPr id="86019"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6020"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6021"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6022"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6023" name="Rectangle 1031"/>
          <p:cNvSpPr>
            <a:spLocks noChangeArrowheads="1"/>
          </p:cNvSpPr>
          <p:nvPr/>
        </p:nvSpPr>
        <p:spPr bwMode="auto">
          <a:xfrm>
            <a:off x="19050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6024"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6025" name="Rectangle 1033"/>
          <p:cNvSpPr>
            <a:spLocks noChangeArrowheads="1"/>
          </p:cNvSpPr>
          <p:nvPr/>
        </p:nvSpPr>
        <p:spPr bwMode="auto">
          <a:xfrm>
            <a:off x="37338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6026" name="Rectangle 1034"/>
          <p:cNvSpPr>
            <a:spLocks noChangeArrowheads="1"/>
          </p:cNvSpPr>
          <p:nvPr/>
        </p:nvSpPr>
        <p:spPr bwMode="auto">
          <a:xfrm>
            <a:off x="46482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6027" name="Rectangle 1035"/>
          <p:cNvSpPr>
            <a:spLocks noChangeArrowheads="1"/>
          </p:cNvSpPr>
          <p:nvPr/>
        </p:nvSpPr>
        <p:spPr bwMode="auto">
          <a:xfrm>
            <a:off x="5562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6028" name="Rectangle 1036"/>
          <p:cNvSpPr>
            <a:spLocks noChangeArrowheads="1"/>
          </p:cNvSpPr>
          <p:nvPr/>
        </p:nvSpPr>
        <p:spPr bwMode="auto">
          <a:xfrm>
            <a:off x="6477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6029"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6030"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6031"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6032"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6033"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6036" name="Line 1044"/>
          <p:cNvSpPr>
            <a:spLocks noChangeShapeType="1"/>
          </p:cNvSpPr>
          <p:nvPr/>
        </p:nvSpPr>
        <p:spPr bwMode="auto">
          <a:xfrm>
            <a:off x="2362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6037" name="Text Box 1045"/>
          <p:cNvSpPr txBox="1">
            <a:spLocks noChangeArrowheads="1"/>
          </p:cNvSpPr>
          <p:nvPr/>
        </p:nvSpPr>
        <p:spPr bwMode="auto">
          <a:xfrm>
            <a:off x="685800" y="5756275"/>
            <a:ext cx="3514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Find approximate midpoint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Grp="1" noChangeArrowheads="1"/>
          </p:cNvSpPr>
          <p:nvPr>
            <p:ph type="title"/>
          </p:nvPr>
        </p:nvSpPr>
        <p:spPr/>
        <p:txBody>
          <a:bodyPr/>
          <a:lstStyle/>
          <a:p>
            <a:r>
              <a:rPr lang="en-US"/>
              <a:t>Binary Search</a:t>
            </a:r>
          </a:p>
        </p:txBody>
      </p:sp>
      <p:sp>
        <p:nvSpPr>
          <p:cNvPr id="87043"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7044"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7045"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7046"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7047" name="Rectangle 1031"/>
          <p:cNvSpPr>
            <a:spLocks noChangeArrowheads="1"/>
          </p:cNvSpPr>
          <p:nvPr/>
        </p:nvSpPr>
        <p:spPr bwMode="auto">
          <a:xfrm>
            <a:off x="19050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7048"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7049" name="Rectangle 1033"/>
          <p:cNvSpPr>
            <a:spLocks noChangeArrowheads="1"/>
          </p:cNvSpPr>
          <p:nvPr/>
        </p:nvSpPr>
        <p:spPr bwMode="auto">
          <a:xfrm>
            <a:off x="37338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7050" name="Rectangle 1034"/>
          <p:cNvSpPr>
            <a:spLocks noChangeArrowheads="1"/>
          </p:cNvSpPr>
          <p:nvPr/>
        </p:nvSpPr>
        <p:spPr bwMode="auto">
          <a:xfrm>
            <a:off x="46482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7051" name="Rectangle 1035"/>
          <p:cNvSpPr>
            <a:spLocks noChangeArrowheads="1"/>
          </p:cNvSpPr>
          <p:nvPr/>
        </p:nvSpPr>
        <p:spPr bwMode="auto">
          <a:xfrm>
            <a:off x="5562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7052" name="Rectangle 1036"/>
          <p:cNvSpPr>
            <a:spLocks noChangeArrowheads="1"/>
          </p:cNvSpPr>
          <p:nvPr/>
        </p:nvSpPr>
        <p:spPr bwMode="auto">
          <a:xfrm>
            <a:off x="6477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7053"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7054"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7055"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7056"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7057"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7058" name="Line 1042"/>
          <p:cNvSpPr>
            <a:spLocks noChangeShapeType="1"/>
          </p:cNvSpPr>
          <p:nvPr/>
        </p:nvSpPr>
        <p:spPr bwMode="auto">
          <a:xfrm>
            <a:off x="2362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7059" name="Text Box 1043"/>
          <p:cNvSpPr txBox="1">
            <a:spLocks noChangeArrowheads="1"/>
          </p:cNvSpPr>
          <p:nvPr/>
        </p:nvSpPr>
        <p:spPr bwMode="auto">
          <a:xfrm>
            <a:off x="685800" y="5756275"/>
            <a:ext cx="3975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Target = key of midpoint? NO.</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26"/>
          <p:cNvSpPr>
            <a:spLocks noGrp="1" noChangeArrowheads="1"/>
          </p:cNvSpPr>
          <p:nvPr>
            <p:ph type="title"/>
          </p:nvPr>
        </p:nvSpPr>
        <p:spPr/>
        <p:txBody>
          <a:bodyPr/>
          <a:lstStyle/>
          <a:p>
            <a:r>
              <a:rPr lang="en-US"/>
              <a:t>Binary Search</a:t>
            </a:r>
          </a:p>
        </p:txBody>
      </p:sp>
      <p:sp>
        <p:nvSpPr>
          <p:cNvPr id="89091"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9092"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9093"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9094"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9095" name="Rectangle 1031"/>
          <p:cNvSpPr>
            <a:spLocks noChangeArrowheads="1"/>
          </p:cNvSpPr>
          <p:nvPr/>
        </p:nvSpPr>
        <p:spPr bwMode="auto">
          <a:xfrm>
            <a:off x="19050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9096"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9097" name="Rectangle 1033"/>
          <p:cNvSpPr>
            <a:spLocks noChangeArrowheads="1"/>
          </p:cNvSpPr>
          <p:nvPr/>
        </p:nvSpPr>
        <p:spPr bwMode="auto">
          <a:xfrm>
            <a:off x="37338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9098" name="Rectangle 1034"/>
          <p:cNvSpPr>
            <a:spLocks noChangeArrowheads="1"/>
          </p:cNvSpPr>
          <p:nvPr/>
        </p:nvSpPr>
        <p:spPr bwMode="auto">
          <a:xfrm>
            <a:off x="46482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9099" name="Rectangle 1035"/>
          <p:cNvSpPr>
            <a:spLocks noChangeArrowheads="1"/>
          </p:cNvSpPr>
          <p:nvPr/>
        </p:nvSpPr>
        <p:spPr bwMode="auto">
          <a:xfrm>
            <a:off x="5562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9100" name="Rectangle 1036"/>
          <p:cNvSpPr>
            <a:spLocks noChangeArrowheads="1"/>
          </p:cNvSpPr>
          <p:nvPr/>
        </p:nvSpPr>
        <p:spPr bwMode="auto">
          <a:xfrm>
            <a:off x="6477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9101"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9102"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9103"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9104"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9105"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9106" name="Line 1042"/>
          <p:cNvSpPr>
            <a:spLocks noChangeShapeType="1"/>
          </p:cNvSpPr>
          <p:nvPr/>
        </p:nvSpPr>
        <p:spPr bwMode="auto">
          <a:xfrm>
            <a:off x="2362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9107" name="Text Box 1043"/>
          <p:cNvSpPr txBox="1">
            <a:spLocks noChangeArrowheads="1"/>
          </p:cNvSpPr>
          <p:nvPr/>
        </p:nvSpPr>
        <p:spPr bwMode="auto">
          <a:xfrm>
            <a:off x="685800" y="5756275"/>
            <a:ext cx="3975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Target &lt; key of midpoint? NO.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26"/>
          <p:cNvSpPr>
            <a:spLocks noGrp="1" noChangeArrowheads="1"/>
          </p:cNvSpPr>
          <p:nvPr>
            <p:ph type="title"/>
          </p:nvPr>
        </p:nvSpPr>
        <p:spPr/>
        <p:txBody>
          <a:bodyPr/>
          <a:lstStyle/>
          <a:p>
            <a:r>
              <a:rPr lang="en-US"/>
              <a:t>Binary Search</a:t>
            </a:r>
          </a:p>
        </p:txBody>
      </p:sp>
      <p:sp>
        <p:nvSpPr>
          <p:cNvPr id="88067"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8068"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8069"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88070" name="Rectangle 1030"/>
          <p:cNvSpPr>
            <a:spLocks noChangeArrowheads="1"/>
          </p:cNvSpPr>
          <p:nvPr/>
        </p:nvSpPr>
        <p:spPr bwMode="auto">
          <a:xfrm>
            <a:off x="990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88071" name="Rectangle 1031"/>
          <p:cNvSpPr>
            <a:spLocks noChangeArrowheads="1"/>
          </p:cNvSpPr>
          <p:nvPr/>
        </p:nvSpPr>
        <p:spPr bwMode="auto">
          <a:xfrm>
            <a:off x="19050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88072"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88073" name="Rectangle 1033"/>
          <p:cNvSpPr>
            <a:spLocks noChangeArrowheads="1"/>
          </p:cNvSpPr>
          <p:nvPr/>
        </p:nvSpPr>
        <p:spPr bwMode="auto">
          <a:xfrm>
            <a:off x="37338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88074" name="Rectangle 1034"/>
          <p:cNvSpPr>
            <a:spLocks noChangeArrowheads="1"/>
          </p:cNvSpPr>
          <p:nvPr/>
        </p:nvSpPr>
        <p:spPr bwMode="auto">
          <a:xfrm>
            <a:off x="46482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88075" name="Rectangle 1035"/>
          <p:cNvSpPr>
            <a:spLocks noChangeArrowheads="1"/>
          </p:cNvSpPr>
          <p:nvPr/>
        </p:nvSpPr>
        <p:spPr bwMode="auto">
          <a:xfrm>
            <a:off x="5562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88076" name="Rectangle 1036"/>
          <p:cNvSpPr>
            <a:spLocks noChangeArrowheads="1"/>
          </p:cNvSpPr>
          <p:nvPr/>
        </p:nvSpPr>
        <p:spPr bwMode="auto">
          <a:xfrm>
            <a:off x="6477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88077"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88078"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8079"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88080"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8081"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88082" name="Line 1042"/>
          <p:cNvSpPr>
            <a:spLocks noChangeShapeType="1"/>
          </p:cNvSpPr>
          <p:nvPr/>
        </p:nvSpPr>
        <p:spPr bwMode="auto">
          <a:xfrm>
            <a:off x="2362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8083" name="Text Box 1043"/>
          <p:cNvSpPr txBox="1">
            <a:spLocks noChangeArrowheads="1"/>
          </p:cNvSpPr>
          <p:nvPr/>
        </p:nvSpPr>
        <p:spPr bwMode="auto">
          <a:xfrm>
            <a:off x="685800" y="5756275"/>
            <a:ext cx="41100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Target &gt; key of midpoint? YES.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26"/>
          <p:cNvSpPr>
            <a:spLocks noGrp="1" noChangeArrowheads="1"/>
          </p:cNvSpPr>
          <p:nvPr>
            <p:ph type="title"/>
          </p:nvPr>
        </p:nvSpPr>
        <p:spPr/>
        <p:txBody>
          <a:bodyPr/>
          <a:lstStyle/>
          <a:p>
            <a:r>
              <a:rPr lang="en-US"/>
              <a:t>Binary Search</a:t>
            </a:r>
          </a:p>
        </p:txBody>
      </p:sp>
      <p:sp>
        <p:nvSpPr>
          <p:cNvPr id="90115"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90116"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90117"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90118" name="Rectangle 1030"/>
          <p:cNvSpPr>
            <a:spLocks noChangeArrowheads="1"/>
          </p:cNvSpPr>
          <p:nvPr/>
        </p:nvSpPr>
        <p:spPr bwMode="auto">
          <a:xfrm>
            <a:off x="990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0119" name="Rectangle 1031"/>
          <p:cNvSpPr>
            <a:spLocks noChangeArrowheads="1"/>
          </p:cNvSpPr>
          <p:nvPr/>
        </p:nvSpPr>
        <p:spPr bwMode="auto">
          <a:xfrm>
            <a:off x="1905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0120" name="Rectangle 1032"/>
          <p:cNvSpPr>
            <a:spLocks noChangeArrowheads="1"/>
          </p:cNvSpPr>
          <p:nvPr/>
        </p:nvSpPr>
        <p:spPr bwMode="auto">
          <a:xfrm>
            <a:off x="2819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0121" name="Rectangle 1033"/>
          <p:cNvSpPr>
            <a:spLocks noChangeArrowheads="1"/>
          </p:cNvSpPr>
          <p:nvPr/>
        </p:nvSpPr>
        <p:spPr bwMode="auto">
          <a:xfrm>
            <a:off x="37338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0122" name="Rectangle 1034"/>
          <p:cNvSpPr>
            <a:spLocks noChangeArrowheads="1"/>
          </p:cNvSpPr>
          <p:nvPr/>
        </p:nvSpPr>
        <p:spPr bwMode="auto">
          <a:xfrm>
            <a:off x="46482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0123" name="Rectangle 1035"/>
          <p:cNvSpPr>
            <a:spLocks noChangeArrowheads="1"/>
          </p:cNvSpPr>
          <p:nvPr/>
        </p:nvSpPr>
        <p:spPr bwMode="auto">
          <a:xfrm>
            <a:off x="5562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0124" name="Rectangle 1036"/>
          <p:cNvSpPr>
            <a:spLocks noChangeArrowheads="1"/>
          </p:cNvSpPr>
          <p:nvPr/>
        </p:nvSpPr>
        <p:spPr bwMode="auto">
          <a:xfrm>
            <a:off x="6477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0125"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90126"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90127"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90128"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90129"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90132" name="Text Box 1044"/>
          <p:cNvSpPr txBox="1">
            <a:spLocks noChangeArrowheads="1"/>
          </p:cNvSpPr>
          <p:nvPr/>
        </p:nvSpPr>
        <p:spPr bwMode="auto">
          <a:xfrm>
            <a:off x="1628775" y="5257800"/>
            <a:ext cx="5888038"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t>Search for the target in the area after midpoint.</a:t>
            </a:r>
          </a:p>
          <a:p>
            <a:pPr algn="ctr"/>
            <a:r>
              <a:rPr lang="en-US"/>
              <a:t> </a:t>
            </a:r>
          </a:p>
        </p:txBody>
      </p:sp>
      <p:sp>
        <p:nvSpPr>
          <p:cNvPr id="90133" name="AutoShape 1045"/>
          <p:cNvSpPr>
            <a:spLocks/>
          </p:cNvSpPr>
          <p:nvPr/>
        </p:nvSpPr>
        <p:spPr bwMode="auto">
          <a:xfrm rot="-5400000">
            <a:off x="3009900" y="4229100"/>
            <a:ext cx="533400" cy="914400"/>
          </a:xfrm>
          <a:prstGeom prst="leftBrace">
            <a:avLst>
              <a:gd name="adj1" fmla="val 14286"/>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26"/>
          <p:cNvSpPr>
            <a:spLocks noGrp="1" noChangeArrowheads="1"/>
          </p:cNvSpPr>
          <p:nvPr>
            <p:ph type="title"/>
          </p:nvPr>
        </p:nvSpPr>
        <p:spPr/>
        <p:txBody>
          <a:bodyPr/>
          <a:lstStyle/>
          <a:p>
            <a:r>
              <a:rPr lang="en-US"/>
              <a:t>Binary Search</a:t>
            </a:r>
          </a:p>
        </p:txBody>
      </p:sp>
      <p:sp>
        <p:nvSpPr>
          <p:cNvPr id="91139" name="Rectangle 1027"/>
          <p:cNvSpPr>
            <a:spLocks noChangeArrowheads="1"/>
          </p:cNvSpPr>
          <p:nvPr/>
        </p:nvSpPr>
        <p:spPr bwMode="auto">
          <a:xfrm>
            <a:off x="111125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91140" name="Rectangle 1028"/>
          <p:cNvSpPr>
            <a:spLocks noChangeArrowheads="1"/>
          </p:cNvSpPr>
          <p:nvPr/>
        </p:nvSpPr>
        <p:spPr bwMode="auto">
          <a:xfrm>
            <a:off x="1981200" y="2976563"/>
            <a:ext cx="722313" cy="4524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91141" name="Text Box 1029"/>
          <p:cNvSpPr txBox="1">
            <a:spLocks noChangeArrowheads="1"/>
          </p:cNvSpPr>
          <p:nvPr/>
        </p:nvSpPr>
        <p:spPr bwMode="auto">
          <a:xfrm>
            <a:off x="685800" y="1981200"/>
            <a:ext cx="718185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Example: sorted array of integer keys.  Target=7.</a:t>
            </a:r>
          </a:p>
          <a:p>
            <a:endParaRPr lang="en-US" sz="2800"/>
          </a:p>
          <a:p>
            <a:endParaRPr lang="en-US" sz="2800"/>
          </a:p>
          <a:p>
            <a:endParaRPr lang="en-US" sz="2800"/>
          </a:p>
          <a:p>
            <a:endParaRPr lang="en-US" sz="2800"/>
          </a:p>
          <a:p>
            <a:endParaRPr lang="en-US" sz="2800"/>
          </a:p>
          <a:p>
            <a:endParaRPr lang="en-US" sz="2800"/>
          </a:p>
        </p:txBody>
      </p:sp>
      <p:sp>
        <p:nvSpPr>
          <p:cNvPr id="91142" name="Rectangle 1030"/>
          <p:cNvSpPr>
            <a:spLocks noChangeArrowheads="1"/>
          </p:cNvSpPr>
          <p:nvPr/>
        </p:nvSpPr>
        <p:spPr bwMode="auto">
          <a:xfrm>
            <a:off x="990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1143" name="Rectangle 1031"/>
          <p:cNvSpPr>
            <a:spLocks noChangeArrowheads="1"/>
          </p:cNvSpPr>
          <p:nvPr/>
        </p:nvSpPr>
        <p:spPr bwMode="auto">
          <a:xfrm>
            <a:off x="1905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1144" name="Rectangle 1032"/>
          <p:cNvSpPr>
            <a:spLocks noChangeArrowheads="1"/>
          </p:cNvSpPr>
          <p:nvPr/>
        </p:nvSpPr>
        <p:spPr bwMode="auto">
          <a:xfrm>
            <a:off x="28194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1145" name="Rectangle 1033"/>
          <p:cNvSpPr>
            <a:spLocks noChangeArrowheads="1"/>
          </p:cNvSpPr>
          <p:nvPr/>
        </p:nvSpPr>
        <p:spPr bwMode="auto">
          <a:xfrm>
            <a:off x="37338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1146" name="Rectangle 1034"/>
          <p:cNvSpPr>
            <a:spLocks noChangeArrowheads="1"/>
          </p:cNvSpPr>
          <p:nvPr/>
        </p:nvSpPr>
        <p:spPr bwMode="auto">
          <a:xfrm>
            <a:off x="46482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1147" name="Rectangle 1035"/>
          <p:cNvSpPr>
            <a:spLocks noChangeArrowheads="1"/>
          </p:cNvSpPr>
          <p:nvPr/>
        </p:nvSpPr>
        <p:spPr bwMode="auto">
          <a:xfrm>
            <a:off x="55626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1148" name="Rectangle 1036"/>
          <p:cNvSpPr>
            <a:spLocks noChangeArrowheads="1"/>
          </p:cNvSpPr>
          <p:nvPr/>
        </p:nvSpPr>
        <p:spPr bwMode="auto">
          <a:xfrm>
            <a:off x="6477000" y="3429000"/>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1149" name="Rectangle 1037"/>
          <p:cNvSpPr>
            <a:spLocks noChangeArrowheads="1"/>
          </p:cNvSpPr>
          <p:nvPr/>
        </p:nvSpPr>
        <p:spPr bwMode="auto">
          <a:xfrm>
            <a:off x="28956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[ 2 ]</a:t>
            </a:r>
          </a:p>
        </p:txBody>
      </p:sp>
      <p:sp>
        <p:nvSpPr>
          <p:cNvPr id="91150" name="Rectangle 1038"/>
          <p:cNvSpPr>
            <a:spLocks noChangeArrowheads="1"/>
          </p:cNvSpPr>
          <p:nvPr/>
        </p:nvSpPr>
        <p:spPr bwMode="auto">
          <a:xfrm>
            <a:off x="37655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91151" name="Rectangle 1039"/>
          <p:cNvSpPr>
            <a:spLocks noChangeArrowheads="1"/>
          </p:cNvSpPr>
          <p:nvPr/>
        </p:nvSpPr>
        <p:spPr bwMode="auto">
          <a:xfrm>
            <a:off x="47244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[ 4 ]</a:t>
            </a:r>
          </a:p>
        </p:txBody>
      </p:sp>
      <p:sp>
        <p:nvSpPr>
          <p:cNvPr id="91152" name="Rectangle 1040"/>
          <p:cNvSpPr>
            <a:spLocks noChangeArrowheads="1"/>
          </p:cNvSpPr>
          <p:nvPr/>
        </p:nvSpPr>
        <p:spPr bwMode="auto">
          <a:xfrm>
            <a:off x="559435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91153" name="Rectangle 1041"/>
          <p:cNvSpPr>
            <a:spLocks noChangeArrowheads="1"/>
          </p:cNvSpPr>
          <p:nvPr/>
        </p:nvSpPr>
        <p:spPr bwMode="auto">
          <a:xfrm>
            <a:off x="6553200" y="2971800"/>
            <a:ext cx="722313" cy="4524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[ 6 ]</a:t>
            </a:r>
          </a:p>
        </p:txBody>
      </p:sp>
      <p:sp>
        <p:nvSpPr>
          <p:cNvPr id="91156" name="Line 1044"/>
          <p:cNvSpPr>
            <a:spLocks noChangeShapeType="1"/>
          </p:cNvSpPr>
          <p:nvPr/>
        </p:nvSpPr>
        <p:spPr bwMode="auto">
          <a:xfrm>
            <a:off x="3267075"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1157" name="Text Box 1045"/>
          <p:cNvSpPr txBox="1">
            <a:spLocks noChangeArrowheads="1"/>
          </p:cNvSpPr>
          <p:nvPr/>
        </p:nvSpPr>
        <p:spPr bwMode="auto">
          <a:xfrm>
            <a:off x="1590675" y="5756275"/>
            <a:ext cx="40513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Find approximate midpoint.</a:t>
            </a:r>
          </a:p>
          <a:p>
            <a:r>
              <a:rPr lang="en-US"/>
              <a:t>Is target = midpoint key?  YES.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26"/>
          <p:cNvSpPr>
            <a:spLocks noGrp="1" noChangeArrowheads="1"/>
          </p:cNvSpPr>
          <p:nvPr>
            <p:ph type="title"/>
          </p:nvPr>
        </p:nvSpPr>
        <p:spPr>
          <a:xfrm>
            <a:off x="685800" y="76200"/>
            <a:ext cx="7772400" cy="1143000"/>
          </a:xfrm>
        </p:spPr>
        <p:txBody>
          <a:bodyPr/>
          <a:lstStyle/>
          <a:p>
            <a:r>
              <a:rPr lang="en-US"/>
              <a:t>Binary Search Implementation</a:t>
            </a:r>
          </a:p>
        </p:txBody>
      </p:sp>
      <p:sp>
        <p:nvSpPr>
          <p:cNvPr id="92163" name="Rectangle 1027"/>
          <p:cNvSpPr>
            <a:spLocks noGrp="1" noChangeArrowheads="1"/>
          </p:cNvSpPr>
          <p:nvPr>
            <p:ph type="body" idx="1"/>
          </p:nvPr>
        </p:nvSpPr>
        <p:spPr>
          <a:xfrm>
            <a:off x="228600" y="1295400"/>
            <a:ext cx="8534400" cy="4229100"/>
          </a:xfrm>
        </p:spPr>
        <p:txBody>
          <a:bodyPr/>
          <a:lstStyle/>
          <a:p>
            <a:pPr>
              <a:lnSpc>
                <a:spcPct val="90000"/>
              </a:lnSpc>
              <a:buFontTx/>
              <a:buNone/>
            </a:pPr>
            <a:r>
              <a:rPr lang="en-US" sz="1800"/>
              <a:t>void search(const int a[ ], size_t first, size_t size, int target, bool&amp; found, size_t&amp; location)</a:t>
            </a:r>
          </a:p>
          <a:p>
            <a:pPr>
              <a:lnSpc>
                <a:spcPct val="90000"/>
              </a:lnSpc>
              <a:buFontTx/>
              <a:buNone/>
            </a:pPr>
            <a:r>
              <a:rPr lang="en-US" sz="1800"/>
              <a:t>{</a:t>
            </a:r>
          </a:p>
          <a:p>
            <a:pPr>
              <a:lnSpc>
                <a:spcPct val="90000"/>
              </a:lnSpc>
              <a:buFontTx/>
              <a:buNone/>
            </a:pPr>
            <a:r>
              <a:rPr lang="en-US" sz="1800"/>
              <a:t>	size_t middle;</a:t>
            </a:r>
          </a:p>
          <a:p>
            <a:pPr>
              <a:lnSpc>
                <a:spcPct val="90000"/>
              </a:lnSpc>
              <a:buFontTx/>
              <a:buNone/>
            </a:pPr>
            <a:r>
              <a:rPr lang="en-US" sz="1800"/>
              <a:t>	if(size == 0) found = false;</a:t>
            </a:r>
          </a:p>
          <a:p>
            <a:pPr>
              <a:lnSpc>
                <a:spcPct val="90000"/>
              </a:lnSpc>
              <a:buFontTx/>
              <a:buNone/>
            </a:pPr>
            <a:r>
              <a:rPr lang="en-US" sz="1800"/>
              <a:t>	else {</a:t>
            </a:r>
          </a:p>
          <a:p>
            <a:pPr>
              <a:lnSpc>
                <a:spcPct val="90000"/>
              </a:lnSpc>
              <a:buFontTx/>
              <a:buNone/>
            </a:pPr>
            <a:r>
              <a:rPr lang="en-US" sz="1800"/>
              <a:t>		middle = first + size/2;</a:t>
            </a:r>
          </a:p>
          <a:p>
            <a:pPr>
              <a:lnSpc>
                <a:spcPct val="90000"/>
              </a:lnSpc>
              <a:buFontTx/>
              <a:buNone/>
            </a:pPr>
            <a:r>
              <a:rPr lang="en-US" sz="1800"/>
              <a:t>		if(target == a[middle]){</a:t>
            </a:r>
          </a:p>
          <a:p>
            <a:pPr>
              <a:lnSpc>
                <a:spcPct val="90000"/>
              </a:lnSpc>
              <a:buFontTx/>
              <a:buNone/>
            </a:pPr>
            <a:r>
              <a:rPr lang="en-US" sz="1800"/>
              <a:t>		         location = middle;</a:t>
            </a:r>
          </a:p>
          <a:p>
            <a:pPr>
              <a:lnSpc>
                <a:spcPct val="90000"/>
              </a:lnSpc>
              <a:buFontTx/>
              <a:buNone/>
            </a:pPr>
            <a:r>
              <a:rPr lang="en-US" sz="1800"/>
              <a:t>		         found = true;</a:t>
            </a:r>
          </a:p>
          <a:p>
            <a:pPr>
              <a:lnSpc>
                <a:spcPct val="90000"/>
              </a:lnSpc>
              <a:buFontTx/>
              <a:buNone/>
            </a:pPr>
            <a:r>
              <a:rPr lang="en-US" sz="1800"/>
              <a:t>		}</a:t>
            </a:r>
          </a:p>
          <a:p>
            <a:pPr>
              <a:lnSpc>
                <a:spcPct val="90000"/>
              </a:lnSpc>
              <a:buFontTx/>
              <a:buNone/>
            </a:pPr>
            <a:r>
              <a:rPr lang="en-US" sz="1800"/>
              <a:t>		else if (target &lt; a[middle])   </a:t>
            </a:r>
          </a:p>
          <a:p>
            <a:pPr>
              <a:lnSpc>
                <a:spcPct val="90000"/>
              </a:lnSpc>
              <a:buFontTx/>
              <a:buNone/>
            </a:pPr>
            <a:r>
              <a:rPr lang="en-US" sz="1800"/>
              <a:t>		       // target is less than middle, so search subarray before middle</a:t>
            </a:r>
          </a:p>
          <a:p>
            <a:pPr>
              <a:lnSpc>
                <a:spcPct val="90000"/>
              </a:lnSpc>
              <a:buFontTx/>
              <a:buNone/>
            </a:pPr>
            <a:r>
              <a:rPr lang="en-US" sz="1800"/>
              <a:t>		        search(a, first, size/2, target, found, location);</a:t>
            </a:r>
          </a:p>
          <a:p>
            <a:pPr>
              <a:lnSpc>
                <a:spcPct val="90000"/>
              </a:lnSpc>
              <a:buFontTx/>
              <a:buNone/>
            </a:pPr>
            <a:r>
              <a:rPr lang="en-US" sz="1800"/>
              <a:t>		else </a:t>
            </a:r>
          </a:p>
          <a:p>
            <a:pPr>
              <a:lnSpc>
                <a:spcPct val="90000"/>
              </a:lnSpc>
              <a:buFontTx/>
              <a:buNone/>
            </a:pPr>
            <a:r>
              <a:rPr lang="en-US" sz="1800"/>
              <a:t>		      // target is greater than middle, so search subarray after middle</a:t>
            </a:r>
          </a:p>
          <a:p>
            <a:pPr>
              <a:lnSpc>
                <a:spcPct val="90000"/>
              </a:lnSpc>
              <a:buFontTx/>
              <a:buNone/>
            </a:pPr>
            <a:r>
              <a:rPr lang="en-US" sz="1800"/>
              <a:t>		        search(a, middle+1, (size-1)/2, target, found, location);</a:t>
            </a:r>
          </a:p>
          <a:p>
            <a:pPr>
              <a:lnSpc>
                <a:spcPct val="90000"/>
              </a:lnSpc>
              <a:buFontTx/>
              <a:buNone/>
            </a:pPr>
            <a:r>
              <a:rPr lang="en-US" sz="1800"/>
              <a:t>	}</a:t>
            </a:r>
          </a:p>
          <a:p>
            <a:pPr>
              <a:lnSpc>
                <a:spcPct val="90000"/>
              </a:lnSpc>
              <a:buFontTx/>
              <a:buNone/>
            </a:pPr>
            <a:r>
              <a:rPr lang="en-US" sz="1800"/>
              <a:t>}</a:t>
            </a:r>
          </a:p>
          <a:p>
            <a:pPr>
              <a:lnSpc>
                <a:spcPct val="90000"/>
              </a:lnSpc>
              <a:buFontTx/>
              <a:buNone/>
            </a:pPr>
            <a:r>
              <a:rPr lang="en-US" sz="180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26"/>
          <p:cNvSpPr>
            <a:spLocks noGrp="1" noChangeArrowheads="1"/>
          </p:cNvSpPr>
          <p:nvPr>
            <p:ph type="title"/>
          </p:nvPr>
        </p:nvSpPr>
        <p:spPr/>
        <p:txBody>
          <a:bodyPr/>
          <a:lstStyle/>
          <a:p>
            <a:r>
              <a:rPr lang="en-US"/>
              <a:t>Relation to Binary Search Tree</a:t>
            </a:r>
          </a:p>
        </p:txBody>
      </p:sp>
      <p:sp>
        <p:nvSpPr>
          <p:cNvPr id="79916" name="Text Box 1068"/>
          <p:cNvSpPr txBox="1">
            <a:spLocks noChangeArrowheads="1"/>
          </p:cNvSpPr>
          <p:nvPr/>
        </p:nvSpPr>
        <p:spPr bwMode="auto">
          <a:xfrm>
            <a:off x="381000" y="3395663"/>
            <a:ext cx="62992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Corresponding complete binary search tree</a:t>
            </a:r>
          </a:p>
          <a:p>
            <a:endParaRPr lang="en-US" sz="2800"/>
          </a:p>
          <a:p>
            <a:endParaRPr lang="en-US" sz="2800"/>
          </a:p>
          <a:p>
            <a:endParaRPr lang="en-US" sz="2800"/>
          </a:p>
          <a:p>
            <a:endParaRPr lang="en-US" sz="2800"/>
          </a:p>
          <a:p>
            <a:endParaRPr lang="en-US" sz="2800"/>
          </a:p>
          <a:p>
            <a:endParaRPr lang="en-US" sz="2800"/>
          </a:p>
        </p:txBody>
      </p:sp>
      <p:sp>
        <p:nvSpPr>
          <p:cNvPr id="79921" name="Rectangle 1073"/>
          <p:cNvSpPr>
            <a:spLocks noChangeArrowheads="1"/>
          </p:cNvSpPr>
          <p:nvPr/>
        </p:nvSpPr>
        <p:spPr bwMode="auto">
          <a:xfrm>
            <a:off x="4572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79922" name="Rectangle 1074"/>
          <p:cNvSpPr>
            <a:spLocks noChangeArrowheads="1"/>
          </p:cNvSpPr>
          <p:nvPr/>
        </p:nvSpPr>
        <p:spPr bwMode="auto">
          <a:xfrm>
            <a:off x="11430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79925" name="Rectangle 1077"/>
          <p:cNvSpPr>
            <a:spLocks noChangeArrowheads="1"/>
          </p:cNvSpPr>
          <p:nvPr/>
        </p:nvSpPr>
        <p:spPr bwMode="auto">
          <a:xfrm>
            <a:off x="18288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79926" name="Rectangle 1078"/>
          <p:cNvSpPr>
            <a:spLocks noChangeArrowheads="1"/>
          </p:cNvSpPr>
          <p:nvPr/>
        </p:nvSpPr>
        <p:spPr bwMode="auto">
          <a:xfrm>
            <a:off x="25146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79927" name="Rectangle 1079"/>
          <p:cNvSpPr>
            <a:spLocks noChangeArrowheads="1"/>
          </p:cNvSpPr>
          <p:nvPr/>
        </p:nvSpPr>
        <p:spPr bwMode="auto">
          <a:xfrm>
            <a:off x="32004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79928" name="Rectangle 1080"/>
          <p:cNvSpPr>
            <a:spLocks noChangeArrowheads="1"/>
          </p:cNvSpPr>
          <p:nvPr/>
        </p:nvSpPr>
        <p:spPr bwMode="auto">
          <a:xfrm>
            <a:off x="38862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79929" name="Rectangle 1081"/>
          <p:cNvSpPr>
            <a:spLocks noChangeArrowheads="1"/>
          </p:cNvSpPr>
          <p:nvPr/>
        </p:nvSpPr>
        <p:spPr bwMode="auto">
          <a:xfrm>
            <a:off x="45720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79948" name="Line 1100"/>
          <p:cNvSpPr>
            <a:spLocks noChangeShapeType="1"/>
          </p:cNvSpPr>
          <p:nvPr/>
        </p:nvSpPr>
        <p:spPr bwMode="auto">
          <a:xfrm flipH="1">
            <a:off x="2166938" y="4519613"/>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49" name="Line 1101"/>
          <p:cNvSpPr>
            <a:spLocks noChangeShapeType="1"/>
          </p:cNvSpPr>
          <p:nvPr/>
        </p:nvSpPr>
        <p:spPr bwMode="auto">
          <a:xfrm>
            <a:off x="3419475" y="4519613"/>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50" name="Line 1102"/>
          <p:cNvSpPr>
            <a:spLocks noChangeShapeType="1"/>
          </p:cNvSpPr>
          <p:nvPr/>
        </p:nvSpPr>
        <p:spPr bwMode="auto">
          <a:xfrm flipH="1">
            <a:off x="1541463" y="5006975"/>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51" name="Line 1103"/>
          <p:cNvSpPr>
            <a:spLocks noChangeShapeType="1"/>
          </p:cNvSpPr>
          <p:nvPr/>
        </p:nvSpPr>
        <p:spPr bwMode="auto">
          <a:xfrm>
            <a:off x="2109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52" name="Line 1104"/>
          <p:cNvSpPr>
            <a:spLocks noChangeShapeType="1"/>
          </p:cNvSpPr>
          <p:nvPr/>
        </p:nvSpPr>
        <p:spPr bwMode="auto">
          <a:xfrm flipH="1">
            <a:off x="3873500" y="4824413"/>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53" name="Line 1105"/>
          <p:cNvSpPr>
            <a:spLocks noChangeShapeType="1"/>
          </p:cNvSpPr>
          <p:nvPr/>
        </p:nvSpPr>
        <p:spPr bwMode="auto">
          <a:xfrm>
            <a:off x="4500563"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79941" name="Rectangle 1093"/>
          <p:cNvSpPr>
            <a:spLocks noChangeArrowheads="1"/>
          </p:cNvSpPr>
          <p:nvPr/>
        </p:nvSpPr>
        <p:spPr bwMode="auto">
          <a:xfrm>
            <a:off x="1143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79942" name="Rectangle 1094"/>
          <p:cNvSpPr>
            <a:spLocks noChangeArrowheads="1"/>
          </p:cNvSpPr>
          <p:nvPr/>
        </p:nvSpPr>
        <p:spPr bwMode="auto">
          <a:xfrm>
            <a:off x="17526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79943" name="Rectangle 1095"/>
          <p:cNvSpPr>
            <a:spLocks noChangeArrowheads="1"/>
          </p:cNvSpPr>
          <p:nvPr/>
        </p:nvSpPr>
        <p:spPr bwMode="auto">
          <a:xfrm>
            <a:off x="2362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79944" name="Rectangle 1096"/>
          <p:cNvSpPr>
            <a:spLocks noChangeArrowheads="1"/>
          </p:cNvSpPr>
          <p:nvPr/>
        </p:nvSpPr>
        <p:spPr bwMode="auto">
          <a:xfrm>
            <a:off x="2971800" y="421640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79945" name="Rectangle 1097"/>
          <p:cNvSpPr>
            <a:spLocks noChangeArrowheads="1"/>
          </p:cNvSpPr>
          <p:nvPr/>
        </p:nvSpPr>
        <p:spPr bwMode="auto">
          <a:xfrm>
            <a:off x="35814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79946" name="Rectangle 1098"/>
          <p:cNvSpPr>
            <a:spLocks noChangeArrowheads="1"/>
          </p:cNvSpPr>
          <p:nvPr/>
        </p:nvSpPr>
        <p:spPr bwMode="auto">
          <a:xfrm>
            <a:off x="41910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79947" name="Rectangle 1099"/>
          <p:cNvSpPr>
            <a:spLocks noChangeArrowheads="1"/>
          </p:cNvSpPr>
          <p:nvPr/>
        </p:nvSpPr>
        <p:spPr bwMode="auto">
          <a:xfrm>
            <a:off x="48006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79959" name="Text Box 1111"/>
          <p:cNvSpPr txBox="1">
            <a:spLocks noChangeArrowheads="1"/>
          </p:cNvSpPr>
          <p:nvPr/>
        </p:nvSpPr>
        <p:spPr bwMode="auto">
          <a:xfrm>
            <a:off x="381000" y="1719263"/>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800"/>
              <a:t>Array of previous example:</a:t>
            </a:r>
          </a:p>
          <a:p>
            <a:endParaRPr lang="en-US" sz="2800"/>
          </a:p>
          <a:p>
            <a:endParaRPr lang="en-US" sz="2800"/>
          </a:p>
          <a:p>
            <a:endParaRPr lang="en-US" sz="2800"/>
          </a:p>
          <a:p>
            <a:endParaRPr lang="en-US" sz="2800"/>
          </a:p>
          <a:p>
            <a:endParaRPr lang="en-US" sz="2800"/>
          </a:p>
          <a:p>
            <a:endParaRPr lang="en-US" sz="2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685800" y="381000"/>
            <a:ext cx="7772400" cy="1143000"/>
          </a:xfrm>
        </p:spPr>
        <p:txBody>
          <a:bodyPr/>
          <a:lstStyle/>
          <a:p>
            <a:r>
              <a:rPr lang="en-US"/>
              <a:t>Search for target = 7</a:t>
            </a:r>
          </a:p>
        </p:txBody>
      </p:sp>
      <p:sp>
        <p:nvSpPr>
          <p:cNvPr id="94211" name="Text Box 3"/>
          <p:cNvSpPr txBox="1">
            <a:spLocks noChangeArrowheads="1"/>
          </p:cNvSpPr>
          <p:nvPr/>
        </p:nvSpPr>
        <p:spPr bwMode="auto">
          <a:xfrm>
            <a:off x="381000" y="3395663"/>
            <a:ext cx="1960563"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Start at root:</a:t>
            </a:r>
          </a:p>
          <a:p>
            <a:endParaRPr lang="en-US" sz="2800"/>
          </a:p>
          <a:p>
            <a:endParaRPr lang="en-US" sz="2800"/>
          </a:p>
          <a:p>
            <a:endParaRPr lang="en-US" sz="2800"/>
          </a:p>
          <a:p>
            <a:endParaRPr lang="en-US" sz="2800"/>
          </a:p>
          <a:p>
            <a:endParaRPr lang="en-US" sz="2800"/>
          </a:p>
          <a:p>
            <a:endParaRPr lang="en-US" sz="2800"/>
          </a:p>
        </p:txBody>
      </p:sp>
      <p:sp>
        <p:nvSpPr>
          <p:cNvPr id="94232" name="Text Box 24"/>
          <p:cNvSpPr txBox="1">
            <a:spLocks noChangeArrowheads="1"/>
          </p:cNvSpPr>
          <p:nvPr/>
        </p:nvSpPr>
        <p:spPr bwMode="auto">
          <a:xfrm>
            <a:off x="381000" y="1719263"/>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800"/>
              <a:t>Find midpoint:</a:t>
            </a:r>
          </a:p>
          <a:p>
            <a:endParaRPr lang="en-US" sz="2800"/>
          </a:p>
          <a:p>
            <a:endParaRPr lang="en-US" sz="2800"/>
          </a:p>
          <a:p>
            <a:endParaRPr lang="en-US" sz="2800"/>
          </a:p>
          <a:p>
            <a:endParaRPr lang="en-US" sz="2800"/>
          </a:p>
          <a:p>
            <a:endParaRPr lang="en-US" sz="2800"/>
          </a:p>
          <a:p>
            <a:endParaRPr lang="en-US" sz="2800"/>
          </a:p>
        </p:txBody>
      </p:sp>
      <p:sp>
        <p:nvSpPr>
          <p:cNvPr id="94212" name="Rectangle 4"/>
          <p:cNvSpPr>
            <a:spLocks noChangeArrowheads="1"/>
          </p:cNvSpPr>
          <p:nvPr/>
        </p:nvSpPr>
        <p:spPr bwMode="auto">
          <a:xfrm>
            <a:off x="4572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4213" name="Rectangle 5"/>
          <p:cNvSpPr>
            <a:spLocks noChangeArrowheads="1"/>
          </p:cNvSpPr>
          <p:nvPr/>
        </p:nvSpPr>
        <p:spPr bwMode="auto">
          <a:xfrm>
            <a:off x="11430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4214" name="Rectangle 6"/>
          <p:cNvSpPr>
            <a:spLocks noChangeArrowheads="1"/>
          </p:cNvSpPr>
          <p:nvPr/>
        </p:nvSpPr>
        <p:spPr bwMode="auto">
          <a:xfrm>
            <a:off x="18288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4215" name="Rectangle 7"/>
          <p:cNvSpPr>
            <a:spLocks noChangeArrowheads="1"/>
          </p:cNvSpPr>
          <p:nvPr/>
        </p:nvSpPr>
        <p:spPr bwMode="auto">
          <a:xfrm>
            <a:off x="2514600" y="2322513"/>
            <a:ext cx="685800" cy="5730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4216" name="Rectangle 8"/>
          <p:cNvSpPr>
            <a:spLocks noChangeArrowheads="1"/>
          </p:cNvSpPr>
          <p:nvPr/>
        </p:nvSpPr>
        <p:spPr bwMode="auto">
          <a:xfrm>
            <a:off x="32004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4217" name="Rectangle 9"/>
          <p:cNvSpPr>
            <a:spLocks noChangeArrowheads="1"/>
          </p:cNvSpPr>
          <p:nvPr/>
        </p:nvSpPr>
        <p:spPr bwMode="auto">
          <a:xfrm>
            <a:off x="38862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4218" name="Rectangle 10"/>
          <p:cNvSpPr>
            <a:spLocks noChangeArrowheads="1"/>
          </p:cNvSpPr>
          <p:nvPr/>
        </p:nvSpPr>
        <p:spPr bwMode="auto">
          <a:xfrm>
            <a:off x="45720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4219" name="Line 11"/>
          <p:cNvSpPr>
            <a:spLocks noChangeShapeType="1"/>
          </p:cNvSpPr>
          <p:nvPr/>
        </p:nvSpPr>
        <p:spPr bwMode="auto">
          <a:xfrm flipH="1">
            <a:off x="2166938" y="4519613"/>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0" name="Line 12"/>
          <p:cNvSpPr>
            <a:spLocks noChangeShapeType="1"/>
          </p:cNvSpPr>
          <p:nvPr/>
        </p:nvSpPr>
        <p:spPr bwMode="auto">
          <a:xfrm>
            <a:off x="3419475" y="4519613"/>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1" name="Line 13"/>
          <p:cNvSpPr>
            <a:spLocks noChangeShapeType="1"/>
          </p:cNvSpPr>
          <p:nvPr/>
        </p:nvSpPr>
        <p:spPr bwMode="auto">
          <a:xfrm flipH="1">
            <a:off x="1541463" y="5006975"/>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2" name="Line 14"/>
          <p:cNvSpPr>
            <a:spLocks noChangeShapeType="1"/>
          </p:cNvSpPr>
          <p:nvPr/>
        </p:nvSpPr>
        <p:spPr bwMode="auto">
          <a:xfrm>
            <a:off x="2109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3" name="Line 15"/>
          <p:cNvSpPr>
            <a:spLocks noChangeShapeType="1"/>
          </p:cNvSpPr>
          <p:nvPr/>
        </p:nvSpPr>
        <p:spPr bwMode="auto">
          <a:xfrm flipH="1">
            <a:off x="3873500" y="4824413"/>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4" name="Line 16"/>
          <p:cNvSpPr>
            <a:spLocks noChangeShapeType="1"/>
          </p:cNvSpPr>
          <p:nvPr/>
        </p:nvSpPr>
        <p:spPr bwMode="auto">
          <a:xfrm>
            <a:off x="4500563"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4225" name="Rectangle 17"/>
          <p:cNvSpPr>
            <a:spLocks noChangeArrowheads="1"/>
          </p:cNvSpPr>
          <p:nvPr/>
        </p:nvSpPr>
        <p:spPr bwMode="auto">
          <a:xfrm>
            <a:off x="1143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4226" name="Rectangle 18"/>
          <p:cNvSpPr>
            <a:spLocks noChangeArrowheads="1"/>
          </p:cNvSpPr>
          <p:nvPr/>
        </p:nvSpPr>
        <p:spPr bwMode="auto">
          <a:xfrm>
            <a:off x="17526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4227" name="Rectangle 19"/>
          <p:cNvSpPr>
            <a:spLocks noChangeArrowheads="1"/>
          </p:cNvSpPr>
          <p:nvPr/>
        </p:nvSpPr>
        <p:spPr bwMode="auto">
          <a:xfrm>
            <a:off x="2362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4228" name="Rectangle 20"/>
          <p:cNvSpPr>
            <a:spLocks noChangeArrowheads="1"/>
          </p:cNvSpPr>
          <p:nvPr/>
        </p:nvSpPr>
        <p:spPr bwMode="auto">
          <a:xfrm>
            <a:off x="2971800" y="4216400"/>
            <a:ext cx="609600" cy="527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4229" name="Rectangle 21"/>
          <p:cNvSpPr>
            <a:spLocks noChangeArrowheads="1"/>
          </p:cNvSpPr>
          <p:nvPr/>
        </p:nvSpPr>
        <p:spPr bwMode="auto">
          <a:xfrm>
            <a:off x="35814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4230" name="Rectangle 22"/>
          <p:cNvSpPr>
            <a:spLocks noChangeArrowheads="1"/>
          </p:cNvSpPr>
          <p:nvPr/>
        </p:nvSpPr>
        <p:spPr bwMode="auto">
          <a:xfrm>
            <a:off x="41910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4231" name="Rectangle 23"/>
          <p:cNvSpPr>
            <a:spLocks noChangeArrowheads="1"/>
          </p:cNvSpPr>
          <p:nvPr/>
        </p:nvSpPr>
        <p:spPr bwMode="auto">
          <a:xfrm>
            <a:off x="48006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Text Box 4"/>
          <p:cNvSpPr txBox="1">
            <a:spLocks noChangeArrowheads="1"/>
          </p:cNvSpPr>
          <p:nvPr/>
        </p:nvSpPr>
        <p:spPr bwMode="auto">
          <a:xfrm>
            <a:off x="381000" y="1719263"/>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800"/>
              <a:t>Search left subarray:</a:t>
            </a:r>
          </a:p>
          <a:p>
            <a:endParaRPr lang="en-US" sz="2800"/>
          </a:p>
          <a:p>
            <a:endParaRPr lang="en-US" sz="2800"/>
          </a:p>
          <a:p>
            <a:endParaRPr lang="en-US" sz="2800"/>
          </a:p>
          <a:p>
            <a:endParaRPr lang="en-US" sz="2800"/>
          </a:p>
          <a:p>
            <a:endParaRPr lang="en-US" sz="2800"/>
          </a:p>
          <a:p>
            <a:endParaRPr lang="en-US" sz="2800"/>
          </a:p>
        </p:txBody>
      </p:sp>
      <p:sp>
        <p:nvSpPr>
          <p:cNvPr id="95234" name="Rectangle 2"/>
          <p:cNvSpPr>
            <a:spLocks noGrp="1" noChangeArrowheads="1"/>
          </p:cNvSpPr>
          <p:nvPr>
            <p:ph type="title"/>
          </p:nvPr>
        </p:nvSpPr>
        <p:spPr>
          <a:xfrm>
            <a:off x="685800" y="381000"/>
            <a:ext cx="7772400" cy="1143000"/>
          </a:xfrm>
        </p:spPr>
        <p:txBody>
          <a:bodyPr/>
          <a:lstStyle/>
          <a:p>
            <a:r>
              <a:rPr lang="en-US"/>
              <a:t>Search for target = 7</a:t>
            </a:r>
          </a:p>
        </p:txBody>
      </p:sp>
      <p:sp>
        <p:nvSpPr>
          <p:cNvPr id="95235" name="Text Box 3"/>
          <p:cNvSpPr txBox="1">
            <a:spLocks noChangeArrowheads="1"/>
          </p:cNvSpPr>
          <p:nvPr/>
        </p:nvSpPr>
        <p:spPr bwMode="auto">
          <a:xfrm>
            <a:off x="381000" y="3700463"/>
            <a:ext cx="2925763"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Search left subtree:</a:t>
            </a:r>
          </a:p>
          <a:p>
            <a:endParaRPr lang="en-US" sz="2800"/>
          </a:p>
          <a:p>
            <a:endParaRPr lang="en-US" sz="2800"/>
          </a:p>
          <a:p>
            <a:endParaRPr lang="en-US" sz="2800"/>
          </a:p>
          <a:p>
            <a:endParaRPr lang="en-US" sz="2800"/>
          </a:p>
          <a:p>
            <a:endParaRPr lang="en-US" sz="2800"/>
          </a:p>
          <a:p>
            <a:endParaRPr lang="en-US" sz="2800"/>
          </a:p>
        </p:txBody>
      </p:sp>
      <p:sp>
        <p:nvSpPr>
          <p:cNvPr id="95237" name="Rectangle 5"/>
          <p:cNvSpPr>
            <a:spLocks noChangeArrowheads="1"/>
          </p:cNvSpPr>
          <p:nvPr/>
        </p:nvSpPr>
        <p:spPr bwMode="auto">
          <a:xfrm>
            <a:off x="4572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5238" name="Rectangle 6"/>
          <p:cNvSpPr>
            <a:spLocks noChangeArrowheads="1"/>
          </p:cNvSpPr>
          <p:nvPr/>
        </p:nvSpPr>
        <p:spPr bwMode="auto">
          <a:xfrm>
            <a:off x="11430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5239" name="Rectangle 7"/>
          <p:cNvSpPr>
            <a:spLocks noChangeArrowheads="1"/>
          </p:cNvSpPr>
          <p:nvPr/>
        </p:nvSpPr>
        <p:spPr bwMode="auto">
          <a:xfrm>
            <a:off x="18288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5240" name="Rectangle 8"/>
          <p:cNvSpPr>
            <a:spLocks noChangeArrowheads="1"/>
          </p:cNvSpPr>
          <p:nvPr/>
        </p:nvSpPr>
        <p:spPr bwMode="auto">
          <a:xfrm>
            <a:off x="25146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5241" name="Rectangle 9"/>
          <p:cNvSpPr>
            <a:spLocks noChangeArrowheads="1"/>
          </p:cNvSpPr>
          <p:nvPr/>
        </p:nvSpPr>
        <p:spPr bwMode="auto">
          <a:xfrm>
            <a:off x="32004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5242" name="Rectangle 10"/>
          <p:cNvSpPr>
            <a:spLocks noChangeArrowheads="1"/>
          </p:cNvSpPr>
          <p:nvPr/>
        </p:nvSpPr>
        <p:spPr bwMode="auto">
          <a:xfrm>
            <a:off x="38862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5243" name="Rectangle 11"/>
          <p:cNvSpPr>
            <a:spLocks noChangeArrowheads="1"/>
          </p:cNvSpPr>
          <p:nvPr/>
        </p:nvSpPr>
        <p:spPr bwMode="auto">
          <a:xfrm>
            <a:off x="45720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5244" name="Line 12"/>
          <p:cNvSpPr>
            <a:spLocks noChangeShapeType="1"/>
          </p:cNvSpPr>
          <p:nvPr/>
        </p:nvSpPr>
        <p:spPr bwMode="auto">
          <a:xfrm flipH="1">
            <a:off x="2166938" y="4519613"/>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5" name="Line 13"/>
          <p:cNvSpPr>
            <a:spLocks noChangeShapeType="1"/>
          </p:cNvSpPr>
          <p:nvPr/>
        </p:nvSpPr>
        <p:spPr bwMode="auto">
          <a:xfrm>
            <a:off x="3419475" y="4519613"/>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6" name="Line 14"/>
          <p:cNvSpPr>
            <a:spLocks noChangeShapeType="1"/>
          </p:cNvSpPr>
          <p:nvPr/>
        </p:nvSpPr>
        <p:spPr bwMode="auto">
          <a:xfrm flipH="1">
            <a:off x="1541463" y="5006975"/>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7" name="Line 15"/>
          <p:cNvSpPr>
            <a:spLocks noChangeShapeType="1"/>
          </p:cNvSpPr>
          <p:nvPr/>
        </p:nvSpPr>
        <p:spPr bwMode="auto">
          <a:xfrm>
            <a:off x="2109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8" name="Line 16"/>
          <p:cNvSpPr>
            <a:spLocks noChangeShapeType="1"/>
          </p:cNvSpPr>
          <p:nvPr/>
        </p:nvSpPr>
        <p:spPr bwMode="auto">
          <a:xfrm flipH="1">
            <a:off x="3873500" y="4824413"/>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49" name="Line 17"/>
          <p:cNvSpPr>
            <a:spLocks noChangeShapeType="1"/>
          </p:cNvSpPr>
          <p:nvPr/>
        </p:nvSpPr>
        <p:spPr bwMode="auto">
          <a:xfrm>
            <a:off x="4500563"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5250" name="Rectangle 18"/>
          <p:cNvSpPr>
            <a:spLocks noChangeArrowheads="1"/>
          </p:cNvSpPr>
          <p:nvPr/>
        </p:nvSpPr>
        <p:spPr bwMode="auto">
          <a:xfrm>
            <a:off x="1143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5251" name="Rectangle 19"/>
          <p:cNvSpPr>
            <a:spLocks noChangeArrowheads="1"/>
          </p:cNvSpPr>
          <p:nvPr/>
        </p:nvSpPr>
        <p:spPr bwMode="auto">
          <a:xfrm>
            <a:off x="17526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5252" name="Rectangle 20"/>
          <p:cNvSpPr>
            <a:spLocks noChangeArrowheads="1"/>
          </p:cNvSpPr>
          <p:nvPr/>
        </p:nvSpPr>
        <p:spPr bwMode="auto">
          <a:xfrm>
            <a:off x="2362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5253" name="Rectangle 21"/>
          <p:cNvSpPr>
            <a:spLocks noChangeArrowheads="1"/>
          </p:cNvSpPr>
          <p:nvPr/>
        </p:nvSpPr>
        <p:spPr bwMode="auto">
          <a:xfrm>
            <a:off x="2971800" y="421640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5254" name="Rectangle 22"/>
          <p:cNvSpPr>
            <a:spLocks noChangeArrowheads="1"/>
          </p:cNvSpPr>
          <p:nvPr/>
        </p:nvSpPr>
        <p:spPr bwMode="auto">
          <a:xfrm>
            <a:off x="35814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5255" name="Rectangle 23"/>
          <p:cNvSpPr>
            <a:spLocks noChangeArrowheads="1"/>
          </p:cNvSpPr>
          <p:nvPr/>
        </p:nvSpPr>
        <p:spPr bwMode="auto">
          <a:xfrm>
            <a:off x="41910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5256" name="Rectangle 24"/>
          <p:cNvSpPr>
            <a:spLocks noChangeArrowheads="1"/>
          </p:cNvSpPr>
          <p:nvPr/>
        </p:nvSpPr>
        <p:spPr bwMode="auto">
          <a:xfrm>
            <a:off x="48006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5257" name="AutoShape 25"/>
          <p:cNvSpPr>
            <a:spLocks/>
          </p:cNvSpPr>
          <p:nvPr/>
        </p:nvSpPr>
        <p:spPr bwMode="auto">
          <a:xfrm rot="-5400000">
            <a:off x="1219200" y="2209800"/>
            <a:ext cx="533400" cy="2057400"/>
          </a:xfrm>
          <a:prstGeom prst="leftBrace">
            <a:avLst>
              <a:gd name="adj1" fmla="val 3214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381000" y="1719263"/>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800"/>
              <a:t>Find approximate midpoint of subarray:</a:t>
            </a:r>
          </a:p>
          <a:p>
            <a:endParaRPr lang="en-US" sz="2800"/>
          </a:p>
          <a:p>
            <a:endParaRPr lang="en-US" sz="2800"/>
          </a:p>
          <a:p>
            <a:endParaRPr lang="en-US" sz="2800"/>
          </a:p>
          <a:p>
            <a:endParaRPr lang="en-US" sz="2800"/>
          </a:p>
          <a:p>
            <a:endParaRPr lang="en-US" sz="2800"/>
          </a:p>
          <a:p>
            <a:endParaRPr lang="en-US" sz="2800"/>
          </a:p>
        </p:txBody>
      </p:sp>
      <p:sp>
        <p:nvSpPr>
          <p:cNvPr id="96259" name="Rectangle 3"/>
          <p:cNvSpPr>
            <a:spLocks noGrp="1" noChangeArrowheads="1"/>
          </p:cNvSpPr>
          <p:nvPr>
            <p:ph type="title"/>
          </p:nvPr>
        </p:nvSpPr>
        <p:spPr>
          <a:xfrm>
            <a:off x="685800" y="381000"/>
            <a:ext cx="7772400" cy="1143000"/>
          </a:xfrm>
        </p:spPr>
        <p:txBody>
          <a:bodyPr/>
          <a:lstStyle/>
          <a:p>
            <a:r>
              <a:rPr lang="en-US"/>
              <a:t>Search for target = 7</a:t>
            </a:r>
          </a:p>
        </p:txBody>
      </p:sp>
      <p:sp>
        <p:nvSpPr>
          <p:cNvPr id="96260" name="Text Box 4"/>
          <p:cNvSpPr txBox="1">
            <a:spLocks noChangeArrowheads="1"/>
          </p:cNvSpPr>
          <p:nvPr/>
        </p:nvSpPr>
        <p:spPr bwMode="auto">
          <a:xfrm>
            <a:off x="381000" y="3657600"/>
            <a:ext cx="3135313"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Visit root of subtree:</a:t>
            </a:r>
          </a:p>
          <a:p>
            <a:endParaRPr lang="en-US" sz="2800"/>
          </a:p>
          <a:p>
            <a:endParaRPr lang="en-US" sz="2800"/>
          </a:p>
          <a:p>
            <a:endParaRPr lang="en-US" sz="2800"/>
          </a:p>
          <a:p>
            <a:endParaRPr lang="en-US" sz="2800"/>
          </a:p>
          <a:p>
            <a:endParaRPr lang="en-US" sz="2800"/>
          </a:p>
          <a:p>
            <a:endParaRPr lang="en-US" sz="2800"/>
          </a:p>
        </p:txBody>
      </p:sp>
      <p:sp>
        <p:nvSpPr>
          <p:cNvPr id="96261" name="Rectangle 5"/>
          <p:cNvSpPr>
            <a:spLocks noChangeArrowheads="1"/>
          </p:cNvSpPr>
          <p:nvPr/>
        </p:nvSpPr>
        <p:spPr bwMode="auto">
          <a:xfrm>
            <a:off x="4572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6262" name="Rectangle 6"/>
          <p:cNvSpPr>
            <a:spLocks noChangeArrowheads="1"/>
          </p:cNvSpPr>
          <p:nvPr/>
        </p:nvSpPr>
        <p:spPr bwMode="auto">
          <a:xfrm>
            <a:off x="1143000" y="2322513"/>
            <a:ext cx="685800" cy="5730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6263" name="Rectangle 7"/>
          <p:cNvSpPr>
            <a:spLocks noChangeArrowheads="1"/>
          </p:cNvSpPr>
          <p:nvPr/>
        </p:nvSpPr>
        <p:spPr bwMode="auto">
          <a:xfrm>
            <a:off x="18288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6264" name="Rectangle 8"/>
          <p:cNvSpPr>
            <a:spLocks noChangeArrowheads="1"/>
          </p:cNvSpPr>
          <p:nvPr/>
        </p:nvSpPr>
        <p:spPr bwMode="auto">
          <a:xfrm>
            <a:off x="25146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6265" name="Rectangle 9"/>
          <p:cNvSpPr>
            <a:spLocks noChangeArrowheads="1"/>
          </p:cNvSpPr>
          <p:nvPr/>
        </p:nvSpPr>
        <p:spPr bwMode="auto">
          <a:xfrm>
            <a:off x="32004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6266" name="Rectangle 10"/>
          <p:cNvSpPr>
            <a:spLocks noChangeArrowheads="1"/>
          </p:cNvSpPr>
          <p:nvPr/>
        </p:nvSpPr>
        <p:spPr bwMode="auto">
          <a:xfrm>
            <a:off x="38862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6267" name="Rectangle 11"/>
          <p:cNvSpPr>
            <a:spLocks noChangeArrowheads="1"/>
          </p:cNvSpPr>
          <p:nvPr/>
        </p:nvSpPr>
        <p:spPr bwMode="auto">
          <a:xfrm>
            <a:off x="45720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6268" name="Line 12"/>
          <p:cNvSpPr>
            <a:spLocks noChangeShapeType="1"/>
          </p:cNvSpPr>
          <p:nvPr/>
        </p:nvSpPr>
        <p:spPr bwMode="auto">
          <a:xfrm flipH="1">
            <a:off x="2166938" y="4519613"/>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69" name="Line 13"/>
          <p:cNvSpPr>
            <a:spLocks noChangeShapeType="1"/>
          </p:cNvSpPr>
          <p:nvPr/>
        </p:nvSpPr>
        <p:spPr bwMode="auto">
          <a:xfrm>
            <a:off x="3419475" y="4519613"/>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0" name="Line 14"/>
          <p:cNvSpPr>
            <a:spLocks noChangeShapeType="1"/>
          </p:cNvSpPr>
          <p:nvPr/>
        </p:nvSpPr>
        <p:spPr bwMode="auto">
          <a:xfrm flipH="1">
            <a:off x="1541463" y="5006975"/>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1" name="Line 15"/>
          <p:cNvSpPr>
            <a:spLocks noChangeShapeType="1"/>
          </p:cNvSpPr>
          <p:nvPr/>
        </p:nvSpPr>
        <p:spPr bwMode="auto">
          <a:xfrm>
            <a:off x="2109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2" name="Line 16"/>
          <p:cNvSpPr>
            <a:spLocks noChangeShapeType="1"/>
          </p:cNvSpPr>
          <p:nvPr/>
        </p:nvSpPr>
        <p:spPr bwMode="auto">
          <a:xfrm flipH="1">
            <a:off x="3873500" y="4824413"/>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3" name="Line 17"/>
          <p:cNvSpPr>
            <a:spLocks noChangeShapeType="1"/>
          </p:cNvSpPr>
          <p:nvPr/>
        </p:nvSpPr>
        <p:spPr bwMode="auto">
          <a:xfrm>
            <a:off x="4500563"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6274" name="Rectangle 18"/>
          <p:cNvSpPr>
            <a:spLocks noChangeArrowheads="1"/>
          </p:cNvSpPr>
          <p:nvPr/>
        </p:nvSpPr>
        <p:spPr bwMode="auto">
          <a:xfrm>
            <a:off x="1143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6275" name="Rectangle 19"/>
          <p:cNvSpPr>
            <a:spLocks noChangeArrowheads="1"/>
          </p:cNvSpPr>
          <p:nvPr/>
        </p:nvSpPr>
        <p:spPr bwMode="auto">
          <a:xfrm>
            <a:off x="1752600" y="4602163"/>
            <a:ext cx="609600" cy="5254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6276" name="Rectangle 20"/>
          <p:cNvSpPr>
            <a:spLocks noChangeArrowheads="1"/>
          </p:cNvSpPr>
          <p:nvPr/>
        </p:nvSpPr>
        <p:spPr bwMode="auto">
          <a:xfrm>
            <a:off x="2362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6277" name="Rectangle 21"/>
          <p:cNvSpPr>
            <a:spLocks noChangeArrowheads="1"/>
          </p:cNvSpPr>
          <p:nvPr/>
        </p:nvSpPr>
        <p:spPr bwMode="auto">
          <a:xfrm>
            <a:off x="2971800" y="421640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6278" name="Rectangle 22"/>
          <p:cNvSpPr>
            <a:spLocks noChangeArrowheads="1"/>
          </p:cNvSpPr>
          <p:nvPr/>
        </p:nvSpPr>
        <p:spPr bwMode="auto">
          <a:xfrm>
            <a:off x="35814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6279" name="Rectangle 23"/>
          <p:cNvSpPr>
            <a:spLocks noChangeArrowheads="1"/>
          </p:cNvSpPr>
          <p:nvPr/>
        </p:nvSpPr>
        <p:spPr bwMode="auto">
          <a:xfrm>
            <a:off x="41910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6280" name="Rectangle 24"/>
          <p:cNvSpPr>
            <a:spLocks noChangeArrowheads="1"/>
          </p:cNvSpPr>
          <p:nvPr/>
        </p:nvSpPr>
        <p:spPr bwMode="auto">
          <a:xfrm>
            <a:off x="48006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6281" name="AutoShape 25"/>
          <p:cNvSpPr>
            <a:spLocks/>
          </p:cNvSpPr>
          <p:nvPr/>
        </p:nvSpPr>
        <p:spPr bwMode="auto">
          <a:xfrm rot="-5400000">
            <a:off x="1219200" y="2209800"/>
            <a:ext cx="533400" cy="2057400"/>
          </a:xfrm>
          <a:prstGeom prst="leftBrace">
            <a:avLst>
              <a:gd name="adj1" fmla="val 3214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p:cNvSpPr txBox="1">
            <a:spLocks noChangeArrowheads="1"/>
          </p:cNvSpPr>
          <p:nvPr/>
        </p:nvSpPr>
        <p:spPr bwMode="auto">
          <a:xfrm>
            <a:off x="381000" y="1719263"/>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sz="2800"/>
              <a:t>Search right subarray:</a:t>
            </a:r>
          </a:p>
          <a:p>
            <a:endParaRPr lang="en-US" sz="2800"/>
          </a:p>
          <a:p>
            <a:endParaRPr lang="en-US" sz="2800"/>
          </a:p>
          <a:p>
            <a:endParaRPr lang="en-US" sz="2800"/>
          </a:p>
          <a:p>
            <a:endParaRPr lang="en-US" sz="2800"/>
          </a:p>
          <a:p>
            <a:endParaRPr lang="en-US" sz="2800"/>
          </a:p>
          <a:p>
            <a:endParaRPr lang="en-US" sz="2800"/>
          </a:p>
        </p:txBody>
      </p:sp>
      <p:sp>
        <p:nvSpPr>
          <p:cNvPr id="97283" name="Rectangle 3"/>
          <p:cNvSpPr>
            <a:spLocks noGrp="1" noChangeArrowheads="1"/>
          </p:cNvSpPr>
          <p:nvPr>
            <p:ph type="title"/>
          </p:nvPr>
        </p:nvSpPr>
        <p:spPr>
          <a:xfrm>
            <a:off x="685800" y="381000"/>
            <a:ext cx="7772400" cy="1143000"/>
          </a:xfrm>
        </p:spPr>
        <p:txBody>
          <a:bodyPr/>
          <a:lstStyle/>
          <a:p>
            <a:r>
              <a:rPr lang="en-US"/>
              <a:t>Search for target = 7</a:t>
            </a:r>
          </a:p>
        </p:txBody>
      </p:sp>
      <p:sp>
        <p:nvSpPr>
          <p:cNvPr id="97284" name="Text Box 4"/>
          <p:cNvSpPr txBox="1">
            <a:spLocks noChangeArrowheads="1"/>
          </p:cNvSpPr>
          <p:nvPr/>
        </p:nvSpPr>
        <p:spPr bwMode="auto">
          <a:xfrm>
            <a:off x="381000" y="3657600"/>
            <a:ext cx="3124200" cy="308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800"/>
              <a:t>Search right subtree:</a:t>
            </a:r>
          </a:p>
          <a:p>
            <a:endParaRPr lang="en-US" sz="2800"/>
          </a:p>
          <a:p>
            <a:endParaRPr lang="en-US" sz="2800"/>
          </a:p>
          <a:p>
            <a:endParaRPr lang="en-US" sz="2800"/>
          </a:p>
          <a:p>
            <a:endParaRPr lang="en-US" sz="2800"/>
          </a:p>
          <a:p>
            <a:endParaRPr lang="en-US" sz="2800"/>
          </a:p>
          <a:p>
            <a:endParaRPr lang="en-US" sz="2800"/>
          </a:p>
        </p:txBody>
      </p:sp>
      <p:sp>
        <p:nvSpPr>
          <p:cNvPr id="97285" name="Rectangle 5"/>
          <p:cNvSpPr>
            <a:spLocks noChangeArrowheads="1"/>
          </p:cNvSpPr>
          <p:nvPr/>
        </p:nvSpPr>
        <p:spPr bwMode="auto">
          <a:xfrm>
            <a:off x="4572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7286" name="Rectangle 6"/>
          <p:cNvSpPr>
            <a:spLocks noChangeArrowheads="1"/>
          </p:cNvSpPr>
          <p:nvPr/>
        </p:nvSpPr>
        <p:spPr bwMode="auto">
          <a:xfrm>
            <a:off x="11430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7287" name="Rectangle 7"/>
          <p:cNvSpPr>
            <a:spLocks noChangeArrowheads="1"/>
          </p:cNvSpPr>
          <p:nvPr/>
        </p:nvSpPr>
        <p:spPr bwMode="auto">
          <a:xfrm>
            <a:off x="1828800" y="2322513"/>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7288" name="Rectangle 8"/>
          <p:cNvSpPr>
            <a:spLocks noChangeArrowheads="1"/>
          </p:cNvSpPr>
          <p:nvPr/>
        </p:nvSpPr>
        <p:spPr bwMode="auto">
          <a:xfrm>
            <a:off x="25146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7289" name="Rectangle 9"/>
          <p:cNvSpPr>
            <a:spLocks noChangeArrowheads="1"/>
          </p:cNvSpPr>
          <p:nvPr/>
        </p:nvSpPr>
        <p:spPr bwMode="auto">
          <a:xfrm>
            <a:off x="32004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7290" name="Rectangle 10"/>
          <p:cNvSpPr>
            <a:spLocks noChangeArrowheads="1"/>
          </p:cNvSpPr>
          <p:nvPr/>
        </p:nvSpPr>
        <p:spPr bwMode="auto">
          <a:xfrm>
            <a:off x="38862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7291" name="Rectangle 11"/>
          <p:cNvSpPr>
            <a:spLocks noChangeArrowheads="1"/>
          </p:cNvSpPr>
          <p:nvPr/>
        </p:nvSpPr>
        <p:spPr bwMode="auto">
          <a:xfrm>
            <a:off x="4572000" y="2322513"/>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7292" name="Line 12"/>
          <p:cNvSpPr>
            <a:spLocks noChangeShapeType="1"/>
          </p:cNvSpPr>
          <p:nvPr/>
        </p:nvSpPr>
        <p:spPr bwMode="auto">
          <a:xfrm flipH="1">
            <a:off x="2166938" y="4519613"/>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3" name="Line 13"/>
          <p:cNvSpPr>
            <a:spLocks noChangeShapeType="1"/>
          </p:cNvSpPr>
          <p:nvPr/>
        </p:nvSpPr>
        <p:spPr bwMode="auto">
          <a:xfrm>
            <a:off x="3419475" y="4519613"/>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4" name="Line 14"/>
          <p:cNvSpPr>
            <a:spLocks noChangeShapeType="1"/>
          </p:cNvSpPr>
          <p:nvPr/>
        </p:nvSpPr>
        <p:spPr bwMode="auto">
          <a:xfrm flipH="1">
            <a:off x="1541463" y="5006975"/>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5" name="Line 15"/>
          <p:cNvSpPr>
            <a:spLocks noChangeShapeType="1"/>
          </p:cNvSpPr>
          <p:nvPr/>
        </p:nvSpPr>
        <p:spPr bwMode="auto">
          <a:xfrm>
            <a:off x="2109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6" name="Line 16"/>
          <p:cNvSpPr>
            <a:spLocks noChangeShapeType="1"/>
          </p:cNvSpPr>
          <p:nvPr/>
        </p:nvSpPr>
        <p:spPr bwMode="auto">
          <a:xfrm flipH="1">
            <a:off x="3873500" y="4824413"/>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7" name="Line 17"/>
          <p:cNvSpPr>
            <a:spLocks noChangeShapeType="1"/>
          </p:cNvSpPr>
          <p:nvPr/>
        </p:nvSpPr>
        <p:spPr bwMode="auto">
          <a:xfrm>
            <a:off x="4500563"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7298" name="Rectangle 18"/>
          <p:cNvSpPr>
            <a:spLocks noChangeArrowheads="1"/>
          </p:cNvSpPr>
          <p:nvPr/>
        </p:nvSpPr>
        <p:spPr bwMode="auto">
          <a:xfrm>
            <a:off x="1143000" y="549275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97299" name="Rectangle 19"/>
          <p:cNvSpPr>
            <a:spLocks noChangeArrowheads="1"/>
          </p:cNvSpPr>
          <p:nvPr/>
        </p:nvSpPr>
        <p:spPr bwMode="auto">
          <a:xfrm>
            <a:off x="17526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97300" name="Rectangle 20"/>
          <p:cNvSpPr>
            <a:spLocks noChangeArrowheads="1"/>
          </p:cNvSpPr>
          <p:nvPr/>
        </p:nvSpPr>
        <p:spPr bwMode="auto">
          <a:xfrm>
            <a:off x="2362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sp>
        <p:nvSpPr>
          <p:cNvPr id="97301" name="Rectangle 21"/>
          <p:cNvSpPr>
            <a:spLocks noChangeArrowheads="1"/>
          </p:cNvSpPr>
          <p:nvPr/>
        </p:nvSpPr>
        <p:spPr bwMode="auto">
          <a:xfrm>
            <a:off x="2971800" y="421640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11</a:t>
            </a:r>
          </a:p>
        </p:txBody>
      </p:sp>
      <p:sp>
        <p:nvSpPr>
          <p:cNvPr id="97302" name="Rectangle 22"/>
          <p:cNvSpPr>
            <a:spLocks noChangeArrowheads="1"/>
          </p:cNvSpPr>
          <p:nvPr/>
        </p:nvSpPr>
        <p:spPr bwMode="auto">
          <a:xfrm>
            <a:off x="35814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32</a:t>
            </a:r>
          </a:p>
        </p:txBody>
      </p:sp>
      <p:sp>
        <p:nvSpPr>
          <p:cNvPr id="97303" name="Rectangle 23"/>
          <p:cNvSpPr>
            <a:spLocks noChangeArrowheads="1"/>
          </p:cNvSpPr>
          <p:nvPr/>
        </p:nvSpPr>
        <p:spPr bwMode="auto">
          <a:xfrm>
            <a:off x="41910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33</a:t>
            </a:r>
          </a:p>
        </p:txBody>
      </p:sp>
      <p:sp>
        <p:nvSpPr>
          <p:cNvPr id="97304" name="Rectangle 24"/>
          <p:cNvSpPr>
            <a:spLocks noChangeArrowheads="1"/>
          </p:cNvSpPr>
          <p:nvPr/>
        </p:nvSpPr>
        <p:spPr bwMode="auto">
          <a:xfrm>
            <a:off x="48006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53</a:t>
            </a:r>
          </a:p>
        </p:txBody>
      </p:sp>
      <p:sp>
        <p:nvSpPr>
          <p:cNvPr id="97305" name="AutoShape 25"/>
          <p:cNvSpPr>
            <a:spLocks/>
          </p:cNvSpPr>
          <p:nvPr/>
        </p:nvSpPr>
        <p:spPr bwMode="auto">
          <a:xfrm rot="-5400000">
            <a:off x="1905000" y="2895600"/>
            <a:ext cx="533400" cy="685800"/>
          </a:xfrm>
          <a:prstGeom prst="leftBrace">
            <a:avLst>
              <a:gd name="adj1" fmla="val 10714"/>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r>
              <a:rPr lang="en-US"/>
              <a:t>Binary Search: Analysis</a:t>
            </a:r>
          </a:p>
        </p:txBody>
      </p:sp>
      <p:sp>
        <p:nvSpPr>
          <p:cNvPr id="98307" name="Rectangle 3"/>
          <p:cNvSpPr>
            <a:spLocks noGrp="1" noChangeArrowheads="1"/>
          </p:cNvSpPr>
          <p:nvPr>
            <p:ph type="body" idx="1"/>
          </p:nvPr>
        </p:nvSpPr>
        <p:spPr/>
        <p:txBody>
          <a:bodyPr/>
          <a:lstStyle/>
          <a:p>
            <a:pPr>
              <a:lnSpc>
                <a:spcPct val="90000"/>
              </a:lnSpc>
            </a:pPr>
            <a:r>
              <a:rPr lang="en-US"/>
              <a:t>Worst case complexity? </a:t>
            </a:r>
          </a:p>
          <a:p>
            <a:pPr>
              <a:lnSpc>
                <a:spcPct val="90000"/>
              </a:lnSpc>
            </a:pPr>
            <a:r>
              <a:rPr lang="en-US"/>
              <a:t>What is the maximum depth of recursive calls in binary search as function of </a:t>
            </a:r>
            <a:r>
              <a:rPr lang="en-US" i="1"/>
              <a:t>n</a:t>
            </a:r>
            <a:r>
              <a:rPr lang="en-US"/>
              <a:t>?</a:t>
            </a:r>
          </a:p>
          <a:p>
            <a:pPr>
              <a:lnSpc>
                <a:spcPct val="90000"/>
              </a:lnSpc>
            </a:pPr>
            <a:r>
              <a:rPr lang="en-US"/>
              <a:t>Each level in the recursion, we split the array in half (divide by two). </a:t>
            </a:r>
          </a:p>
          <a:p>
            <a:pPr>
              <a:lnSpc>
                <a:spcPct val="90000"/>
              </a:lnSpc>
            </a:pPr>
            <a:r>
              <a:rPr lang="en-US"/>
              <a:t>Therefore maximum recursion depth is floor(log</a:t>
            </a:r>
            <a:r>
              <a:rPr lang="en-US" baseline="-25000"/>
              <a:t>2</a:t>
            </a:r>
            <a:r>
              <a:rPr lang="en-US" i="1"/>
              <a:t>n</a:t>
            </a:r>
            <a:r>
              <a:rPr lang="en-US"/>
              <a:t>) and worst case = O(log</a:t>
            </a:r>
            <a:r>
              <a:rPr lang="en-US" baseline="-25000"/>
              <a:t>2</a:t>
            </a:r>
            <a:r>
              <a:rPr lang="en-US" i="1"/>
              <a:t>n</a:t>
            </a:r>
            <a:r>
              <a:rPr lang="en-US"/>
              <a:t>).</a:t>
            </a:r>
          </a:p>
          <a:p>
            <a:pPr>
              <a:lnSpc>
                <a:spcPct val="90000"/>
              </a:lnSpc>
            </a:pPr>
            <a:r>
              <a:rPr lang="en-US"/>
              <a:t>Average case is also = O(log</a:t>
            </a:r>
            <a:r>
              <a:rPr lang="en-US" baseline="-25000"/>
              <a:t>2</a:t>
            </a:r>
            <a:r>
              <a:rPr lang="en-US" i="1"/>
              <a:t>n</a:t>
            </a:r>
            <a:r>
              <a:rPr lang="en-US"/>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r>
              <a:rPr lang="en-US"/>
              <a:t>Can we do better than O(log</a:t>
            </a:r>
            <a:r>
              <a:rPr lang="en-US" baseline="-25000"/>
              <a:t>2</a:t>
            </a:r>
            <a:r>
              <a:rPr lang="en-US"/>
              <a:t>n)?</a:t>
            </a:r>
          </a:p>
        </p:txBody>
      </p:sp>
      <p:sp>
        <p:nvSpPr>
          <p:cNvPr id="99331" name="Rectangle 3"/>
          <p:cNvSpPr>
            <a:spLocks noGrp="1" noChangeArrowheads="1"/>
          </p:cNvSpPr>
          <p:nvPr>
            <p:ph type="body" idx="1"/>
          </p:nvPr>
        </p:nvSpPr>
        <p:spPr>
          <a:xfrm>
            <a:off x="457200" y="1981200"/>
            <a:ext cx="8153400" cy="4114800"/>
          </a:xfrm>
        </p:spPr>
        <p:txBody>
          <a:bodyPr/>
          <a:lstStyle/>
          <a:p>
            <a:r>
              <a:rPr lang="en-US" sz="2800"/>
              <a:t>Average and worst case of serial search = O(n)</a:t>
            </a:r>
          </a:p>
          <a:p>
            <a:r>
              <a:rPr lang="en-US" sz="2800"/>
              <a:t>Average and worst case of binary search = O(log</a:t>
            </a:r>
            <a:r>
              <a:rPr lang="en-US" sz="2800" baseline="-25000"/>
              <a:t>2</a:t>
            </a:r>
            <a:r>
              <a:rPr lang="en-US" sz="2800"/>
              <a:t>n)</a:t>
            </a:r>
          </a:p>
          <a:p>
            <a:endParaRPr lang="en-US" sz="2800"/>
          </a:p>
          <a:p>
            <a:r>
              <a:rPr lang="en-US" sz="2800"/>
              <a:t>Can we do better than this? </a:t>
            </a:r>
          </a:p>
          <a:p>
            <a:pPr lvl="1">
              <a:buFontTx/>
              <a:buNone/>
            </a:pPr>
            <a:endParaRPr lang="en-US" sz="2400"/>
          </a:p>
          <a:p>
            <a:pPr lvl="1">
              <a:buFontTx/>
              <a:buNone/>
            </a:pPr>
            <a:r>
              <a:rPr lang="en-US" sz="3200">
                <a:solidFill>
                  <a:schemeClr val="tx2"/>
                </a:solidFill>
              </a:rPr>
              <a:t>YES.  Use a hash table!</a:t>
            </a:r>
            <a:endParaRPr lang="en-US" sz="32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What is a Hash Table ?</a:t>
            </a:r>
          </a:p>
        </p:txBody>
      </p:sp>
      <p:sp>
        <p:nvSpPr>
          <p:cNvPr id="8195" name="Rectangle 3"/>
          <p:cNvSpPr>
            <a:spLocks noGrp="1" noChangeArrowheads="1"/>
          </p:cNvSpPr>
          <p:nvPr>
            <p:ph type="body" sz="half" idx="1"/>
          </p:nvPr>
        </p:nvSpPr>
        <p:spPr>
          <a:xfrm>
            <a:off x="685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The simplest kind of hash table is an array of records.</a:t>
            </a:r>
          </a:p>
          <a:p>
            <a:r>
              <a:rPr lang="en-US" sz="2800"/>
              <a:t>This example has 701 records.</a:t>
            </a:r>
          </a:p>
        </p:txBody>
      </p:sp>
      <p:sp>
        <p:nvSpPr>
          <p:cNvPr id="8196" name="Rectangle 4"/>
          <p:cNvSpPr>
            <a:spLocks noChangeArrowheads="1"/>
          </p:cNvSpPr>
          <p:nvPr/>
        </p:nvSpPr>
        <p:spPr bwMode="auto">
          <a:xfrm>
            <a:off x="1062038" y="4683125"/>
            <a:ext cx="6046787"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7" name="Line 5"/>
          <p:cNvSpPr>
            <a:spLocks noChangeShapeType="1"/>
          </p:cNvSpPr>
          <p:nvPr/>
        </p:nvSpPr>
        <p:spPr bwMode="auto">
          <a:xfrm>
            <a:off x="1974850" y="4679950"/>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8" name="Line 6"/>
          <p:cNvSpPr>
            <a:spLocks noChangeShapeType="1"/>
          </p:cNvSpPr>
          <p:nvPr/>
        </p:nvSpPr>
        <p:spPr bwMode="auto">
          <a:xfrm>
            <a:off x="2889250" y="4679950"/>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199" name="Line 7"/>
          <p:cNvSpPr>
            <a:spLocks noChangeShapeType="1"/>
          </p:cNvSpPr>
          <p:nvPr/>
        </p:nvSpPr>
        <p:spPr bwMode="auto">
          <a:xfrm>
            <a:off x="3802063" y="4679950"/>
            <a:ext cx="1587"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0" name="Line 8"/>
          <p:cNvSpPr>
            <a:spLocks noChangeShapeType="1"/>
          </p:cNvSpPr>
          <p:nvPr/>
        </p:nvSpPr>
        <p:spPr bwMode="auto">
          <a:xfrm>
            <a:off x="4718050" y="4683125"/>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1" name="Line 9"/>
          <p:cNvSpPr>
            <a:spLocks noChangeShapeType="1"/>
          </p:cNvSpPr>
          <p:nvPr/>
        </p:nvSpPr>
        <p:spPr bwMode="auto">
          <a:xfrm>
            <a:off x="5632450" y="4683125"/>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2" name="Line 10"/>
          <p:cNvSpPr>
            <a:spLocks noChangeShapeType="1"/>
          </p:cNvSpPr>
          <p:nvPr/>
        </p:nvSpPr>
        <p:spPr bwMode="auto">
          <a:xfrm>
            <a:off x="6546850" y="4678363"/>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03" name="Rectangle 11"/>
          <p:cNvSpPr>
            <a:spLocks noChangeArrowheads="1"/>
          </p:cNvSpPr>
          <p:nvPr/>
        </p:nvSpPr>
        <p:spPr bwMode="auto">
          <a:xfrm>
            <a:off x="1184275"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8204" name="Rectangle 12"/>
          <p:cNvSpPr>
            <a:spLocks noChangeArrowheads="1"/>
          </p:cNvSpPr>
          <p:nvPr/>
        </p:nvSpPr>
        <p:spPr bwMode="auto">
          <a:xfrm>
            <a:off x="2044700"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8205" name="Rectangle 13"/>
          <p:cNvSpPr>
            <a:spLocks noChangeArrowheads="1"/>
          </p:cNvSpPr>
          <p:nvPr/>
        </p:nvSpPr>
        <p:spPr bwMode="auto">
          <a:xfrm>
            <a:off x="2959100"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8206" name="Rectangle 14"/>
          <p:cNvSpPr>
            <a:spLocks noChangeArrowheads="1"/>
          </p:cNvSpPr>
          <p:nvPr/>
        </p:nvSpPr>
        <p:spPr bwMode="auto">
          <a:xfrm>
            <a:off x="384016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8207" name="Rectangle 15"/>
          <p:cNvSpPr>
            <a:spLocks noChangeArrowheads="1"/>
          </p:cNvSpPr>
          <p:nvPr/>
        </p:nvSpPr>
        <p:spPr bwMode="auto">
          <a:xfrm>
            <a:off x="475456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8208" name="Rectangle 16"/>
          <p:cNvSpPr>
            <a:spLocks noChangeArrowheads="1"/>
          </p:cNvSpPr>
          <p:nvPr/>
        </p:nvSpPr>
        <p:spPr bwMode="auto">
          <a:xfrm>
            <a:off x="572611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8210" name="Rectangle 18"/>
          <p:cNvSpPr>
            <a:spLocks noChangeArrowheads="1"/>
          </p:cNvSpPr>
          <p:nvPr/>
        </p:nvSpPr>
        <p:spPr bwMode="auto">
          <a:xfrm>
            <a:off x="7891463" y="4683125"/>
            <a:ext cx="901700"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8211" name="Freeform 19"/>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2" name="Rectangle 20"/>
          <p:cNvSpPr>
            <a:spLocks noChangeArrowheads="1"/>
          </p:cNvSpPr>
          <p:nvPr/>
        </p:nvSpPr>
        <p:spPr bwMode="auto">
          <a:xfrm>
            <a:off x="7134225" y="4848225"/>
            <a:ext cx="60166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sp>
        <p:nvSpPr>
          <p:cNvPr id="8213" name="Rectangle 21"/>
          <p:cNvSpPr>
            <a:spLocks noChangeArrowheads="1"/>
          </p:cNvSpPr>
          <p:nvPr/>
        </p:nvSpPr>
        <p:spPr bwMode="auto">
          <a:xfrm>
            <a:off x="8048625" y="4222750"/>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What is a Hash Table ?</a:t>
            </a:r>
          </a:p>
        </p:txBody>
      </p:sp>
      <p:sp>
        <p:nvSpPr>
          <p:cNvPr id="10243"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Each record has a special field, called its </a:t>
            </a:r>
            <a:r>
              <a:rPr lang="en-US" sz="2800" u="sng">
                <a:solidFill>
                  <a:schemeClr val="accent2"/>
                </a:solidFill>
              </a:rPr>
              <a:t>key</a:t>
            </a:r>
            <a:r>
              <a:rPr lang="en-US" sz="2800"/>
              <a:t>.</a:t>
            </a:r>
          </a:p>
          <a:p>
            <a:r>
              <a:rPr lang="en-US" sz="2800"/>
              <a:t>In this example, the key is a long integer field called </a:t>
            </a:r>
            <a:r>
              <a:rPr lang="en-US" sz="2400">
                <a:latin typeface="Arial" panose="020B0604020202020204" pitchFamily="34" charset="0"/>
              </a:rPr>
              <a:t>Number</a:t>
            </a:r>
            <a:r>
              <a:rPr lang="en-US" sz="2800"/>
              <a:t>.</a:t>
            </a:r>
          </a:p>
        </p:txBody>
      </p:sp>
      <p:sp>
        <p:nvSpPr>
          <p:cNvPr id="10244" name="Rectangle 4"/>
          <p:cNvSpPr>
            <a:spLocks noChangeArrowheads="1"/>
          </p:cNvSpPr>
          <p:nvPr/>
        </p:nvSpPr>
        <p:spPr bwMode="auto">
          <a:xfrm>
            <a:off x="1062038" y="4683125"/>
            <a:ext cx="6046787"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 name="Line 5"/>
          <p:cNvSpPr>
            <a:spLocks noChangeShapeType="1"/>
          </p:cNvSpPr>
          <p:nvPr/>
        </p:nvSpPr>
        <p:spPr bwMode="auto">
          <a:xfrm>
            <a:off x="1974850" y="4679950"/>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 name="Line 6"/>
          <p:cNvSpPr>
            <a:spLocks noChangeShapeType="1"/>
          </p:cNvSpPr>
          <p:nvPr/>
        </p:nvSpPr>
        <p:spPr bwMode="auto">
          <a:xfrm>
            <a:off x="2889250" y="4679950"/>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7"/>
          <p:cNvSpPr>
            <a:spLocks noChangeShapeType="1"/>
          </p:cNvSpPr>
          <p:nvPr/>
        </p:nvSpPr>
        <p:spPr bwMode="auto">
          <a:xfrm>
            <a:off x="3802063" y="4679950"/>
            <a:ext cx="1587"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Line 8"/>
          <p:cNvSpPr>
            <a:spLocks noChangeShapeType="1"/>
          </p:cNvSpPr>
          <p:nvPr/>
        </p:nvSpPr>
        <p:spPr bwMode="auto">
          <a:xfrm>
            <a:off x="4718050" y="4683125"/>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9" name="Line 9"/>
          <p:cNvSpPr>
            <a:spLocks noChangeShapeType="1"/>
          </p:cNvSpPr>
          <p:nvPr/>
        </p:nvSpPr>
        <p:spPr bwMode="auto">
          <a:xfrm>
            <a:off x="5632450" y="4683125"/>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0" name="Line 10"/>
          <p:cNvSpPr>
            <a:spLocks noChangeShapeType="1"/>
          </p:cNvSpPr>
          <p:nvPr/>
        </p:nvSpPr>
        <p:spPr bwMode="auto">
          <a:xfrm>
            <a:off x="6546850" y="4678363"/>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1" name="Rectangle 11"/>
          <p:cNvSpPr>
            <a:spLocks noChangeArrowheads="1"/>
          </p:cNvSpPr>
          <p:nvPr/>
        </p:nvSpPr>
        <p:spPr bwMode="auto">
          <a:xfrm>
            <a:off x="1184275"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10252" name="Rectangle 12"/>
          <p:cNvSpPr>
            <a:spLocks noChangeArrowheads="1"/>
          </p:cNvSpPr>
          <p:nvPr/>
        </p:nvSpPr>
        <p:spPr bwMode="auto">
          <a:xfrm>
            <a:off x="2044700"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10253" name="Rectangle 13"/>
          <p:cNvSpPr>
            <a:spLocks noChangeArrowheads="1"/>
          </p:cNvSpPr>
          <p:nvPr/>
        </p:nvSpPr>
        <p:spPr bwMode="auto">
          <a:xfrm>
            <a:off x="2959100"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10254" name="Rectangle 14"/>
          <p:cNvSpPr>
            <a:spLocks noChangeArrowheads="1"/>
          </p:cNvSpPr>
          <p:nvPr/>
        </p:nvSpPr>
        <p:spPr bwMode="auto">
          <a:xfrm>
            <a:off x="384016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10255" name="Rectangle 15"/>
          <p:cNvSpPr>
            <a:spLocks noChangeArrowheads="1"/>
          </p:cNvSpPr>
          <p:nvPr/>
        </p:nvSpPr>
        <p:spPr bwMode="auto">
          <a:xfrm>
            <a:off x="475456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10256" name="Rectangle 16"/>
          <p:cNvSpPr>
            <a:spLocks noChangeArrowheads="1"/>
          </p:cNvSpPr>
          <p:nvPr/>
        </p:nvSpPr>
        <p:spPr bwMode="auto">
          <a:xfrm>
            <a:off x="572611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10257" name="Rectangle 17"/>
          <p:cNvSpPr>
            <a:spLocks noChangeArrowheads="1"/>
          </p:cNvSpPr>
          <p:nvPr/>
        </p:nvSpPr>
        <p:spPr bwMode="auto">
          <a:xfrm>
            <a:off x="7891463" y="4683125"/>
            <a:ext cx="901700"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0258" name="Freeform 18"/>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Rectangle 19"/>
          <p:cNvSpPr>
            <a:spLocks noChangeArrowheads="1"/>
          </p:cNvSpPr>
          <p:nvPr/>
        </p:nvSpPr>
        <p:spPr bwMode="auto">
          <a:xfrm>
            <a:off x="7134225" y="4848225"/>
            <a:ext cx="60166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sp>
        <p:nvSpPr>
          <p:cNvPr id="10260" name="Rectangle 20"/>
          <p:cNvSpPr>
            <a:spLocks noChangeArrowheads="1"/>
          </p:cNvSpPr>
          <p:nvPr/>
        </p:nvSpPr>
        <p:spPr bwMode="auto">
          <a:xfrm>
            <a:off x="8048625" y="4222750"/>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sp>
        <p:nvSpPr>
          <p:cNvPr id="10261" name="Rectangle 2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62" name="Freeform 22"/>
          <p:cNvSpPr>
            <a:spLocks/>
          </p:cNvSpPr>
          <p:nvPr/>
        </p:nvSpPr>
        <p:spPr bwMode="auto">
          <a:xfrm>
            <a:off x="4724400" y="914400"/>
            <a:ext cx="1296988" cy="4573588"/>
          </a:xfrm>
          <a:custGeom>
            <a:avLst/>
            <a:gdLst>
              <a:gd name="T0" fmla="*/ 0 w 817"/>
              <a:gd name="T1" fmla="*/ 2352 h 2881"/>
              <a:gd name="T2" fmla="*/ 816 w 817"/>
              <a:gd name="T3" fmla="*/ 0 h 2881"/>
              <a:gd name="T4" fmla="*/ 816 w 817"/>
              <a:gd name="T5" fmla="*/ 1584 h 2881"/>
              <a:gd name="T6" fmla="*/ 0 w 817"/>
              <a:gd name="T7" fmla="*/ 2880 h 2881"/>
              <a:gd name="T8" fmla="*/ 0 w 817"/>
              <a:gd name="T9" fmla="*/ 2352 h 2881"/>
            </a:gdLst>
            <a:ahLst/>
            <a:cxnLst>
              <a:cxn ang="0">
                <a:pos x="T0" y="T1"/>
              </a:cxn>
              <a:cxn ang="0">
                <a:pos x="T2" y="T3"/>
              </a:cxn>
              <a:cxn ang="0">
                <a:pos x="T4" y="T5"/>
              </a:cxn>
              <a:cxn ang="0">
                <a:pos x="T6" y="T7"/>
              </a:cxn>
              <a:cxn ang="0">
                <a:pos x="T8" y="T9"/>
              </a:cxn>
            </a:cxnLst>
            <a:rect l="0" t="0" r="r" b="b"/>
            <a:pathLst>
              <a:path w="817" h="2881">
                <a:moveTo>
                  <a:pt x="0" y="2352"/>
                </a:moveTo>
                <a:lnTo>
                  <a:pt x="816" y="0"/>
                </a:lnTo>
                <a:lnTo>
                  <a:pt x="816" y="1584"/>
                </a:lnTo>
                <a:lnTo>
                  <a:pt x="0" y="2880"/>
                </a:lnTo>
                <a:lnTo>
                  <a:pt x="0" y="2352"/>
                </a:lnTo>
              </a:path>
            </a:pathLst>
          </a:custGeom>
          <a:gradFill rotWithShape="0">
            <a:gsLst>
              <a:gs pos="0">
                <a:srgbClr val="8080FF"/>
              </a:gs>
              <a:gs pos="100000">
                <a:srgbClr val="8080FF">
                  <a:gamma/>
                  <a:shade val="29804"/>
                  <a:invGamma/>
                </a:srgbClr>
              </a:gs>
            </a:gsLst>
            <a:lin ang="54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3" name="Freeform 23"/>
          <p:cNvSpPr>
            <a:spLocks/>
          </p:cNvSpPr>
          <p:nvPr/>
        </p:nvSpPr>
        <p:spPr bwMode="auto">
          <a:xfrm>
            <a:off x="4724400" y="3386138"/>
            <a:ext cx="3911600" cy="2101850"/>
          </a:xfrm>
          <a:custGeom>
            <a:avLst/>
            <a:gdLst>
              <a:gd name="T0" fmla="*/ 0 w 2464"/>
              <a:gd name="T1" fmla="*/ 1323 h 1324"/>
              <a:gd name="T2" fmla="*/ 823 w 2464"/>
              <a:gd name="T3" fmla="*/ 0 h 1324"/>
              <a:gd name="T4" fmla="*/ 2463 w 2464"/>
              <a:gd name="T5" fmla="*/ 0 h 1324"/>
              <a:gd name="T6" fmla="*/ 576 w 2464"/>
              <a:gd name="T7" fmla="*/ 1323 h 1324"/>
              <a:gd name="T8" fmla="*/ 0 w 2464"/>
              <a:gd name="T9" fmla="*/ 1323 h 1324"/>
            </a:gdLst>
            <a:ahLst/>
            <a:cxnLst>
              <a:cxn ang="0">
                <a:pos x="T0" y="T1"/>
              </a:cxn>
              <a:cxn ang="0">
                <a:pos x="T2" y="T3"/>
              </a:cxn>
              <a:cxn ang="0">
                <a:pos x="T4" y="T5"/>
              </a:cxn>
              <a:cxn ang="0">
                <a:pos x="T6" y="T7"/>
              </a:cxn>
              <a:cxn ang="0">
                <a:pos x="T8" y="T9"/>
              </a:cxn>
            </a:cxnLst>
            <a:rect l="0" t="0" r="r" b="b"/>
            <a:pathLst>
              <a:path w="2464" h="1324">
                <a:moveTo>
                  <a:pt x="0" y="1323"/>
                </a:moveTo>
                <a:lnTo>
                  <a:pt x="823" y="0"/>
                </a:lnTo>
                <a:lnTo>
                  <a:pt x="2463" y="0"/>
                </a:lnTo>
                <a:lnTo>
                  <a:pt x="576" y="1323"/>
                </a:lnTo>
                <a:lnTo>
                  <a:pt x="0" y="1323"/>
                </a:lnTo>
              </a:path>
            </a:pathLst>
          </a:custGeom>
          <a:gradFill rotWithShape="0">
            <a:gsLst>
              <a:gs pos="0">
                <a:srgbClr val="8080FF">
                  <a:gamma/>
                  <a:shade val="29804"/>
                  <a:invGamma/>
                </a:srgbClr>
              </a:gs>
              <a:gs pos="100000">
                <a:srgbClr val="8080FF"/>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4" name="Rectangle 24"/>
          <p:cNvSpPr>
            <a:spLocks noChangeArrowheads="1"/>
          </p:cNvSpPr>
          <p:nvPr/>
        </p:nvSpPr>
        <p:spPr bwMode="auto">
          <a:xfrm>
            <a:off x="6888163" y="461963"/>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10265" name="Rectangle 25"/>
          <p:cNvSpPr>
            <a:spLocks noChangeArrowheads="1"/>
          </p:cNvSpPr>
          <p:nvPr/>
        </p:nvSpPr>
        <p:spPr bwMode="auto">
          <a:xfrm>
            <a:off x="6157913" y="1104900"/>
            <a:ext cx="24415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506643548</a:t>
            </a:r>
          </a:p>
        </p:txBody>
      </p:sp>
    </p:spTree>
  </p:cSld>
  <p:clrMapOvr>
    <a:masterClrMapping/>
  </p:clrMapOvr>
  <p:transition>
    <p:strips dir="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What is a Hash Table ?</a:t>
            </a:r>
          </a:p>
        </p:txBody>
      </p:sp>
      <p:sp>
        <p:nvSpPr>
          <p:cNvPr id="12291"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The number might be a person's identification number, and the rest of the record has information about the person.</a:t>
            </a:r>
          </a:p>
        </p:txBody>
      </p:sp>
      <p:sp>
        <p:nvSpPr>
          <p:cNvPr id="12292" name="Rectangle 4"/>
          <p:cNvSpPr>
            <a:spLocks noChangeArrowheads="1"/>
          </p:cNvSpPr>
          <p:nvPr/>
        </p:nvSpPr>
        <p:spPr bwMode="auto">
          <a:xfrm>
            <a:off x="1062038" y="4683125"/>
            <a:ext cx="6046787"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3" name="Line 5"/>
          <p:cNvSpPr>
            <a:spLocks noChangeShapeType="1"/>
          </p:cNvSpPr>
          <p:nvPr/>
        </p:nvSpPr>
        <p:spPr bwMode="auto">
          <a:xfrm>
            <a:off x="1974850" y="4679950"/>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4" name="Line 6"/>
          <p:cNvSpPr>
            <a:spLocks noChangeShapeType="1"/>
          </p:cNvSpPr>
          <p:nvPr/>
        </p:nvSpPr>
        <p:spPr bwMode="auto">
          <a:xfrm>
            <a:off x="2889250" y="4679950"/>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5" name="Line 7"/>
          <p:cNvSpPr>
            <a:spLocks noChangeShapeType="1"/>
          </p:cNvSpPr>
          <p:nvPr/>
        </p:nvSpPr>
        <p:spPr bwMode="auto">
          <a:xfrm>
            <a:off x="3802063" y="4679950"/>
            <a:ext cx="1587"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6" name="Line 8"/>
          <p:cNvSpPr>
            <a:spLocks noChangeShapeType="1"/>
          </p:cNvSpPr>
          <p:nvPr/>
        </p:nvSpPr>
        <p:spPr bwMode="auto">
          <a:xfrm>
            <a:off x="4718050" y="4683125"/>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Line 9"/>
          <p:cNvSpPr>
            <a:spLocks noChangeShapeType="1"/>
          </p:cNvSpPr>
          <p:nvPr/>
        </p:nvSpPr>
        <p:spPr bwMode="auto">
          <a:xfrm>
            <a:off x="5632450" y="4683125"/>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8" name="Line 10"/>
          <p:cNvSpPr>
            <a:spLocks noChangeShapeType="1"/>
          </p:cNvSpPr>
          <p:nvPr/>
        </p:nvSpPr>
        <p:spPr bwMode="auto">
          <a:xfrm>
            <a:off x="6546850" y="4678363"/>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9" name="Rectangle 11"/>
          <p:cNvSpPr>
            <a:spLocks noChangeArrowheads="1"/>
          </p:cNvSpPr>
          <p:nvPr/>
        </p:nvSpPr>
        <p:spPr bwMode="auto">
          <a:xfrm>
            <a:off x="1184275"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12300" name="Rectangle 12"/>
          <p:cNvSpPr>
            <a:spLocks noChangeArrowheads="1"/>
          </p:cNvSpPr>
          <p:nvPr/>
        </p:nvSpPr>
        <p:spPr bwMode="auto">
          <a:xfrm>
            <a:off x="2044700"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12301" name="Rectangle 13"/>
          <p:cNvSpPr>
            <a:spLocks noChangeArrowheads="1"/>
          </p:cNvSpPr>
          <p:nvPr/>
        </p:nvSpPr>
        <p:spPr bwMode="auto">
          <a:xfrm>
            <a:off x="2959100" y="4219575"/>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12302" name="Rectangle 14"/>
          <p:cNvSpPr>
            <a:spLocks noChangeArrowheads="1"/>
          </p:cNvSpPr>
          <p:nvPr/>
        </p:nvSpPr>
        <p:spPr bwMode="auto">
          <a:xfrm>
            <a:off x="384016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12303" name="Rectangle 15"/>
          <p:cNvSpPr>
            <a:spLocks noChangeArrowheads="1"/>
          </p:cNvSpPr>
          <p:nvPr/>
        </p:nvSpPr>
        <p:spPr bwMode="auto">
          <a:xfrm>
            <a:off x="475456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12304" name="Rectangle 16"/>
          <p:cNvSpPr>
            <a:spLocks noChangeArrowheads="1"/>
          </p:cNvSpPr>
          <p:nvPr/>
        </p:nvSpPr>
        <p:spPr bwMode="auto">
          <a:xfrm>
            <a:off x="5726113" y="4219575"/>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12305" name="Rectangle 17"/>
          <p:cNvSpPr>
            <a:spLocks noChangeArrowheads="1"/>
          </p:cNvSpPr>
          <p:nvPr/>
        </p:nvSpPr>
        <p:spPr bwMode="auto">
          <a:xfrm>
            <a:off x="7891463" y="4683125"/>
            <a:ext cx="901700"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2306" name="Freeform 18"/>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7" name="Rectangle 19"/>
          <p:cNvSpPr>
            <a:spLocks noChangeArrowheads="1"/>
          </p:cNvSpPr>
          <p:nvPr/>
        </p:nvSpPr>
        <p:spPr bwMode="auto">
          <a:xfrm>
            <a:off x="7134225" y="4837113"/>
            <a:ext cx="60166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sp>
        <p:nvSpPr>
          <p:cNvPr id="12308" name="Rectangle 20"/>
          <p:cNvSpPr>
            <a:spLocks noChangeArrowheads="1"/>
          </p:cNvSpPr>
          <p:nvPr/>
        </p:nvSpPr>
        <p:spPr bwMode="auto">
          <a:xfrm>
            <a:off x="8048625" y="4222750"/>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sp>
        <p:nvSpPr>
          <p:cNvPr id="12309" name="Rectangle 2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0" name="Freeform 22"/>
          <p:cNvSpPr>
            <a:spLocks/>
          </p:cNvSpPr>
          <p:nvPr/>
        </p:nvSpPr>
        <p:spPr bwMode="auto">
          <a:xfrm>
            <a:off x="4724400" y="914400"/>
            <a:ext cx="1296988" cy="4573588"/>
          </a:xfrm>
          <a:custGeom>
            <a:avLst/>
            <a:gdLst>
              <a:gd name="T0" fmla="*/ 0 w 817"/>
              <a:gd name="T1" fmla="*/ 2352 h 2881"/>
              <a:gd name="T2" fmla="*/ 816 w 817"/>
              <a:gd name="T3" fmla="*/ 0 h 2881"/>
              <a:gd name="T4" fmla="*/ 816 w 817"/>
              <a:gd name="T5" fmla="*/ 1584 h 2881"/>
              <a:gd name="T6" fmla="*/ 0 w 817"/>
              <a:gd name="T7" fmla="*/ 2880 h 2881"/>
              <a:gd name="T8" fmla="*/ 0 w 817"/>
              <a:gd name="T9" fmla="*/ 2352 h 2881"/>
            </a:gdLst>
            <a:ahLst/>
            <a:cxnLst>
              <a:cxn ang="0">
                <a:pos x="T0" y="T1"/>
              </a:cxn>
              <a:cxn ang="0">
                <a:pos x="T2" y="T3"/>
              </a:cxn>
              <a:cxn ang="0">
                <a:pos x="T4" y="T5"/>
              </a:cxn>
              <a:cxn ang="0">
                <a:pos x="T6" y="T7"/>
              </a:cxn>
              <a:cxn ang="0">
                <a:pos x="T8" y="T9"/>
              </a:cxn>
            </a:cxnLst>
            <a:rect l="0" t="0" r="r" b="b"/>
            <a:pathLst>
              <a:path w="817" h="2881">
                <a:moveTo>
                  <a:pt x="0" y="2352"/>
                </a:moveTo>
                <a:lnTo>
                  <a:pt x="816" y="0"/>
                </a:lnTo>
                <a:lnTo>
                  <a:pt x="816" y="1584"/>
                </a:lnTo>
                <a:lnTo>
                  <a:pt x="0" y="2880"/>
                </a:lnTo>
                <a:lnTo>
                  <a:pt x="0" y="2352"/>
                </a:lnTo>
              </a:path>
            </a:pathLst>
          </a:custGeom>
          <a:gradFill rotWithShape="0">
            <a:gsLst>
              <a:gs pos="0">
                <a:srgbClr val="8080FF"/>
              </a:gs>
              <a:gs pos="100000">
                <a:srgbClr val="8080FF">
                  <a:gamma/>
                  <a:shade val="29804"/>
                  <a:invGamma/>
                </a:srgbClr>
              </a:gs>
            </a:gsLst>
            <a:lin ang="54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1" name="Freeform 23"/>
          <p:cNvSpPr>
            <a:spLocks/>
          </p:cNvSpPr>
          <p:nvPr/>
        </p:nvSpPr>
        <p:spPr bwMode="auto">
          <a:xfrm>
            <a:off x="4724400" y="3386138"/>
            <a:ext cx="3911600" cy="2101850"/>
          </a:xfrm>
          <a:custGeom>
            <a:avLst/>
            <a:gdLst>
              <a:gd name="T0" fmla="*/ 0 w 2464"/>
              <a:gd name="T1" fmla="*/ 1323 h 1324"/>
              <a:gd name="T2" fmla="*/ 823 w 2464"/>
              <a:gd name="T3" fmla="*/ 0 h 1324"/>
              <a:gd name="T4" fmla="*/ 2463 w 2464"/>
              <a:gd name="T5" fmla="*/ 0 h 1324"/>
              <a:gd name="T6" fmla="*/ 576 w 2464"/>
              <a:gd name="T7" fmla="*/ 1323 h 1324"/>
              <a:gd name="T8" fmla="*/ 0 w 2464"/>
              <a:gd name="T9" fmla="*/ 1323 h 1324"/>
            </a:gdLst>
            <a:ahLst/>
            <a:cxnLst>
              <a:cxn ang="0">
                <a:pos x="T0" y="T1"/>
              </a:cxn>
              <a:cxn ang="0">
                <a:pos x="T2" y="T3"/>
              </a:cxn>
              <a:cxn ang="0">
                <a:pos x="T4" y="T5"/>
              </a:cxn>
              <a:cxn ang="0">
                <a:pos x="T6" y="T7"/>
              </a:cxn>
              <a:cxn ang="0">
                <a:pos x="T8" y="T9"/>
              </a:cxn>
            </a:cxnLst>
            <a:rect l="0" t="0" r="r" b="b"/>
            <a:pathLst>
              <a:path w="2464" h="1324">
                <a:moveTo>
                  <a:pt x="0" y="1323"/>
                </a:moveTo>
                <a:lnTo>
                  <a:pt x="823" y="0"/>
                </a:lnTo>
                <a:lnTo>
                  <a:pt x="2463" y="0"/>
                </a:lnTo>
                <a:lnTo>
                  <a:pt x="576" y="1323"/>
                </a:lnTo>
                <a:lnTo>
                  <a:pt x="0" y="1323"/>
                </a:lnTo>
              </a:path>
            </a:pathLst>
          </a:custGeom>
          <a:gradFill rotWithShape="0">
            <a:gsLst>
              <a:gs pos="0">
                <a:srgbClr val="8080FF">
                  <a:gamma/>
                  <a:shade val="29804"/>
                  <a:invGamma/>
                </a:srgbClr>
              </a:gs>
              <a:gs pos="100000">
                <a:srgbClr val="8080FF"/>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2" name="Rectangle 24"/>
          <p:cNvSpPr>
            <a:spLocks noChangeArrowheads="1"/>
          </p:cNvSpPr>
          <p:nvPr/>
        </p:nvSpPr>
        <p:spPr bwMode="auto">
          <a:xfrm>
            <a:off x="6888163" y="392113"/>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12313" name="Rectangle 25"/>
          <p:cNvSpPr>
            <a:spLocks noChangeArrowheads="1"/>
          </p:cNvSpPr>
          <p:nvPr/>
        </p:nvSpPr>
        <p:spPr bwMode="auto">
          <a:xfrm>
            <a:off x="6157913" y="1104900"/>
            <a:ext cx="24415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506643548</a:t>
            </a:r>
          </a:p>
        </p:txBody>
      </p:sp>
      <p:pic>
        <p:nvPicPr>
          <p:cNvPr id="12314" name="Picture 26"/>
          <p:cNvPicPr>
            <a:picLocks noChangeArrowheads="1"/>
          </p:cNvPicPr>
          <p:nvPr/>
        </p:nvPicPr>
        <p:blipFill>
          <a:blip r:embed="rId3" cstate="print">
            <a:extLst>
              <a:ext uri="{28A0092B-C50C-407E-A947-70E740481C1C}">
                <a14:useLocalDpi xmlns:a14="http://schemas.microsoft.com/office/drawing/2010/main" val="0"/>
              </a:ext>
            </a:extLst>
          </a:blip>
          <a:srcRect r="35486" b="42003"/>
          <a:stretch>
            <a:fillRect/>
          </a:stretch>
        </p:blipFill>
        <p:spPr bwMode="auto">
          <a:xfrm>
            <a:off x="6459538" y="1562100"/>
            <a:ext cx="1633537"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Bar dir="vert"/>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What is a Hash Table ?</a:t>
            </a:r>
          </a:p>
        </p:txBody>
      </p:sp>
      <p:sp>
        <p:nvSpPr>
          <p:cNvPr id="14339" name="Rectangle 3"/>
          <p:cNvSpPr>
            <a:spLocks noGrp="1" noChangeArrowheads="1"/>
          </p:cNvSpPr>
          <p:nvPr>
            <p:ph type="body" sz="half" idx="1"/>
          </p:nvPr>
        </p:nvSpPr>
        <p:spPr>
          <a:xfrm>
            <a:off x="685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When a hash table is in use, some spots contain valid records, and other spots are "empty".</a:t>
            </a:r>
          </a:p>
        </p:txBody>
      </p:sp>
      <p:sp>
        <p:nvSpPr>
          <p:cNvPr id="14340" name="Rectangle 4"/>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1" name="Line 5"/>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2" name="Line 6"/>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3" name="Line 7"/>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4" name="Line 8"/>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5" name="Line 9"/>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6" name="Line 10"/>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7" name="Rectangle 11"/>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14348" name="Rectangle 12"/>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14349" name="Rectangle 13"/>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14350" name="Rectangle 14"/>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14351" name="Rectangle 15"/>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14352" name="Rectangle 16"/>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14353" name="Rectangle 17"/>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4" name="Rectangle 18"/>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14355" name="Group 19"/>
          <p:cNvGrpSpPr>
            <a:grpSpLocks/>
          </p:cNvGrpSpPr>
          <p:nvPr/>
        </p:nvGrpSpPr>
        <p:grpSpPr bwMode="auto">
          <a:xfrm>
            <a:off x="4598988" y="5475288"/>
            <a:ext cx="671512" cy="519112"/>
            <a:chOff x="2897" y="3449"/>
            <a:chExt cx="423" cy="327"/>
          </a:xfrm>
        </p:grpSpPr>
        <p:sp>
          <p:nvSpPr>
            <p:cNvPr id="14356" name="Rectangle 20"/>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14357" name="Picture 21"/>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58" name="Group 22"/>
          <p:cNvGrpSpPr>
            <a:grpSpLocks/>
          </p:cNvGrpSpPr>
          <p:nvPr/>
        </p:nvGrpSpPr>
        <p:grpSpPr bwMode="auto">
          <a:xfrm>
            <a:off x="2822575" y="5449888"/>
            <a:ext cx="671513" cy="569912"/>
            <a:chOff x="1778" y="3433"/>
            <a:chExt cx="423" cy="359"/>
          </a:xfrm>
        </p:grpSpPr>
        <p:sp>
          <p:nvSpPr>
            <p:cNvPr id="14359" name="Rectangle 23"/>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14360"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61" name="Group 25"/>
          <p:cNvGrpSpPr>
            <a:grpSpLocks/>
          </p:cNvGrpSpPr>
          <p:nvPr/>
        </p:nvGrpSpPr>
        <p:grpSpPr bwMode="auto">
          <a:xfrm>
            <a:off x="1906588" y="5445125"/>
            <a:ext cx="619125" cy="577850"/>
            <a:chOff x="1201" y="3430"/>
            <a:chExt cx="390" cy="364"/>
          </a:xfrm>
        </p:grpSpPr>
        <p:sp>
          <p:nvSpPr>
            <p:cNvPr id="14362" name="Rectangle 26"/>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14363" name="Picture 2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64" name="Group 28"/>
          <p:cNvGrpSpPr>
            <a:grpSpLocks/>
          </p:cNvGrpSpPr>
          <p:nvPr/>
        </p:nvGrpSpPr>
        <p:grpSpPr bwMode="auto">
          <a:xfrm>
            <a:off x="7764463" y="5480050"/>
            <a:ext cx="727075" cy="508000"/>
            <a:chOff x="4891" y="3452"/>
            <a:chExt cx="458" cy="320"/>
          </a:xfrm>
        </p:grpSpPr>
        <p:sp>
          <p:nvSpPr>
            <p:cNvPr id="14365" name="Rectangle 29"/>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14366" name="Picture 30"/>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67" name="Group 31"/>
          <p:cNvGrpSpPr>
            <a:grpSpLocks/>
          </p:cNvGrpSpPr>
          <p:nvPr/>
        </p:nvGrpSpPr>
        <p:grpSpPr bwMode="auto">
          <a:xfrm>
            <a:off x="6596063" y="4014788"/>
            <a:ext cx="1311275" cy="2832100"/>
            <a:chOff x="4155" y="2529"/>
            <a:chExt cx="826" cy="1784"/>
          </a:xfrm>
        </p:grpSpPr>
        <p:sp useBgFill="1">
          <p:nvSpPr>
            <p:cNvPr id="14368" name="Freeform 32"/>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69" name="Rectangle 33"/>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spTree>
  </p:cSld>
  <p:clrMapOvr>
    <a:masterClrMapping/>
  </p:clrMapOvr>
  <p:transition>
    <p:strips dir="l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62000" y="533400"/>
            <a:ext cx="7772400" cy="1143000"/>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Open Address Hashing</a:t>
            </a:r>
          </a:p>
        </p:txBody>
      </p:sp>
      <p:sp>
        <p:nvSpPr>
          <p:cNvPr id="16387" name="Rectangle 3"/>
          <p:cNvSpPr>
            <a:spLocks noGrp="1" noChangeArrowheads="1"/>
          </p:cNvSpPr>
          <p:nvPr>
            <p:ph type="body" sz="half" idx="1"/>
          </p:nvPr>
        </p:nvSpPr>
        <p:spPr>
          <a:xfrm>
            <a:off x="685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In order to insert a new record, the </a:t>
            </a:r>
            <a:r>
              <a:rPr lang="en-US" sz="2800" b="1" u="sng">
                <a:solidFill>
                  <a:schemeClr val="accent2"/>
                </a:solidFill>
              </a:rPr>
              <a:t>key</a:t>
            </a:r>
            <a:r>
              <a:rPr lang="en-US" sz="2800"/>
              <a:t> must somehow be </a:t>
            </a:r>
            <a:r>
              <a:rPr lang="en-US" sz="2800" b="1" u="sng">
                <a:solidFill>
                  <a:schemeClr val="accent2"/>
                </a:solidFill>
              </a:rPr>
              <a:t>converted to</a:t>
            </a:r>
            <a:r>
              <a:rPr lang="en-US" sz="2800" b="1">
                <a:solidFill>
                  <a:schemeClr val="accent2"/>
                </a:solidFill>
              </a:rPr>
              <a:t> </a:t>
            </a:r>
            <a:r>
              <a:rPr lang="en-US" sz="2800"/>
              <a:t>an array </a:t>
            </a:r>
            <a:r>
              <a:rPr lang="en-US" sz="2800" b="1" u="sng">
                <a:solidFill>
                  <a:schemeClr val="accent2"/>
                </a:solidFill>
              </a:rPr>
              <a:t>index</a:t>
            </a:r>
            <a:r>
              <a:rPr lang="en-US" sz="2800"/>
              <a:t>.</a:t>
            </a:r>
          </a:p>
          <a:p>
            <a:r>
              <a:rPr lang="en-US" sz="2800"/>
              <a:t>The index is called the </a:t>
            </a:r>
            <a:r>
              <a:rPr lang="en-US" sz="2800" b="1" u="sng">
                <a:solidFill>
                  <a:schemeClr val="accent2"/>
                </a:solidFill>
              </a:rPr>
              <a:t>hash value</a:t>
            </a:r>
            <a:r>
              <a:rPr lang="en-US" sz="2800" b="1">
                <a:solidFill>
                  <a:schemeClr val="accent2"/>
                </a:solidFill>
              </a:rPr>
              <a:t> </a:t>
            </a:r>
            <a:r>
              <a:rPr lang="en-US" sz="2800"/>
              <a:t>of the key.</a:t>
            </a:r>
          </a:p>
        </p:txBody>
      </p:sp>
      <p:sp>
        <p:nvSpPr>
          <p:cNvPr id="16388" name="Rectangle 4"/>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9" name="Line 5"/>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0" name="Line 6"/>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1" name="Line 7"/>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2" name="Line 8"/>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3" name="Line 9"/>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4" name="Line 10"/>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5" name="Rectangle 11"/>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16396" name="Rectangle 12"/>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16397" name="Rectangle 13"/>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16398" name="Rectangle 14"/>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16399" name="Rectangle 15"/>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16400" name="Rectangle 16"/>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16401" name="Rectangle 17"/>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02" name="Rectangle 18"/>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16403" name="Group 19"/>
          <p:cNvGrpSpPr>
            <a:grpSpLocks/>
          </p:cNvGrpSpPr>
          <p:nvPr/>
        </p:nvGrpSpPr>
        <p:grpSpPr bwMode="auto">
          <a:xfrm>
            <a:off x="4598988" y="5475288"/>
            <a:ext cx="671512" cy="519112"/>
            <a:chOff x="2897" y="3449"/>
            <a:chExt cx="423" cy="327"/>
          </a:xfrm>
        </p:grpSpPr>
        <p:sp>
          <p:nvSpPr>
            <p:cNvPr id="16404" name="Rectangle 20"/>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16405" name="Picture 21"/>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06" name="Group 22"/>
          <p:cNvGrpSpPr>
            <a:grpSpLocks/>
          </p:cNvGrpSpPr>
          <p:nvPr/>
        </p:nvGrpSpPr>
        <p:grpSpPr bwMode="auto">
          <a:xfrm>
            <a:off x="2822575" y="5449888"/>
            <a:ext cx="671513" cy="569912"/>
            <a:chOff x="1778" y="3433"/>
            <a:chExt cx="423" cy="359"/>
          </a:xfrm>
        </p:grpSpPr>
        <p:sp>
          <p:nvSpPr>
            <p:cNvPr id="16407" name="Rectangle 23"/>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16408"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09" name="Group 25"/>
          <p:cNvGrpSpPr>
            <a:grpSpLocks/>
          </p:cNvGrpSpPr>
          <p:nvPr/>
        </p:nvGrpSpPr>
        <p:grpSpPr bwMode="auto">
          <a:xfrm>
            <a:off x="1906588" y="5445125"/>
            <a:ext cx="619125" cy="577850"/>
            <a:chOff x="1201" y="3430"/>
            <a:chExt cx="390" cy="364"/>
          </a:xfrm>
        </p:grpSpPr>
        <p:sp>
          <p:nvSpPr>
            <p:cNvPr id="16410" name="Rectangle 26"/>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16411" name="Picture 2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12" name="Group 28"/>
          <p:cNvGrpSpPr>
            <a:grpSpLocks/>
          </p:cNvGrpSpPr>
          <p:nvPr/>
        </p:nvGrpSpPr>
        <p:grpSpPr bwMode="auto">
          <a:xfrm>
            <a:off x="7764463" y="5480050"/>
            <a:ext cx="727075" cy="508000"/>
            <a:chOff x="4891" y="3452"/>
            <a:chExt cx="458" cy="320"/>
          </a:xfrm>
        </p:grpSpPr>
        <p:sp>
          <p:nvSpPr>
            <p:cNvPr id="16413" name="Rectangle 29"/>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16414" name="Picture 30"/>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15" name="Group 31"/>
          <p:cNvGrpSpPr>
            <a:grpSpLocks/>
          </p:cNvGrpSpPr>
          <p:nvPr/>
        </p:nvGrpSpPr>
        <p:grpSpPr bwMode="auto">
          <a:xfrm>
            <a:off x="6596063" y="4014788"/>
            <a:ext cx="1311275" cy="2832100"/>
            <a:chOff x="4155" y="2529"/>
            <a:chExt cx="826" cy="1784"/>
          </a:xfrm>
        </p:grpSpPr>
        <p:sp useBgFill="1">
          <p:nvSpPr>
            <p:cNvPr id="16416" name="Freeform 32"/>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417" name="Rectangle 33"/>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sp>
        <p:nvSpPr>
          <p:cNvPr id="16418" name="Rectangle 34"/>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6419" name="Picture 35"/>
          <p:cNvPicPr>
            <a:picLocks noChangeArrowheads="1"/>
          </p:cNvPicPr>
          <p:nvPr/>
        </p:nvPicPr>
        <p:blipFill>
          <a:blip r:embed="rId7" cstate="print">
            <a:extLst>
              <a:ext uri="{28A0092B-C50C-407E-A947-70E740481C1C}">
                <a14:useLocalDpi xmlns:a14="http://schemas.microsoft.com/office/drawing/2010/main" val="0"/>
              </a:ext>
            </a:extLst>
          </a:blip>
          <a:srcRect l="50790" b="42133"/>
          <a:stretch>
            <a:fillRect/>
          </a:stretch>
        </p:blipFill>
        <p:spPr bwMode="auto">
          <a:xfrm>
            <a:off x="6342063" y="1416050"/>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420" name="Oval 36"/>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21" name="Rectangle 37"/>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580625685</a:t>
            </a:r>
          </a:p>
        </p:txBody>
      </p:sp>
    </p:spTree>
  </p:cSld>
  <p:clrMapOvr>
    <a:masterClrMapping/>
  </p:clrMapOvr>
  <p:transition>
    <p:randomBar dir="vert"/>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838200" y="762000"/>
            <a:ext cx="7772400" cy="1143000"/>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Inserting a New Record</a:t>
            </a:r>
          </a:p>
        </p:txBody>
      </p:sp>
      <p:sp>
        <p:nvSpPr>
          <p:cNvPr id="18435" name="Rectangle 3"/>
          <p:cNvSpPr>
            <a:spLocks noGrp="1" noChangeArrowheads="1"/>
          </p:cNvSpPr>
          <p:nvPr>
            <p:ph type="body" sz="half" idx="1"/>
          </p:nvPr>
        </p:nvSpPr>
        <p:spPr>
          <a:xfrm>
            <a:off x="685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Typical way create a hash value:</a:t>
            </a:r>
          </a:p>
        </p:txBody>
      </p:sp>
      <p:sp>
        <p:nvSpPr>
          <p:cNvPr id="18436" name="Rectangle 4"/>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7" name="Line 5"/>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Line 6"/>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9" name="Line 7"/>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0" name="Line 8"/>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1" name="Line 9"/>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2" name="Line 10"/>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Rectangle 11"/>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18444" name="Rectangle 12"/>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18445" name="Rectangle 13"/>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18446" name="Rectangle 14"/>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18447" name="Rectangle 15"/>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18448" name="Rectangle 16"/>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18449" name="Rectangle 17"/>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0" name="Rectangle 18"/>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18451" name="Group 19"/>
          <p:cNvGrpSpPr>
            <a:grpSpLocks/>
          </p:cNvGrpSpPr>
          <p:nvPr/>
        </p:nvGrpSpPr>
        <p:grpSpPr bwMode="auto">
          <a:xfrm>
            <a:off x="4598988" y="5475288"/>
            <a:ext cx="671512" cy="519112"/>
            <a:chOff x="2897" y="3449"/>
            <a:chExt cx="423" cy="327"/>
          </a:xfrm>
        </p:grpSpPr>
        <p:sp>
          <p:nvSpPr>
            <p:cNvPr id="18452" name="Rectangle 20"/>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18453" name="Picture 21"/>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54" name="Group 22"/>
          <p:cNvGrpSpPr>
            <a:grpSpLocks/>
          </p:cNvGrpSpPr>
          <p:nvPr/>
        </p:nvGrpSpPr>
        <p:grpSpPr bwMode="auto">
          <a:xfrm>
            <a:off x="2822575" y="5449888"/>
            <a:ext cx="671513" cy="569912"/>
            <a:chOff x="1778" y="3433"/>
            <a:chExt cx="423" cy="359"/>
          </a:xfrm>
        </p:grpSpPr>
        <p:sp>
          <p:nvSpPr>
            <p:cNvPr id="18455" name="Rectangle 23"/>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18456"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57" name="Group 25"/>
          <p:cNvGrpSpPr>
            <a:grpSpLocks/>
          </p:cNvGrpSpPr>
          <p:nvPr/>
        </p:nvGrpSpPr>
        <p:grpSpPr bwMode="auto">
          <a:xfrm>
            <a:off x="1906588" y="5445125"/>
            <a:ext cx="619125" cy="577850"/>
            <a:chOff x="1201" y="3430"/>
            <a:chExt cx="390" cy="364"/>
          </a:xfrm>
        </p:grpSpPr>
        <p:sp>
          <p:nvSpPr>
            <p:cNvPr id="18458" name="Rectangle 26"/>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18459" name="Picture 2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60" name="Group 28"/>
          <p:cNvGrpSpPr>
            <a:grpSpLocks/>
          </p:cNvGrpSpPr>
          <p:nvPr/>
        </p:nvGrpSpPr>
        <p:grpSpPr bwMode="auto">
          <a:xfrm>
            <a:off x="7764463" y="5480050"/>
            <a:ext cx="727075" cy="508000"/>
            <a:chOff x="4891" y="3452"/>
            <a:chExt cx="458" cy="320"/>
          </a:xfrm>
        </p:grpSpPr>
        <p:sp>
          <p:nvSpPr>
            <p:cNvPr id="18461" name="Rectangle 29"/>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18462" name="Picture 30"/>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63" name="Group 31"/>
          <p:cNvGrpSpPr>
            <a:grpSpLocks/>
          </p:cNvGrpSpPr>
          <p:nvPr/>
        </p:nvGrpSpPr>
        <p:grpSpPr bwMode="auto">
          <a:xfrm>
            <a:off x="6596063" y="4014788"/>
            <a:ext cx="1311275" cy="2832100"/>
            <a:chOff x="4155" y="2529"/>
            <a:chExt cx="826" cy="1784"/>
          </a:xfrm>
        </p:grpSpPr>
        <p:sp useBgFill="1">
          <p:nvSpPr>
            <p:cNvPr id="18464" name="Freeform 32"/>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5" name="Rectangle 33"/>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sp>
        <p:nvSpPr>
          <p:cNvPr id="18466" name="Rectangle 34"/>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8467" name="Picture 35"/>
          <p:cNvPicPr>
            <a:picLocks noChangeArrowheads="1"/>
          </p:cNvPicPr>
          <p:nvPr/>
        </p:nvPicPr>
        <p:blipFill>
          <a:blip r:embed="rId7" cstate="print">
            <a:extLst>
              <a:ext uri="{28A0092B-C50C-407E-A947-70E740481C1C}">
                <a14:useLocalDpi xmlns:a14="http://schemas.microsoft.com/office/drawing/2010/main" val="0"/>
              </a:ext>
            </a:extLst>
          </a:blip>
          <a:srcRect l="50790" b="42133"/>
          <a:stretch>
            <a:fillRect/>
          </a:stretch>
        </p:blipFill>
        <p:spPr bwMode="auto">
          <a:xfrm>
            <a:off x="6342063" y="1416050"/>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68" name="Oval 36"/>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9" name="Rectangle 37"/>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580625685</a:t>
            </a:r>
          </a:p>
        </p:txBody>
      </p:sp>
      <p:sp>
        <p:nvSpPr>
          <p:cNvPr id="18470" name="Rectangle 38"/>
          <p:cNvSpPr>
            <a:spLocks noChangeArrowheads="1"/>
          </p:cNvSpPr>
          <p:nvPr/>
        </p:nvSpPr>
        <p:spPr bwMode="auto">
          <a:xfrm>
            <a:off x="1192213" y="3006725"/>
            <a:ext cx="2941637"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(Number mod 701) </a:t>
            </a:r>
          </a:p>
        </p:txBody>
      </p:sp>
      <p:sp>
        <p:nvSpPr>
          <p:cNvPr id="18471" name="Rectangle 39"/>
          <p:cNvSpPr>
            <a:spLocks noChangeArrowheads="1"/>
          </p:cNvSpPr>
          <p:nvPr/>
        </p:nvSpPr>
        <p:spPr bwMode="auto">
          <a:xfrm>
            <a:off x="619125" y="3903663"/>
            <a:ext cx="6437313" cy="515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US" sz="2800">
                <a:latin typeface="Monotype Corsiva" panose="03010101010201010101" pitchFamily="66" charset="0"/>
              </a:rPr>
              <a:t>What is (580625685 % 701)  ? </a:t>
            </a:r>
          </a:p>
        </p:txBody>
      </p:sp>
    </p:spTree>
  </p:cSld>
  <p:clrMapOvr>
    <a:masterClrMapping/>
  </p:clrMapOvr>
  <p:transition>
    <p:randomBar dir="vert"/>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sz="half" idx="1"/>
          </p:nvPr>
        </p:nvSpPr>
        <p:spPr>
          <a:xfrm>
            <a:off x="685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Typical way to create a hash value:</a:t>
            </a:r>
          </a:p>
        </p:txBody>
      </p:sp>
      <p:sp>
        <p:nvSpPr>
          <p:cNvPr id="20484" name="Rectangle 4"/>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 name="Line 5"/>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6" name="Line 6"/>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7" name="Line 7"/>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8" name="Line 8"/>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9" name="Line 9"/>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0" name="Line 10"/>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1" name="Rectangle 11"/>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20492" name="Rectangle 12"/>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20493" name="Rectangle 13"/>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20494" name="Rectangle 14"/>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20495" name="Rectangle 15"/>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20496" name="Rectangle 16"/>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20497" name="Rectangle 17"/>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8" name="Rectangle 18"/>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20499" name="Group 19"/>
          <p:cNvGrpSpPr>
            <a:grpSpLocks/>
          </p:cNvGrpSpPr>
          <p:nvPr/>
        </p:nvGrpSpPr>
        <p:grpSpPr bwMode="auto">
          <a:xfrm>
            <a:off x="4598988" y="5475288"/>
            <a:ext cx="671512" cy="519112"/>
            <a:chOff x="2897" y="3449"/>
            <a:chExt cx="423" cy="327"/>
          </a:xfrm>
        </p:grpSpPr>
        <p:sp>
          <p:nvSpPr>
            <p:cNvPr id="20500" name="Rectangle 20"/>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20501" name="Picture 21"/>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02" name="Group 22"/>
          <p:cNvGrpSpPr>
            <a:grpSpLocks/>
          </p:cNvGrpSpPr>
          <p:nvPr/>
        </p:nvGrpSpPr>
        <p:grpSpPr bwMode="auto">
          <a:xfrm>
            <a:off x="2822575" y="5449888"/>
            <a:ext cx="671513" cy="569912"/>
            <a:chOff x="1778" y="3433"/>
            <a:chExt cx="423" cy="359"/>
          </a:xfrm>
        </p:grpSpPr>
        <p:sp>
          <p:nvSpPr>
            <p:cNvPr id="20503" name="Rectangle 23"/>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20504"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05" name="Group 25"/>
          <p:cNvGrpSpPr>
            <a:grpSpLocks/>
          </p:cNvGrpSpPr>
          <p:nvPr/>
        </p:nvGrpSpPr>
        <p:grpSpPr bwMode="auto">
          <a:xfrm>
            <a:off x="1906588" y="5445125"/>
            <a:ext cx="619125" cy="577850"/>
            <a:chOff x="1201" y="3430"/>
            <a:chExt cx="390" cy="364"/>
          </a:xfrm>
        </p:grpSpPr>
        <p:sp>
          <p:nvSpPr>
            <p:cNvPr id="20506" name="Rectangle 26"/>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20507" name="Picture 27"/>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08" name="Group 28"/>
          <p:cNvGrpSpPr>
            <a:grpSpLocks/>
          </p:cNvGrpSpPr>
          <p:nvPr/>
        </p:nvGrpSpPr>
        <p:grpSpPr bwMode="auto">
          <a:xfrm>
            <a:off x="7764463" y="5480050"/>
            <a:ext cx="727075" cy="508000"/>
            <a:chOff x="4891" y="3452"/>
            <a:chExt cx="458" cy="320"/>
          </a:xfrm>
        </p:grpSpPr>
        <p:sp>
          <p:nvSpPr>
            <p:cNvPr id="20509" name="Rectangle 29"/>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20510" name="Picture 30"/>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11" name="Group 31"/>
          <p:cNvGrpSpPr>
            <a:grpSpLocks/>
          </p:cNvGrpSpPr>
          <p:nvPr/>
        </p:nvGrpSpPr>
        <p:grpSpPr bwMode="auto">
          <a:xfrm>
            <a:off x="6596063" y="4014788"/>
            <a:ext cx="1311275" cy="2832100"/>
            <a:chOff x="4155" y="2529"/>
            <a:chExt cx="826" cy="1784"/>
          </a:xfrm>
        </p:grpSpPr>
        <p:sp useBgFill="1">
          <p:nvSpPr>
            <p:cNvPr id="20512" name="Freeform 32"/>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13" name="Rectangle 33"/>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sp>
        <p:nvSpPr>
          <p:cNvPr id="20514" name="Rectangle 34"/>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0515" name="Picture 35"/>
          <p:cNvPicPr>
            <a:picLocks noChangeArrowheads="1"/>
          </p:cNvPicPr>
          <p:nvPr/>
        </p:nvPicPr>
        <p:blipFill>
          <a:blip r:embed="rId7" cstate="print">
            <a:extLst>
              <a:ext uri="{28A0092B-C50C-407E-A947-70E740481C1C}">
                <a14:useLocalDpi xmlns:a14="http://schemas.microsoft.com/office/drawing/2010/main" val="0"/>
              </a:ext>
            </a:extLst>
          </a:blip>
          <a:srcRect l="50790" b="42133"/>
          <a:stretch>
            <a:fillRect/>
          </a:stretch>
        </p:blipFill>
        <p:spPr bwMode="auto">
          <a:xfrm>
            <a:off x="6342063" y="1416050"/>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6" name="Oval 36"/>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7" name="Rectangle 37"/>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580625685</a:t>
            </a:r>
          </a:p>
        </p:txBody>
      </p:sp>
      <p:sp>
        <p:nvSpPr>
          <p:cNvPr id="20518" name="Rectangle 38"/>
          <p:cNvSpPr>
            <a:spLocks noChangeArrowheads="1"/>
          </p:cNvSpPr>
          <p:nvPr/>
        </p:nvSpPr>
        <p:spPr bwMode="auto">
          <a:xfrm>
            <a:off x="1192213" y="3006725"/>
            <a:ext cx="2941637"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(Number mod 701) </a:t>
            </a:r>
          </a:p>
        </p:txBody>
      </p:sp>
      <p:sp>
        <p:nvSpPr>
          <p:cNvPr id="20519" name="Rectangle 39"/>
          <p:cNvSpPr>
            <a:spLocks noChangeArrowheads="1"/>
          </p:cNvSpPr>
          <p:nvPr/>
        </p:nvSpPr>
        <p:spPr bwMode="auto">
          <a:xfrm>
            <a:off x="619125" y="3735388"/>
            <a:ext cx="6437313" cy="515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US" sz="2800">
                <a:latin typeface="Monotype Corsiva" panose="03010101010201010101" pitchFamily="66" charset="0"/>
              </a:rPr>
              <a:t>What is (580625685 % 701) ?</a:t>
            </a:r>
          </a:p>
        </p:txBody>
      </p:sp>
      <p:sp>
        <p:nvSpPr>
          <p:cNvPr id="20520" name="AutoShape 40"/>
          <p:cNvSpPr>
            <a:spLocks noChangeArrowheads="1"/>
          </p:cNvSpPr>
          <p:nvPr/>
        </p:nvSpPr>
        <p:spPr bwMode="auto">
          <a:xfrm rot="10800000" flipH="1">
            <a:off x="7662863" y="3089275"/>
            <a:ext cx="1257300" cy="837407"/>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21" name="Rectangle 41"/>
          <p:cNvSpPr>
            <a:spLocks noChangeArrowheads="1"/>
          </p:cNvSpPr>
          <p:nvPr/>
        </p:nvSpPr>
        <p:spPr bwMode="auto">
          <a:xfrm>
            <a:off x="8164513" y="3417888"/>
            <a:ext cx="406400" cy="576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3200" b="1">
                <a:latin typeface="Arial" panose="020B0604020202020204" pitchFamily="34" charset="0"/>
              </a:rPr>
              <a:t>3</a:t>
            </a:r>
          </a:p>
        </p:txBody>
      </p:sp>
    </p:spTree>
  </p:cSld>
  <p:clrMapOvr>
    <a:masterClrMapping/>
  </p:clrMapOvr>
  <p:transition>
    <p:checke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The hash value is used for the location of the new record.</a:t>
            </a:r>
          </a:p>
        </p:txBody>
      </p:sp>
      <p:sp useBgFill="1">
        <p:nvSpPr>
          <p:cNvPr id="22532"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3" name="Rectangle 5"/>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2534" name="Picture 6"/>
          <p:cNvPicPr>
            <a:picLocks noChangeArrowheads="1"/>
          </p:cNvPicPr>
          <p:nvPr/>
        </p:nvPicPr>
        <p:blipFill>
          <a:blip r:embed="rId3" cstate="print">
            <a:extLst>
              <a:ext uri="{28A0092B-C50C-407E-A947-70E740481C1C}">
                <a14:useLocalDpi xmlns:a14="http://schemas.microsoft.com/office/drawing/2010/main" val="0"/>
              </a:ext>
            </a:extLst>
          </a:blip>
          <a:srcRect l="50790" b="42133"/>
          <a:stretch>
            <a:fillRect/>
          </a:stretch>
        </p:blipFill>
        <p:spPr bwMode="auto">
          <a:xfrm>
            <a:off x="6342063" y="1416050"/>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5" name="Oval 7"/>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6" name="Rectangle 8"/>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580625685</a:t>
            </a:r>
          </a:p>
        </p:txBody>
      </p:sp>
      <p:sp>
        <p:nvSpPr>
          <p:cNvPr id="22537" name="Rectangle 9"/>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8" name="Line 10"/>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9" name="Line 11"/>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0" name="Line 12"/>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1" name="Line 13"/>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2" name="Line 14"/>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3" name="Line 15"/>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4" name="Rectangle 16"/>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22545" name="Rectangle 17"/>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22546" name="Rectangle 18"/>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22547" name="Rectangle 19"/>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22548" name="Rectangle 20"/>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22549" name="Rectangle 21"/>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22550" name="Rectangle 22"/>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1" name="Rectangle 23"/>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22552" name="Group 24"/>
          <p:cNvGrpSpPr>
            <a:grpSpLocks/>
          </p:cNvGrpSpPr>
          <p:nvPr/>
        </p:nvGrpSpPr>
        <p:grpSpPr bwMode="auto">
          <a:xfrm>
            <a:off x="4598988" y="5475288"/>
            <a:ext cx="671512" cy="519112"/>
            <a:chOff x="2897" y="3449"/>
            <a:chExt cx="423" cy="327"/>
          </a:xfrm>
        </p:grpSpPr>
        <p:sp>
          <p:nvSpPr>
            <p:cNvPr id="22553" name="Rectangle 25"/>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22554" name="Picture 26"/>
            <p:cNvPicPr>
              <a:picLocks noChangeArrowheads="1"/>
            </p:cNvPicPr>
            <p:nvPr/>
          </p:nvPicPr>
          <p:blipFill>
            <a:blip r:embed="rId4"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555" name="Group 27"/>
          <p:cNvGrpSpPr>
            <a:grpSpLocks/>
          </p:cNvGrpSpPr>
          <p:nvPr/>
        </p:nvGrpSpPr>
        <p:grpSpPr bwMode="auto">
          <a:xfrm>
            <a:off x="2822575" y="5449888"/>
            <a:ext cx="671513" cy="569912"/>
            <a:chOff x="1778" y="3433"/>
            <a:chExt cx="423" cy="359"/>
          </a:xfrm>
        </p:grpSpPr>
        <p:sp>
          <p:nvSpPr>
            <p:cNvPr id="22556" name="Rectangle 28"/>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22557" name="Picture 2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558" name="Group 30"/>
          <p:cNvGrpSpPr>
            <a:grpSpLocks/>
          </p:cNvGrpSpPr>
          <p:nvPr/>
        </p:nvGrpSpPr>
        <p:grpSpPr bwMode="auto">
          <a:xfrm>
            <a:off x="1906588" y="5445125"/>
            <a:ext cx="619125" cy="577850"/>
            <a:chOff x="1201" y="3430"/>
            <a:chExt cx="390" cy="364"/>
          </a:xfrm>
        </p:grpSpPr>
        <p:sp>
          <p:nvSpPr>
            <p:cNvPr id="22559" name="Rectangle 31"/>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22560" name="Picture 32"/>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561" name="Group 33"/>
          <p:cNvGrpSpPr>
            <a:grpSpLocks/>
          </p:cNvGrpSpPr>
          <p:nvPr/>
        </p:nvGrpSpPr>
        <p:grpSpPr bwMode="auto">
          <a:xfrm>
            <a:off x="7764463" y="5480050"/>
            <a:ext cx="727075" cy="508000"/>
            <a:chOff x="4891" y="3452"/>
            <a:chExt cx="458" cy="320"/>
          </a:xfrm>
        </p:grpSpPr>
        <p:sp>
          <p:nvSpPr>
            <p:cNvPr id="22562" name="Rectangle 34"/>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22563" name="Picture 35"/>
            <p:cNvPicPr>
              <a:picLocks noChangeArrowheads="1"/>
            </p:cNvPicPr>
            <p:nvPr/>
          </p:nvPicPr>
          <p:blipFill>
            <a:blip r:embed="rId7"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2564" name="Freeform 36"/>
          <p:cNvSpPr>
            <a:spLocks/>
          </p:cNvSpPr>
          <p:nvPr/>
        </p:nvSpPr>
        <p:spPr bwMode="auto">
          <a:xfrm>
            <a:off x="3586163" y="914400"/>
            <a:ext cx="2435225" cy="5229225"/>
          </a:xfrm>
          <a:custGeom>
            <a:avLst/>
            <a:gdLst>
              <a:gd name="T0" fmla="*/ 0 w 1534"/>
              <a:gd name="T1" fmla="*/ 2787 h 3294"/>
              <a:gd name="T2" fmla="*/ 1533 w 1534"/>
              <a:gd name="T3" fmla="*/ 0 h 3294"/>
              <a:gd name="T4" fmla="*/ 1533 w 1534"/>
              <a:gd name="T5" fmla="*/ 1584 h 3294"/>
              <a:gd name="T6" fmla="*/ 0 w 1534"/>
              <a:gd name="T7" fmla="*/ 3293 h 3294"/>
              <a:gd name="T8" fmla="*/ 0 w 1534"/>
              <a:gd name="T9" fmla="*/ 2787 h 3294"/>
            </a:gdLst>
            <a:ahLst/>
            <a:cxnLst>
              <a:cxn ang="0">
                <a:pos x="T0" y="T1"/>
              </a:cxn>
              <a:cxn ang="0">
                <a:pos x="T2" y="T3"/>
              </a:cxn>
              <a:cxn ang="0">
                <a:pos x="T4" y="T5"/>
              </a:cxn>
              <a:cxn ang="0">
                <a:pos x="T6" y="T7"/>
              </a:cxn>
              <a:cxn ang="0">
                <a:pos x="T8" y="T9"/>
              </a:cxn>
            </a:cxnLst>
            <a:rect l="0" t="0" r="r" b="b"/>
            <a:pathLst>
              <a:path w="1534" h="3294">
                <a:moveTo>
                  <a:pt x="0" y="2787"/>
                </a:moveTo>
                <a:lnTo>
                  <a:pt x="1533" y="0"/>
                </a:lnTo>
                <a:lnTo>
                  <a:pt x="1533" y="1584"/>
                </a:lnTo>
                <a:lnTo>
                  <a:pt x="0" y="3293"/>
                </a:lnTo>
                <a:lnTo>
                  <a:pt x="0" y="2787"/>
                </a:lnTo>
              </a:path>
            </a:pathLst>
          </a:custGeom>
          <a:gradFill rotWithShape="0">
            <a:gsLst>
              <a:gs pos="0">
                <a:srgbClr val="8080FF"/>
              </a:gs>
              <a:gs pos="100000">
                <a:srgbClr val="8080FF">
                  <a:gamma/>
                  <a:shade val="29804"/>
                  <a:invGamma/>
                </a:srgbClr>
              </a:gs>
            </a:gsLst>
            <a:lin ang="54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2565" name="Group 37"/>
          <p:cNvGrpSpPr>
            <a:grpSpLocks/>
          </p:cNvGrpSpPr>
          <p:nvPr/>
        </p:nvGrpSpPr>
        <p:grpSpPr bwMode="auto">
          <a:xfrm>
            <a:off x="6596063" y="4014788"/>
            <a:ext cx="1311275" cy="2832100"/>
            <a:chOff x="4155" y="2529"/>
            <a:chExt cx="826" cy="1784"/>
          </a:xfrm>
        </p:grpSpPr>
        <p:sp useBgFill="1">
          <p:nvSpPr>
            <p:cNvPr id="22566" name="Freeform 38"/>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67" name="Rectangle 39"/>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sp>
        <p:nvSpPr>
          <p:cNvPr id="22568" name="Freeform 40"/>
          <p:cNvSpPr>
            <a:spLocks/>
          </p:cNvSpPr>
          <p:nvPr/>
        </p:nvSpPr>
        <p:spPr bwMode="auto">
          <a:xfrm>
            <a:off x="3576638" y="3386138"/>
            <a:ext cx="5059362" cy="2746375"/>
          </a:xfrm>
          <a:custGeom>
            <a:avLst/>
            <a:gdLst>
              <a:gd name="T0" fmla="*/ 0 w 3187"/>
              <a:gd name="T1" fmla="*/ 1729 h 1730"/>
              <a:gd name="T2" fmla="*/ 1546 w 3187"/>
              <a:gd name="T3" fmla="*/ 0 h 1730"/>
              <a:gd name="T4" fmla="*/ 3186 w 3187"/>
              <a:gd name="T5" fmla="*/ 0 h 1730"/>
              <a:gd name="T6" fmla="*/ 576 w 3187"/>
              <a:gd name="T7" fmla="*/ 1729 h 1730"/>
              <a:gd name="T8" fmla="*/ 0 w 3187"/>
              <a:gd name="T9" fmla="*/ 1729 h 1730"/>
            </a:gdLst>
            <a:ahLst/>
            <a:cxnLst>
              <a:cxn ang="0">
                <a:pos x="T0" y="T1"/>
              </a:cxn>
              <a:cxn ang="0">
                <a:pos x="T2" y="T3"/>
              </a:cxn>
              <a:cxn ang="0">
                <a:pos x="T4" y="T5"/>
              </a:cxn>
              <a:cxn ang="0">
                <a:pos x="T6" y="T7"/>
              </a:cxn>
              <a:cxn ang="0">
                <a:pos x="T8" y="T9"/>
              </a:cxn>
            </a:cxnLst>
            <a:rect l="0" t="0" r="r" b="b"/>
            <a:pathLst>
              <a:path w="3187" h="1730">
                <a:moveTo>
                  <a:pt x="0" y="1729"/>
                </a:moveTo>
                <a:lnTo>
                  <a:pt x="1546" y="0"/>
                </a:lnTo>
                <a:lnTo>
                  <a:pt x="3186" y="0"/>
                </a:lnTo>
                <a:lnTo>
                  <a:pt x="576" y="1729"/>
                </a:lnTo>
                <a:lnTo>
                  <a:pt x="0" y="1729"/>
                </a:lnTo>
              </a:path>
            </a:pathLst>
          </a:custGeom>
          <a:gradFill rotWithShape="0">
            <a:gsLst>
              <a:gs pos="0">
                <a:srgbClr val="8080FF">
                  <a:gamma/>
                  <a:shade val="29804"/>
                  <a:invGamma/>
                </a:srgbClr>
              </a:gs>
              <a:gs pos="100000">
                <a:srgbClr val="8080FF"/>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2569" name="Group 41"/>
          <p:cNvGrpSpPr>
            <a:grpSpLocks/>
          </p:cNvGrpSpPr>
          <p:nvPr/>
        </p:nvGrpSpPr>
        <p:grpSpPr bwMode="auto">
          <a:xfrm>
            <a:off x="7662863" y="3089275"/>
            <a:ext cx="1257300" cy="1004888"/>
            <a:chOff x="4827" y="1946"/>
            <a:chExt cx="792" cy="633"/>
          </a:xfrm>
        </p:grpSpPr>
        <p:sp>
          <p:nvSpPr>
            <p:cNvPr id="22570" name="AutoShape 42"/>
            <p:cNvSpPr>
              <a:spLocks noChangeArrowheads="1"/>
            </p:cNvSpPr>
            <p:nvPr/>
          </p:nvSpPr>
          <p:spPr bwMode="auto">
            <a:xfrm rot="10800000" flipH="1">
              <a:off x="4827" y="1946"/>
              <a:ext cx="792" cy="528"/>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71" name="Rectangle 43"/>
            <p:cNvSpPr>
              <a:spLocks noChangeArrowheads="1"/>
            </p:cNvSpPr>
            <p:nvPr/>
          </p:nvSpPr>
          <p:spPr bwMode="auto">
            <a:xfrm>
              <a:off x="5022" y="2153"/>
              <a:ext cx="426" cy="3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3200" b="1">
                  <a:latin typeface="Arial" panose="020B0604020202020204" pitchFamily="34" charset="0"/>
                </a:rPr>
                <a:t>[3]</a:t>
              </a:r>
            </a:p>
          </p:txBody>
        </p:sp>
      </p:grpSp>
    </p:spTree>
  </p:cSld>
  <p:clrMapOvr>
    <a:masterClrMapping/>
  </p:clrMapOvr>
  <p:transition spd="slow">
    <p:strips dir="l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Inserting a New Record</a:t>
            </a:r>
          </a:p>
        </p:txBody>
      </p:sp>
      <p:sp>
        <p:nvSpPr>
          <p:cNvPr id="24579"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The hash value is used for the location of the new record.</a:t>
            </a:r>
          </a:p>
        </p:txBody>
      </p:sp>
      <p:sp useBgFill="1">
        <p:nvSpPr>
          <p:cNvPr id="24580"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1"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2"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3"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5"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6"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7"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8"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24589"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24590"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24591"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24592"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24593"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24594"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5"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24596" name="Group 20"/>
          <p:cNvGrpSpPr>
            <a:grpSpLocks/>
          </p:cNvGrpSpPr>
          <p:nvPr/>
        </p:nvGrpSpPr>
        <p:grpSpPr bwMode="auto">
          <a:xfrm>
            <a:off x="4598988" y="5475288"/>
            <a:ext cx="671512" cy="519112"/>
            <a:chOff x="2897" y="3449"/>
            <a:chExt cx="423" cy="327"/>
          </a:xfrm>
        </p:grpSpPr>
        <p:sp>
          <p:nvSpPr>
            <p:cNvPr id="24597"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24598"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599" name="Group 23"/>
          <p:cNvGrpSpPr>
            <a:grpSpLocks/>
          </p:cNvGrpSpPr>
          <p:nvPr/>
        </p:nvGrpSpPr>
        <p:grpSpPr bwMode="auto">
          <a:xfrm>
            <a:off x="2822575" y="5449888"/>
            <a:ext cx="671513" cy="569912"/>
            <a:chOff x="1778" y="3433"/>
            <a:chExt cx="423" cy="359"/>
          </a:xfrm>
        </p:grpSpPr>
        <p:sp>
          <p:nvSpPr>
            <p:cNvPr id="24600"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24601"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602" name="Group 26"/>
          <p:cNvGrpSpPr>
            <a:grpSpLocks/>
          </p:cNvGrpSpPr>
          <p:nvPr/>
        </p:nvGrpSpPr>
        <p:grpSpPr bwMode="auto">
          <a:xfrm>
            <a:off x="1906588" y="5445125"/>
            <a:ext cx="619125" cy="577850"/>
            <a:chOff x="1201" y="3430"/>
            <a:chExt cx="390" cy="364"/>
          </a:xfrm>
        </p:grpSpPr>
        <p:sp>
          <p:nvSpPr>
            <p:cNvPr id="24603"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24604"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605" name="Group 29"/>
          <p:cNvGrpSpPr>
            <a:grpSpLocks/>
          </p:cNvGrpSpPr>
          <p:nvPr/>
        </p:nvGrpSpPr>
        <p:grpSpPr bwMode="auto">
          <a:xfrm>
            <a:off x="7764463" y="5480050"/>
            <a:ext cx="727075" cy="508000"/>
            <a:chOff x="4891" y="3452"/>
            <a:chExt cx="458" cy="320"/>
          </a:xfrm>
        </p:grpSpPr>
        <p:sp>
          <p:nvSpPr>
            <p:cNvPr id="24606"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24607"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608" name="Group 32"/>
          <p:cNvGrpSpPr>
            <a:grpSpLocks/>
          </p:cNvGrpSpPr>
          <p:nvPr/>
        </p:nvGrpSpPr>
        <p:grpSpPr bwMode="auto">
          <a:xfrm>
            <a:off x="6596063" y="4014788"/>
            <a:ext cx="1311275" cy="2832100"/>
            <a:chOff x="4155" y="2529"/>
            <a:chExt cx="826" cy="1784"/>
          </a:xfrm>
        </p:grpSpPr>
        <p:sp useBgFill="1">
          <p:nvSpPr>
            <p:cNvPr id="24609"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0"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24611" name="Group 35"/>
          <p:cNvGrpSpPr>
            <a:grpSpLocks/>
          </p:cNvGrpSpPr>
          <p:nvPr/>
        </p:nvGrpSpPr>
        <p:grpSpPr bwMode="auto">
          <a:xfrm>
            <a:off x="3713163" y="5465763"/>
            <a:ext cx="619125" cy="558800"/>
            <a:chOff x="2339" y="3443"/>
            <a:chExt cx="390" cy="352"/>
          </a:xfrm>
        </p:grpSpPr>
        <p:pic>
          <p:nvPicPr>
            <p:cNvPr id="24612"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613"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spTree>
  </p:cSld>
  <p:clrMapOvr>
    <a:masterClrMapping/>
  </p:clrMapOvr>
  <p:transition>
    <p:strips dir="l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Collisions</a:t>
            </a:r>
          </a:p>
        </p:txBody>
      </p:sp>
      <p:sp>
        <p:nvSpPr>
          <p:cNvPr id="26627"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Here is another new record to insert, with a hash value of 2.</a:t>
            </a:r>
          </a:p>
        </p:txBody>
      </p:sp>
      <p:sp useBgFill="1">
        <p:nvSpPr>
          <p:cNvPr id="26628"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29"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0"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1"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2"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3"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4"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5"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6"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26637"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26638"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26639"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26640"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26641"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26642"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43"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26644" name="Group 20"/>
          <p:cNvGrpSpPr>
            <a:grpSpLocks/>
          </p:cNvGrpSpPr>
          <p:nvPr/>
        </p:nvGrpSpPr>
        <p:grpSpPr bwMode="auto">
          <a:xfrm>
            <a:off x="4598988" y="5475288"/>
            <a:ext cx="671512" cy="519112"/>
            <a:chOff x="2897" y="3449"/>
            <a:chExt cx="423" cy="327"/>
          </a:xfrm>
        </p:grpSpPr>
        <p:sp>
          <p:nvSpPr>
            <p:cNvPr id="26645"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26646"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47" name="Group 23"/>
          <p:cNvGrpSpPr>
            <a:grpSpLocks/>
          </p:cNvGrpSpPr>
          <p:nvPr/>
        </p:nvGrpSpPr>
        <p:grpSpPr bwMode="auto">
          <a:xfrm>
            <a:off x="2822575" y="5449888"/>
            <a:ext cx="671513" cy="569912"/>
            <a:chOff x="1778" y="3433"/>
            <a:chExt cx="423" cy="359"/>
          </a:xfrm>
        </p:grpSpPr>
        <p:sp>
          <p:nvSpPr>
            <p:cNvPr id="26648"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26649"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50" name="Group 26"/>
          <p:cNvGrpSpPr>
            <a:grpSpLocks/>
          </p:cNvGrpSpPr>
          <p:nvPr/>
        </p:nvGrpSpPr>
        <p:grpSpPr bwMode="auto">
          <a:xfrm>
            <a:off x="1906588" y="5445125"/>
            <a:ext cx="619125" cy="577850"/>
            <a:chOff x="1201" y="3430"/>
            <a:chExt cx="390" cy="364"/>
          </a:xfrm>
        </p:grpSpPr>
        <p:sp>
          <p:nvSpPr>
            <p:cNvPr id="26651"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26652"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53" name="Group 29"/>
          <p:cNvGrpSpPr>
            <a:grpSpLocks/>
          </p:cNvGrpSpPr>
          <p:nvPr/>
        </p:nvGrpSpPr>
        <p:grpSpPr bwMode="auto">
          <a:xfrm>
            <a:off x="7764463" y="5480050"/>
            <a:ext cx="727075" cy="508000"/>
            <a:chOff x="4891" y="3452"/>
            <a:chExt cx="458" cy="320"/>
          </a:xfrm>
        </p:grpSpPr>
        <p:sp>
          <p:nvSpPr>
            <p:cNvPr id="26654"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26655"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56" name="Group 32"/>
          <p:cNvGrpSpPr>
            <a:grpSpLocks/>
          </p:cNvGrpSpPr>
          <p:nvPr/>
        </p:nvGrpSpPr>
        <p:grpSpPr bwMode="auto">
          <a:xfrm>
            <a:off x="6596063" y="4014788"/>
            <a:ext cx="1311275" cy="2832100"/>
            <a:chOff x="4155" y="2529"/>
            <a:chExt cx="826" cy="1784"/>
          </a:xfrm>
        </p:grpSpPr>
        <p:sp useBgFill="1">
          <p:nvSpPr>
            <p:cNvPr id="26657"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58"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26659" name="Group 35"/>
          <p:cNvGrpSpPr>
            <a:grpSpLocks/>
          </p:cNvGrpSpPr>
          <p:nvPr/>
        </p:nvGrpSpPr>
        <p:grpSpPr bwMode="auto">
          <a:xfrm>
            <a:off x="3713163" y="5465763"/>
            <a:ext cx="619125" cy="558800"/>
            <a:chOff x="2339" y="3443"/>
            <a:chExt cx="390" cy="352"/>
          </a:xfrm>
        </p:grpSpPr>
        <p:pic>
          <p:nvPicPr>
            <p:cNvPr id="26660"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61"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sp>
        <p:nvSpPr>
          <p:cNvPr id="26662" name="Rectangle 38"/>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6663"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64" name="Oval 40"/>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65" name="Rectangle 41"/>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
        <p:nvSpPr>
          <p:cNvPr id="26666" name="Line 42"/>
          <p:cNvSpPr>
            <a:spLocks noChangeShapeType="1"/>
          </p:cNvSpPr>
          <p:nvPr/>
        </p:nvSpPr>
        <p:spPr bwMode="auto">
          <a:xfrm flipH="1">
            <a:off x="3302000" y="2376488"/>
            <a:ext cx="2720975" cy="2432050"/>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67" name="AutoShape 43"/>
          <p:cNvSpPr>
            <a:spLocks noChangeArrowheads="1"/>
          </p:cNvSpPr>
          <p:nvPr/>
        </p:nvSpPr>
        <p:spPr bwMode="auto">
          <a:xfrm rot="10800000" flipH="1">
            <a:off x="7324725"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b="1"/>
              <a:t>My hash</a:t>
            </a:r>
          </a:p>
          <a:p>
            <a:pPr algn="ctr" eaLnBrk="0" hangingPunct="0"/>
            <a:r>
              <a:rPr lang="en-US" b="1"/>
              <a:t>value is [2].</a:t>
            </a:r>
          </a:p>
        </p:txBody>
      </p:sp>
    </p:spTree>
  </p:cSld>
  <p:clrMapOvr>
    <a:masterClrMapping/>
  </p:clrMapOvr>
  <p:transition>
    <p:strips dir="l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Collisions</a:t>
            </a:r>
          </a:p>
        </p:txBody>
      </p:sp>
      <p:sp>
        <p:nvSpPr>
          <p:cNvPr id="28675"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This is called a </a:t>
            </a:r>
            <a:r>
              <a:rPr lang="en-US" sz="2800" b="1" u="sng">
                <a:solidFill>
                  <a:schemeClr val="accent2"/>
                </a:solidFill>
              </a:rPr>
              <a:t>collision</a:t>
            </a:r>
            <a:r>
              <a:rPr lang="en-US" sz="2800"/>
              <a:t>, because there is already another valid record at [2].</a:t>
            </a:r>
          </a:p>
        </p:txBody>
      </p:sp>
      <p:sp useBgFill="1">
        <p:nvSpPr>
          <p:cNvPr id="28676"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7"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8"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9"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0"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1"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2"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3"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4"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28685"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28686"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28687"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28688"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28689"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28690"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91"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28692" name="Group 20"/>
          <p:cNvGrpSpPr>
            <a:grpSpLocks/>
          </p:cNvGrpSpPr>
          <p:nvPr/>
        </p:nvGrpSpPr>
        <p:grpSpPr bwMode="auto">
          <a:xfrm>
            <a:off x="4598988" y="5475288"/>
            <a:ext cx="671512" cy="519112"/>
            <a:chOff x="2897" y="3449"/>
            <a:chExt cx="423" cy="327"/>
          </a:xfrm>
        </p:grpSpPr>
        <p:sp>
          <p:nvSpPr>
            <p:cNvPr id="28693"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28694"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695" name="Group 23"/>
          <p:cNvGrpSpPr>
            <a:grpSpLocks/>
          </p:cNvGrpSpPr>
          <p:nvPr/>
        </p:nvGrpSpPr>
        <p:grpSpPr bwMode="auto">
          <a:xfrm>
            <a:off x="2822575" y="5449888"/>
            <a:ext cx="671513" cy="569912"/>
            <a:chOff x="1778" y="3433"/>
            <a:chExt cx="423" cy="359"/>
          </a:xfrm>
        </p:grpSpPr>
        <p:sp>
          <p:nvSpPr>
            <p:cNvPr id="28696"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28697"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698" name="Group 26"/>
          <p:cNvGrpSpPr>
            <a:grpSpLocks/>
          </p:cNvGrpSpPr>
          <p:nvPr/>
        </p:nvGrpSpPr>
        <p:grpSpPr bwMode="auto">
          <a:xfrm>
            <a:off x="1906588" y="5445125"/>
            <a:ext cx="619125" cy="577850"/>
            <a:chOff x="1201" y="3430"/>
            <a:chExt cx="390" cy="364"/>
          </a:xfrm>
        </p:grpSpPr>
        <p:sp>
          <p:nvSpPr>
            <p:cNvPr id="28699"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28700"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701" name="Group 29"/>
          <p:cNvGrpSpPr>
            <a:grpSpLocks/>
          </p:cNvGrpSpPr>
          <p:nvPr/>
        </p:nvGrpSpPr>
        <p:grpSpPr bwMode="auto">
          <a:xfrm>
            <a:off x="7764463" y="5480050"/>
            <a:ext cx="727075" cy="508000"/>
            <a:chOff x="4891" y="3452"/>
            <a:chExt cx="458" cy="320"/>
          </a:xfrm>
        </p:grpSpPr>
        <p:sp>
          <p:nvSpPr>
            <p:cNvPr id="28702"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28703"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704" name="Group 32"/>
          <p:cNvGrpSpPr>
            <a:grpSpLocks/>
          </p:cNvGrpSpPr>
          <p:nvPr/>
        </p:nvGrpSpPr>
        <p:grpSpPr bwMode="auto">
          <a:xfrm>
            <a:off x="6596063" y="4014788"/>
            <a:ext cx="1311275" cy="2832100"/>
            <a:chOff x="4155" y="2529"/>
            <a:chExt cx="826" cy="1784"/>
          </a:xfrm>
        </p:grpSpPr>
        <p:sp useBgFill="1">
          <p:nvSpPr>
            <p:cNvPr id="28705"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06"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28707" name="Group 35"/>
          <p:cNvGrpSpPr>
            <a:grpSpLocks/>
          </p:cNvGrpSpPr>
          <p:nvPr/>
        </p:nvGrpSpPr>
        <p:grpSpPr bwMode="auto">
          <a:xfrm>
            <a:off x="3713163" y="5465763"/>
            <a:ext cx="619125" cy="558800"/>
            <a:chOff x="2339" y="3443"/>
            <a:chExt cx="390" cy="352"/>
          </a:xfrm>
        </p:grpSpPr>
        <p:pic>
          <p:nvPicPr>
            <p:cNvPr id="28708"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709"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sp>
        <p:nvSpPr>
          <p:cNvPr id="28710" name="Rectangle 38"/>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8711"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712" name="Oval 40"/>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13" name="Rectangle 41"/>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pic>
        <p:nvPicPr>
          <p:cNvPr id="28714" name="Picture 42"/>
          <p:cNvPicPr>
            <a:picLocks noChangeArrowheads="1"/>
          </p:cNvPicPr>
          <p:nvPr/>
        </p:nvPicPr>
        <p:blipFill>
          <a:blip r:embed="rId9" cstate="print">
            <a:extLst>
              <a:ext uri="{28A0092B-C50C-407E-A947-70E740481C1C}">
                <a14:useLocalDpi xmlns:a14="http://schemas.microsoft.com/office/drawing/2010/main" val="0"/>
              </a:ext>
            </a:extLst>
          </a:blip>
          <a:srcRect t="67752" r="46098"/>
          <a:stretch>
            <a:fillRect/>
          </a:stretch>
        </p:blipFill>
        <p:spPr bwMode="auto">
          <a:xfrm>
            <a:off x="3343275" y="5910263"/>
            <a:ext cx="1304925" cy="769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715" name="AutoShape 43"/>
          <p:cNvSpPr>
            <a:spLocks noChangeArrowheads="1"/>
          </p:cNvSpPr>
          <p:nvPr/>
        </p:nvSpPr>
        <p:spPr bwMode="auto">
          <a:xfrm>
            <a:off x="169863" y="3181350"/>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sz="2800" b="1"/>
              <a:t>When a collision occurs,</a:t>
            </a:r>
          </a:p>
          <a:p>
            <a:pPr algn="ctr" eaLnBrk="0" hangingPunct="0"/>
            <a:r>
              <a:rPr lang="en-US" sz="2800" b="1"/>
              <a:t>move forward until you</a:t>
            </a:r>
          </a:p>
          <a:p>
            <a:pPr algn="ctr" eaLnBrk="0" hangingPunct="0"/>
            <a:r>
              <a:rPr lang="en-US" sz="2800" b="1"/>
              <a:t>find an empty spot.</a:t>
            </a:r>
          </a:p>
        </p:txBody>
      </p:sp>
      <p:sp>
        <p:nvSpPr>
          <p:cNvPr id="28716" name="Line 44"/>
          <p:cNvSpPr>
            <a:spLocks noChangeShapeType="1"/>
          </p:cNvSpPr>
          <p:nvPr/>
        </p:nvSpPr>
        <p:spPr bwMode="auto">
          <a:xfrm flipH="1">
            <a:off x="4191000" y="2376488"/>
            <a:ext cx="1831975" cy="2449512"/>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trips dir="l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Collisions</a:t>
            </a:r>
          </a:p>
        </p:txBody>
      </p:sp>
      <p:sp>
        <p:nvSpPr>
          <p:cNvPr id="30723"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This is called a </a:t>
            </a:r>
            <a:r>
              <a:rPr lang="en-US" sz="2800" b="1" u="sng">
                <a:solidFill>
                  <a:schemeClr val="accent2"/>
                </a:solidFill>
              </a:rPr>
              <a:t>collision</a:t>
            </a:r>
            <a:r>
              <a:rPr lang="en-US" sz="2800"/>
              <a:t>, because there is already another valid record at [2].</a:t>
            </a:r>
          </a:p>
        </p:txBody>
      </p:sp>
      <p:sp useBgFill="1">
        <p:nvSpPr>
          <p:cNvPr id="30724"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5"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6"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7"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8"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9"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0"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1"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2"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30733"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30734"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30735"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30736"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30737"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30738"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9"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30740" name="Group 20"/>
          <p:cNvGrpSpPr>
            <a:grpSpLocks/>
          </p:cNvGrpSpPr>
          <p:nvPr/>
        </p:nvGrpSpPr>
        <p:grpSpPr bwMode="auto">
          <a:xfrm>
            <a:off x="4598988" y="5475288"/>
            <a:ext cx="671512" cy="519112"/>
            <a:chOff x="2897" y="3449"/>
            <a:chExt cx="423" cy="327"/>
          </a:xfrm>
        </p:grpSpPr>
        <p:sp>
          <p:nvSpPr>
            <p:cNvPr id="30741"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30742"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43" name="Group 23"/>
          <p:cNvGrpSpPr>
            <a:grpSpLocks/>
          </p:cNvGrpSpPr>
          <p:nvPr/>
        </p:nvGrpSpPr>
        <p:grpSpPr bwMode="auto">
          <a:xfrm>
            <a:off x="2822575" y="5449888"/>
            <a:ext cx="671513" cy="569912"/>
            <a:chOff x="1778" y="3433"/>
            <a:chExt cx="423" cy="359"/>
          </a:xfrm>
        </p:grpSpPr>
        <p:sp>
          <p:nvSpPr>
            <p:cNvPr id="30744"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30745"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46" name="Group 26"/>
          <p:cNvGrpSpPr>
            <a:grpSpLocks/>
          </p:cNvGrpSpPr>
          <p:nvPr/>
        </p:nvGrpSpPr>
        <p:grpSpPr bwMode="auto">
          <a:xfrm>
            <a:off x="1906588" y="5445125"/>
            <a:ext cx="619125" cy="577850"/>
            <a:chOff x="1201" y="3430"/>
            <a:chExt cx="390" cy="364"/>
          </a:xfrm>
        </p:grpSpPr>
        <p:sp>
          <p:nvSpPr>
            <p:cNvPr id="30747"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30748"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49" name="Group 29"/>
          <p:cNvGrpSpPr>
            <a:grpSpLocks/>
          </p:cNvGrpSpPr>
          <p:nvPr/>
        </p:nvGrpSpPr>
        <p:grpSpPr bwMode="auto">
          <a:xfrm>
            <a:off x="7764463" y="5480050"/>
            <a:ext cx="727075" cy="508000"/>
            <a:chOff x="4891" y="3452"/>
            <a:chExt cx="458" cy="320"/>
          </a:xfrm>
        </p:grpSpPr>
        <p:sp>
          <p:nvSpPr>
            <p:cNvPr id="30750"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30751"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52" name="Group 32"/>
          <p:cNvGrpSpPr>
            <a:grpSpLocks/>
          </p:cNvGrpSpPr>
          <p:nvPr/>
        </p:nvGrpSpPr>
        <p:grpSpPr bwMode="auto">
          <a:xfrm>
            <a:off x="6596063" y="4014788"/>
            <a:ext cx="1311275" cy="2832100"/>
            <a:chOff x="4155" y="2529"/>
            <a:chExt cx="826" cy="1784"/>
          </a:xfrm>
        </p:grpSpPr>
        <p:sp useBgFill="1">
          <p:nvSpPr>
            <p:cNvPr id="30753"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54"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30755" name="Group 35"/>
          <p:cNvGrpSpPr>
            <a:grpSpLocks/>
          </p:cNvGrpSpPr>
          <p:nvPr/>
        </p:nvGrpSpPr>
        <p:grpSpPr bwMode="auto">
          <a:xfrm>
            <a:off x="3713163" y="5465763"/>
            <a:ext cx="619125" cy="558800"/>
            <a:chOff x="2339" y="3443"/>
            <a:chExt cx="390" cy="352"/>
          </a:xfrm>
        </p:grpSpPr>
        <p:pic>
          <p:nvPicPr>
            <p:cNvPr id="30756"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57"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sp>
        <p:nvSpPr>
          <p:cNvPr id="30758" name="Rectangle 38"/>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0759"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60" name="Oval 40"/>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61" name="Rectangle 41"/>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pic>
        <p:nvPicPr>
          <p:cNvPr id="30762" name="Picture 42"/>
          <p:cNvPicPr>
            <a:picLocks noChangeArrowheads="1"/>
          </p:cNvPicPr>
          <p:nvPr/>
        </p:nvPicPr>
        <p:blipFill>
          <a:blip r:embed="rId9" cstate="print">
            <a:extLst>
              <a:ext uri="{28A0092B-C50C-407E-A947-70E740481C1C}">
                <a14:useLocalDpi xmlns:a14="http://schemas.microsoft.com/office/drawing/2010/main" val="0"/>
              </a:ext>
            </a:extLst>
          </a:blip>
          <a:srcRect t="67752" r="46098"/>
          <a:stretch>
            <a:fillRect/>
          </a:stretch>
        </p:blipFill>
        <p:spPr bwMode="auto">
          <a:xfrm>
            <a:off x="4249738" y="5910263"/>
            <a:ext cx="1304925" cy="769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63" name="AutoShape 43"/>
          <p:cNvSpPr>
            <a:spLocks noChangeArrowheads="1"/>
          </p:cNvSpPr>
          <p:nvPr/>
        </p:nvSpPr>
        <p:spPr bwMode="auto">
          <a:xfrm>
            <a:off x="169863" y="3181350"/>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sz="2800" b="1"/>
              <a:t>When a collision occurs,</a:t>
            </a:r>
          </a:p>
          <a:p>
            <a:pPr algn="ctr" eaLnBrk="0" hangingPunct="0"/>
            <a:r>
              <a:rPr lang="en-US" sz="2800" b="1"/>
              <a:t>move forward until you</a:t>
            </a:r>
          </a:p>
          <a:p>
            <a:pPr algn="ctr" eaLnBrk="0" hangingPunct="0"/>
            <a:r>
              <a:rPr lang="en-US" sz="2800" b="1"/>
              <a:t>find an empty spot.</a:t>
            </a:r>
          </a:p>
        </p:txBody>
      </p:sp>
      <p:sp>
        <p:nvSpPr>
          <p:cNvPr id="30764" name="Line 44"/>
          <p:cNvSpPr>
            <a:spLocks noChangeShapeType="1"/>
          </p:cNvSpPr>
          <p:nvPr/>
        </p:nvSpPr>
        <p:spPr bwMode="auto">
          <a:xfrm flipH="1">
            <a:off x="4879975" y="2376488"/>
            <a:ext cx="1143000" cy="2522537"/>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trips dir="ld"/>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Collisions</a:t>
            </a:r>
          </a:p>
        </p:txBody>
      </p:sp>
      <p:sp>
        <p:nvSpPr>
          <p:cNvPr id="32771"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This is called a </a:t>
            </a:r>
            <a:r>
              <a:rPr lang="en-US" sz="2800" b="1" u="sng">
                <a:solidFill>
                  <a:schemeClr val="accent2"/>
                </a:solidFill>
              </a:rPr>
              <a:t>collision</a:t>
            </a:r>
            <a:r>
              <a:rPr lang="en-US" sz="2800"/>
              <a:t>, because there is already another valid record at [2].</a:t>
            </a:r>
          </a:p>
        </p:txBody>
      </p:sp>
      <p:sp useBgFill="1">
        <p:nvSpPr>
          <p:cNvPr id="32772"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3"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4"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5"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6"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7"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8"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9"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0"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32781"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32782"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32783"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32784"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32785"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32786"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7"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32788" name="Group 20"/>
          <p:cNvGrpSpPr>
            <a:grpSpLocks/>
          </p:cNvGrpSpPr>
          <p:nvPr/>
        </p:nvGrpSpPr>
        <p:grpSpPr bwMode="auto">
          <a:xfrm>
            <a:off x="4598988" y="5475288"/>
            <a:ext cx="671512" cy="519112"/>
            <a:chOff x="2897" y="3449"/>
            <a:chExt cx="423" cy="327"/>
          </a:xfrm>
        </p:grpSpPr>
        <p:sp>
          <p:nvSpPr>
            <p:cNvPr id="32789"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32790"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791" name="Group 23"/>
          <p:cNvGrpSpPr>
            <a:grpSpLocks/>
          </p:cNvGrpSpPr>
          <p:nvPr/>
        </p:nvGrpSpPr>
        <p:grpSpPr bwMode="auto">
          <a:xfrm>
            <a:off x="2822575" y="5449888"/>
            <a:ext cx="671513" cy="569912"/>
            <a:chOff x="1778" y="3433"/>
            <a:chExt cx="423" cy="359"/>
          </a:xfrm>
        </p:grpSpPr>
        <p:sp>
          <p:nvSpPr>
            <p:cNvPr id="32792"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32793"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794" name="Group 26"/>
          <p:cNvGrpSpPr>
            <a:grpSpLocks/>
          </p:cNvGrpSpPr>
          <p:nvPr/>
        </p:nvGrpSpPr>
        <p:grpSpPr bwMode="auto">
          <a:xfrm>
            <a:off x="1906588" y="5445125"/>
            <a:ext cx="619125" cy="577850"/>
            <a:chOff x="1201" y="3430"/>
            <a:chExt cx="390" cy="364"/>
          </a:xfrm>
        </p:grpSpPr>
        <p:sp>
          <p:nvSpPr>
            <p:cNvPr id="32795"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32796"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797" name="Group 29"/>
          <p:cNvGrpSpPr>
            <a:grpSpLocks/>
          </p:cNvGrpSpPr>
          <p:nvPr/>
        </p:nvGrpSpPr>
        <p:grpSpPr bwMode="auto">
          <a:xfrm>
            <a:off x="7764463" y="5480050"/>
            <a:ext cx="727075" cy="508000"/>
            <a:chOff x="4891" y="3452"/>
            <a:chExt cx="458" cy="320"/>
          </a:xfrm>
        </p:grpSpPr>
        <p:sp>
          <p:nvSpPr>
            <p:cNvPr id="32798"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32799"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800" name="Group 32"/>
          <p:cNvGrpSpPr>
            <a:grpSpLocks/>
          </p:cNvGrpSpPr>
          <p:nvPr/>
        </p:nvGrpSpPr>
        <p:grpSpPr bwMode="auto">
          <a:xfrm>
            <a:off x="6596063" y="4014788"/>
            <a:ext cx="1311275" cy="2832100"/>
            <a:chOff x="4155" y="2529"/>
            <a:chExt cx="826" cy="1784"/>
          </a:xfrm>
        </p:grpSpPr>
        <p:sp useBgFill="1">
          <p:nvSpPr>
            <p:cNvPr id="32801"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802"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32803" name="Group 35"/>
          <p:cNvGrpSpPr>
            <a:grpSpLocks/>
          </p:cNvGrpSpPr>
          <p:nvPr/>
        </p:nvGrpSpPr>
        <p:grpSpPr bwMode="auto">
          <a:xfrm>
            <a:off x="3713163" y="5465763"/>
            <a:ext cx="619125" cy="558800"/>
            <a:chOff x="2339" y="3443"/>
            <a:chExt cx="390" cy="352"/>
          </a:xfrm>
        </p:grpSpPr>
        <p:pic>
          <p:nvPicPr>
            <p:cNvPr id="32804"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05"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sp>
        <p:nvSpPr>
          <p:cNvPr id="32806" name="Rectangle 38"/>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2807"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08" name="Oval 40"/>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9" name="Rectangle 41"/>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
        <p:nvSpPr>
          <p:cNvPr id="32810" name="AutoShape 42"/>
          <p:cNvSpPr>
            <a:spLocks noChangeArrowheads="1"/>
          </p:cNvSpPr>
          <p:nvPr/>
        </p:nvSpPr>
        <p:spPr bwMode="auto">
          <a:xfrm>
            <a:off x="169863" y="3181350"/>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sz="2800" b="1"/>
              <a:t>When a collision occurs,</a:t>
            </a:r>
          </a:p>
          <a:p>
            <a:pPr algn="ctr" eaLnBrk="0" hangingPunct="0"/>
            <a:r>
              <a:rPr lang="en-US" sz="2800" b="1"/>
              <a:t>move forward until you</a:t>
            </a:r>
          </a:p>
          <a:p>
            <a:pPr algn="ctr" eaLnBrk="0" hangingPunct="0"/>
            <a:r>
              <a:rPr lang="en-US" sz="2800" b="1"/>
              <a:t>find an empty spot.</a:t>
            </a:r>
          </a:p>
        </p:txBody>
      </p:sp>
      <p:sp>
        <p:nvSpPr>
          <p:cNvPr id="32811" name="Line 43"/>
          <p:cNvSpPr>
            <a:spLocks noChangeShapeType="1"/>
          </p:cNvSpPr>
          <p:nvPr/>
        </p:nvSpPr>
        <p:spPr bwMode="auto">
          <a:xfrm flipH="1">
            <a:off x="5751513" y="2376488"/>
            <a:ext cx="271462" cy="2449512"/>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trips dir="ld"/>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Collisions</a:t>
            </a:r>
          </a:p>
        </p:txBody>
      </p:sp>
      <p:sp>
        <p:nvSpPr>
          <p:cNvPr id="34819"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This is called a </a:t>
            </a:r>
            <a:r>
              <a:rPr lang="en-US" sz="2800" b="1" u="sng">
                <a:solidFill>
                  <a:schemeClr val="accent2"/>
                </a:solidFill>
              </a:rPr>
              <a:t>collision</a:t>
            </a:r>
            <a:r>
              <a:rPr lang="en-US" sz="2800"/>
              <a:t>, because there is already another valid record at [2].</a:t>
            </a:r>
          </a:p>
        </p:txBody>
      </p:sp>
      <p:sp useBgFill="1">
        <p:nvSpPr>
          <p:cNvPr id="34820"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1"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2"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3"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5"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8"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34829"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34830"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34831"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34832"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34833"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34834"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5"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34836" name="Group 20"/>
          <p:cNvGrpSpPr>
            <a:grpSpLocks/>
          </p:cNvGrpSpPr>
          <p:nvPr/>
        </p:nvGrpSpPr>
        <p:grpSpPr bwMode="auto">
          <a:xfrm>
            <a:off x="4598988" y="5475288"/>
            <a:ext cx="671512" cy="519112"/>
            <a:chOff x="2897" y="3449"/>
            <a:chExt cx="423" cy="327"/>
          </a:xfrm>
        </p:grpSpPr>
        <p:sp>
          <p:nvSpPr>
            <p:cNvPr id="34837"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34838"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39" name="Group 23"/>
          <p:cNvGrpSpPr>
            <a:grpSpLocks/>
          </p:cNvGrpSpPr>
          <p:nvPr/>
        </p:nvGrpSpPr>
        <p:grpSpPr bwMode="auto">
          <a:xfrm>
            <a:off x="2822575" y="5449888"/>
            <a:ext cx="671513" cy="569912"/>
            <a:chOff x="1778" y="3433"/>
            <a:chExt cx="423" cy="359"/>
          </a:xfrm>
        </p:grpSpPr>
        <p:sp>
          <p:nvSpPr>
            <p:cNvPr id="34840"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34841"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42" name="Group 26"/>
          <p:cNvGrpSpPr>
            <a:grpSpLocks/>
          </p:cNvGrpSpPr>
          <p:nvPr/>
        </p:nvGrpSpPr>
        <p:grpSpPr bwMode="auto">
          <a:xfrm>
            <a:off x="1906588" y="5445125"/>
            <a:ext cx="619125" cy="577850"/>
            <a:chOff x="1201" y="3430"/>
            <a:chExt cx="390" cy="364"/>
          </a:xfrm>
        </p:grpSpPr>
        <p:sp>
          <p:nvSpPr>
            <p:cNvPr id="34843"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34844"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45" name="Group 29"/>
          <p:cNvGrpSpPr>
            <a:grpSpLocks/>
          </p:cNvGrpSpPr>
          <p:nvPr/>
        </p:nvGrpSpPr>
        <p:grpSpPr bwMode="auto">
          <a:xfrm>
            <a:off x="7764463" y="5480050"/>
            <a:ext cx="727075" cy="508000"/>
            <a:chOff x="4891" y="3452"/>
            <a:chExt cx="458" cy="320"/>
          </a:xfrm>
        </p:grpSpPr>
        <p:sp>
          <p:nvSpPr>
            <p:cNvPr id="34846"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34847"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48" name="Group 32"/>
          <p:cNvGrpSpPr>
            <a:grpSpLocks/>
          </p:cNvGrpSpPr>
          <p:nvPr/>
        </p:nvGrpSpPr>
        <p:grpSpPr bwMode="auto">
          <a:xfrm>
            <a:off x="6596063" y="4014788"/>
            <a:ext cx="1311275" cy="2832100"/>
            <a:chOff x="4155" y="2529"/>
            <a:chExt cx="826" cy="1784"/>
          </a:xfrm>
        </p:grpSpPr>
        <p:sp useBgFill="1">
          <p:nvSpPr>
            <p:cNvPr id="34849"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50"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34851" name="Group 35"/>
          <p:cNvGrpSpPr>
            <a:grpSpLocks/>
          </p:cNvGrpSpPr>
          <p:nvPr/>
        </p:nvGrpSpPr>
        <p:grpSpPr bwMode="auto">
          <a:xfrm>
            <a:off x="3713163" y="5465763"/>
            <a:ext cx="619125" cy="558800"/>
            <a:chOff x="2339" y="3443"/>
            <a:chExt cx="390" cy="352"/>
          </a:xfrm>
        </p:grpSpPr>
        <p:pic>
          <p:nvPicPr>
            <p:cNvPr id="34852"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53"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34854" name="Group 38"/>
          <p:cNvGrpSpPr>
            <a:grpSpLocks/>
          </p:cNvGrpSpPr>
          <p:nvPr/>
        </p:nvGrpSpPr>
        <p:grpSpPr bwMode="auto">
          <a:xfrm>
            <a:off x="5548313" y="5454650"/>
            <a:ext cx="619125" cy="550863"/>
            <a:chOff x="3495" y="3436"/>
            <a:chExt cx="390" cy="347"/>
          </a:xfrm>
        </p:grpSpPr>
        <p:pic>
          <p:nvPicPr>
            <p:cNvPr id="34855"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56"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34857" name="AutoShape 41"/>
          <p:cNvSpPr>
            <a:spLocks noChangeArrowheads="1"/>
          </p:cNvSpPr>
          <p:nvPr/>
        </p:nvSpPr>
        <p:spPr bwMode="auto">
          <a:xfrm>
            <a:off x="169863" y="3181350"/>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sz="2800" b="1"/>
              <a:t>The new record goes</a:t>
            </a:r>
          </a:p>
          <a:p>
            <a:pPr algn="ctr" eaLnBrk="0" hangingPunct="0"/>
            <a:r>
              <a:rPr lang="en-US" sz="2800" b="1"/>
              <a:t>in the empty spot.</a:t>
            </a:r>
          </a:p>
        </p:txBody>
      </p:sp>
    </p:spTree>
  </p:cSld>
  <p:clrMapOvr>
    <a:masterClrMapping/>
  </p:clrMapOvr>
  <p:transition>
    <p:strips dir="ld"/>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066800" y="609600"/>
            <a:ext cx="7772400" cy="1143000"/>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Searching for a Key</a:t>
            </a:r>
          </a:p>
        </p:txBody>
      </p:sp>
      <p:sp>
        <p:nvSpPr>
          <p:cNvPr id="38915" name="Rectangle 3"/>
          <p:cNvSpPr>
            <a:spLocks noGrp="1" noChangeArrowheads="1"/>
          </p:cNvSpPr>
          <p:nvPr>
            <p:ph type="body" sz="half" idx="1"/>
          </p:nvPr>
        </p:nvSpPr>
        <p:spPr>
          <a:xfrm>
            <a:off x="685800"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The data that's attached to a key can be found fairly quickly.</a:t>
            </a:r>
          </a:p>
        </p:txBody>
      </p:sp>
      <p:sp useBgFill="1">
        <p:nvSpPr>
          <p:cNvPr id="38916"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7"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8"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9"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0"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1"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2"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3"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4"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38925"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38926"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38927"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38928"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38929"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38930"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1"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38932" name="Group 20"/>
          <p:cNvGrpSpPr>
            <a:grpSpLocks/>
          </p:cNvGrpSpPr>
          <p:nvPr/>
        </p:nvGrpSpPr>
        <p:grpSpPr bwMode="auto">
          <a:xfrm>
            <a:off x="4598988" y="5475288"/>
            <a:ext cx="671512" cy="519112"/>
            <a:chOff x="2897" y="3449"/>
            <a:chExt cx="423" cy="327"/>
          </a:xfrm>
        </p:grpSpPr>
        <p:sp>
          <p:nvSpPr>
            <p:cNvPr id="38933"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38934"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35" name="Group 23"/>
          <p:cNvGrpSpPr>
            <a:grpSpLocks/>
          </p:cNvGrpSpPr>
          <p:nvPr/>
        </p:nvGrpSpPr>
        <p:grpSpPr bwMode="auto">
          <a:xfrm>
            <a:off x="2822575" y="5449888"/>
            <a:ext cx="671513" cy="569912"/>
            <a:chOff x="1778" y="3433"/>
            <a:chExt cx="423" cy="359"/>
          </a:xfrm>
        </p:grpSpPr>
        <p:sp>
          <p:nvSpPr>
            <p:cNvPr id="38936"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38937"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38" name="Group 26"/>
          <p:cNvGrpSpPr>
            <a:grpSpLocks/>
          </p:cNvGrpSpPr>
          <p:nvPr/>
        </p:nvGrpSpPr>
        <p:grpSpPr bwMode="auto">
          <a:xfrm>
            <a:off x="1906588" y="5445125"/>
            <a:ext cx="619125" cy="577850"/>
            <a:chOff x="1201" y="3430"/>
            <a:chExt cx="390" cy="364"/>
          </a:xfrm>
        </p:grpSpPr>
        <p:sp>
          <p:nvSpPr>
            <p:cNvPr id="38939"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38940"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41" name="Group 29"/>
          <p:cNvGrpSpPr>
            <a:grpSpLocks/>
          </p:cNvGrpSpPr>
          <p:nvPr/>
        </p:nvGrpSpPr>
        <p:grpSpPr bwMode="auto">
          <a:xfrm>
            <a:off x="7764463" y="5480050"/>
            <a:ext cx="727075" cy="508000"/>
            <a:chOff x="4891" y="3452"/>
            <a:chExt cx="458" cy="320"/>
          </a:xfrm>
        </p:grpSpPr>
        <p:sp>
          <p:nvSpPr>
            <p:cNvPr id="38942"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38943"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44" name="Group 32"/>
          <p:cNvGrpSpPr>
            <a:grpSpLocks/>
          </p:cNvGrpSpPr>
          <p:nvPr/>
        </p:nvGrpSpPr>
        <p:grpSpPr bwMode="auto">
          <a:xfrm>
            <a:off x="6596063" y="4014788"/>
            <a:ext cx="1311275" cy="2832100"/>
            <a:chOff x="4155" y="2529"/>
            <a:chExt cx="826" cy="1784"/>
          </a:xfrm>
        </p:grpSpPr>
        <p:sp useBgFill="1">
          <p:nvSpPr>
            <p:cNvPr id="38945"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46"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38947" name="Group 35"/>
          <p:cNvGrpSpPr>
            <a:grpSpLocks/>
          </p:cNvGrpSpPr>
          <p:nvPr/>
        </p:nvGrpSpPr>
        <p:grpSpPr bwMode="auto">
          <a:xfrm>
            <a:off x="3713163" y="5465763"/>
            <a:ext cx="619125" cy="558800"/>
            <a:chOff x="2339" y="3443"/>
            <a:chExt cx="390" cy="352"/>
          </a:xfrm>
        </p:grpSpPr>
        <p:pic>
          <p:nvPicPr>
            <p:cNvPr id="38948"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49"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38950" name="Group 38"/>
          <p:cNvGrpSpPr>
            <a:grpSpLocks/>
          </p:cNvGrpSpPr>
          <p:nvPr/>
        </p:nvGrpSpPr>
        <p:grpSpPr bwMode="auto">
          <a:xfrm>
            <a:off x="5548313" y="5454650"/>
            <a:ext cx="619125" cy="550863"/>
            <a:chOff x="3495" y="3436"/>
            <a:chExt cx="390" cy="347"/>
          </a:xfrm>
        </p:grpSpPr>
        <p:pic>
          <p:nvPicPr>
            <p:cNvPr id="38951"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52"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38953" name="Rectangle 4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4" name="Oval 42"/>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5" name="Rectangle 43"/>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Tree>
  </p:cSld>
  <p:clrMapOvr>
    <a:masterClrMapping/>
  </p:clrMapOvr>
  <p:transition>
    <p:pull dir="lu"/>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p:cNvSpPr>
            <a:spLocks noGrp="1" noChangeArrowheads="1"/>
          </p:cNvSpPr>
          <p:nvPr>
            <p:ph type="body" sz="half" idx="1"/>
          </p:nvPr>
        </p:nvSpPr>
        <p:spPr>
          <a:xfrm>
            <a:off x="685800"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Calculate the hash value.</a:t>
            </a:r>
          </a:p>
          <a:p>
            <a:r>
              <a:rPr lang="en-US" sz="2800"/>
              <a:t>Check that location of the array for the key.</a:t>
            </a:r>
          </a:p>
        </p:txBody>
      </p:sp>
      <p:sp useBgFill="1">
        <p:nvSpPr>
          <p:cNvPr id="40964"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5"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6"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7"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8"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9"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0"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1"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2"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40973"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40974"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40975"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40976"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40977"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40978"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9"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40980" name="Group 20"/>
          <p:cNvGrpSpPr>
            <a:grpSpLocks/>
          </p:cNvGrpSpPr>
          <p:nvPr/>
        </p:nvGrpSpPr>
        <p:grpSpPr bwMode="auto">
          <a:xfrm>
            <a:off x="4598988" y="5475288"/>
            <a:ext cx="671512" cy="519112"/>
            <a:chOff x="2897" y="3449"/>
            <a:chExt cx="423" cy="327"/>
          </a:xfrm>
        </p:grpSpPr>
        <p:sp>
          <p:nvSpPr>
            <p:cNvPr id="40981"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40982"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83" name="Group 23"/>
          <p:cNvGrpSpPr>
            <a:grpSpLocks/>
          </p:cNvGrpSpPr>
          <p:nvPr/>
        </p:nvGrpSpPr>
        <p:grpSpPr bwMode="auto">
          <a:xfrm>
            <a:off x="2822575" y="5449888"/>
            <a:ext cx="671513" cy="569912"/>
            <a:chOff x="1778" y="3433"/>
            <a:chExt cx="423" cy="359"/>
          </a:xfrm>
        </p:grpSpPr>
        <p:sp>
          <p:nvSpPr>
            <p:cNvPr id="40984"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40985"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86" name="Group 26"/>
          <p:cNvGrpSpPr>
            <a:grpSpLocks/>
          </p:cNvGrpSpPr>
          <p:nvPr/>
        </p:nvGrpSpPr>
        <p:grpSpPr bwMode="auto">
          <a:xfrm>
            <a:off x="1906588" y="5445125"/>
            <a:ext cx="619125" cy="577850"/>
            <a:chOff x="1201" y="3430"/>
            <a:chExt cx="390" cy="364"/>
          </a:xfrm>
        </p:grpSpPr>
        <p:sp>
          <p:nvSpPr>
            <p:cNvPr id="40987"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40988"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89" name="Group 29"/>
          <p:cNvGrpSpPr>
            <a:grpSpLocks/>
          </p:cNvGrpSpPr>
          <p:nvPr/>
        </p:nvGrpSpPr>
        <p:grpSpPr bwMode="auto">
          <a:xfrm>
            <a:off x="7764463" y="5480050"/>
            <a:ext cx="727075" cy="508000"/>
            <a:chOff x="4891" y="3452"/>
            <a:chExt cx="458" cy="320"/>
          </a:xfrm>
        </p:grpSpPr>
        <p:sp>
          <p:nvSpPr>
            <p:cNvPr id="40990"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40991"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92" name="Group 32"/>
          <p:cNvGrpSpPr>
            <a:grpSpLocks/>
          </p:cNvGrpSpPr>
          <p:nvPr/>
        </p:nvGrpSpPr>
        <p:grpSpPr bwMode="auto">
          <a:xfrm>
            <a:off x="6596063" y="4014788"/>
            <a:ext cx="1311275" cy="2832100"/>
            <a:chOff x="4155" y="2529"/>
            <a:chExt cx="826" cy="1784"/>
          </a:xfrm>
        </p:grpSpPr>
        <p:sp useBgFill="1">
          <p:nvSpPr>
            <p:cNvPr id="40993"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94"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40995" name="Group 35"/>
          <p:cNvGrpSpPr>
            <a:grpSpLocks/>
          </p:cNvGrpSpPr>
          <p:nvPr/>
        </p:nvGrpSpPr>
        <p:grpSpPr bwMode="auto">
          <a:xfrm>
            <a:off x="3713163" y="5465763"/>
            <a:ext cx="619125" cy="558800"/>
            <a:chOff x="2339" y="3443"/>
            <a:chExt cx="390" cy="352"/>
          </a:xfrm>
        </p:grpSpPr>
        <p:pic>
          <p:nvPicPr>
            <p:cNvPr id="40996"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97"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40998" name="Group 38"/>
          <p:cNvGrpSpPr>
            <a:grpSpLocks/>
          </p:cNvGrpSpPr>
          <p:nvPr/>
        </p:nvGrpSpPr>
        <p:grpSpPr bwMode="auto">
          <a:xfrm>
            <a:off x="5548313" y="5454650"/>
            <a:ext cx="619125" cy="550863"/>
            <a:chOff x="3495" y="3436"/>
            <a:chExt cx="390" cy="347"/>
          </a:xfrm>
        </p:grpSpPr>
        <p:pic>
          <p:nvPicPr>
            <p:cNvPr id="40999"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00"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41001" name="Rectangle 4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02" name="Oval 42"/>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03" name="Rectangle 43"/>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
        <p:nvSpPr>
          <p:cNvPr id="41004" name="AutoShape 44"/>
          <p:cNvSpPr>
            <a:spLocks noChangeArrowheads="1"/>
          </p:cNvSpPr>
          <p:nvPr/>
        </p:nvSpPr>
        <p:spPr bwMode="auto">
          <a:xfrm rot="10800000" flipH="1">
            <a:off x="7324725"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b="1"/>
              <a:t>My hash</a:t>
            </a:r>
          </a:p>
          <a:p>
            <a:pPr algn="ctr" eaLnBrk="0" hangingPunct="0"/>
            <a:r>
              <a:rPr lang="en-US" b="1"/>
              <a:t>value is [2].</a:t>
            </a:r>
          </a:p>
        </p:txBody>
      </p:sp>
      <p:sp>
        <p:nvSpPr>
          <p:cNvPr id="41005" name="AutoShape 45"/>
          <p:cNvSpPr>
            <a:spLocks noChangeArrowheads="1"/>
          </p:cNvSpPr>
          <p:nvPr/>
        </p:nvSpPr>
        <p:spPr bwMode="auto">
          <a:xfrm>
            <a:off x="3036888" y="4070350"/>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b="1"/>
              <a:t>Not me.</a:t>
            </a:r>
          </a:p>
        </p:txBody>
      </p:sp>
    </p:spTree>
  </p:cSld>
  <p:clrMapOvr>
    <a:masterClrMapping/>
  </p:clrMapOvr>
  <p:transition>
    <p:randomBar dir="ver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p:cNvSpPr>
            <a:spLocks noGrp="1" noChangeArrowheads="1"/>
          </p:cNvSpPr>
          <p:nvPr>
            <p:ph type="body" sz="half" idx="1"/>
          </p:nvPr>
        </p:nvSpPr>
        <p:spPr>
          <a:xfrm>
            <a:off x="685800"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Keep moving forward until you find the key, or you reach an empty spot.</a:t>
            </a:r>
          </a:p>
        </p:txBody>
      </p:sp>
      <p:sp useBgFill="1">
        <p:nvSpPr>
          <p:cNvPr id="43012"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3"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4"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5"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7"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9"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0"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43021"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43022"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43023"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43024"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43025"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43026"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7"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43028" name="Group 20"/>
          <p:cNvGrpSpPr>
            <a:grpSpLocks/>
          </p:cNvGrpSpPr>
          <p:nvPr/>
        </p:nvGrpSpPr>
        <p:grpSpPr bwMode="auto">
          <a:xfrm>
            <a:off x="4598988" y="5475288"/>
            <a:ext cx="671512" cy="519112"/>
            <a:chOff x="2897" y="3449"/>
            <a:chExt cx="423" cy="327"/>
          </a:xfrm>
        </p:grpSpPr>
        <p:sp>
          <p:nvSpPr>
            <p:cNvPr id="43029"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43030"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31" name="Group 23"/>
          <p:cNvGrpSpPr>
            <a:grpSpLocks/>
          </p:cNvGrpSpPr>
          <p:nvPr/>
        </p:nvGrpSpPr>
        <p:grpSpPr bwMode="auto">
          <a:xfrm>
            <a:off x="2822575" y="5449888"/>
            <a:ext cx="671513" cy="569912"/>
            <a:chOff x="1778" y="3433"/>
            <a:chExt cx="423" cy="359"/>
          </a:xfrm>
        </p:grpSpPr>
        <p:sp>
          <p:nvSpPr>
            <p:cNvPr id="43032"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43033"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34" name="Group 26"/>
          <p:cNvGrpSpPr>
            <a:grpSpLocks/>
          </p:cNvGrpSpPr>
          <p:nvPr/>
        </p:nvGrpSpPr>
        <p:grpSpPr bwMode="auto">
          <a:xfrm>
            <a:off x="1906588" y="5445125"/>
            <a:ext cx="619125" cy="577850"/>
            <a:chOff x="1201" y="3430"/>
            <a:chExt cx="390" cy="364"/>
          </a:xfrm>
        </p:grpSpPr>
        <p:sp>
          <p:nvSpPr>
            <p:cNvPr id="43035"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43036"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37" name="Group 29"/>
          <p:cNvGrpSpPr>
            <a:grpSpLocks/>
          </p:cNvGrpSpPr>
          <p:nvPr/>
        </p:nvGrpSpPr>
        <p:grpSpPr bwMode="auto">
          <a:xfrm>
            <a:off x="7764463" y="5480050"/>
            <a:ext cx="727075" cy="508000"/>
            <a:chOff x="4891" y="3452"/>
            <a:chExt cx="458" cy="320"/>
          </a:xfrm>
        </p:grpSpPr>
        <p:sp>
          <p:nvSpPr>
            <p:cNvPr id="43038"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43039"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40" name="Group 32"/>
          <p:cNvGrpSpPr>
            <a:grpSpLocks/>
          </p:cNvGrpSpPr>
          <p:nvPr/>
        </p:nvGrpSpPr>
        <p:grpSpPr bwMode="auto">
          <a:xfrm>
            <a:off x="6596063" y="4014788"/>
            <a:ext cx="1311275" cy="2832100"/>
            <a:chOff x="4155" y="2529"/>
            <a:chExt cx="826" cy="1784"/>
          </a:xfrm>
        </p:grpSpPr>
        <p:sp useBgFill="1">
          <p:nvSpPr>
            <p:cNvPr id="43041"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2"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43043" name="Group 35"/>
          <p:cNvGrpSpPr>
            <a:grpSpLocks/>
          </p:cNvGrpSpPr>
          <p:nvPr/>
        </p:nvGrpSpPr>
        <p:grpSpPr bwMode="auto">
          <a:xfrm>
            <a:off x="3713163" y="5465763"/>
            <a:ext cx="619125" cy="558800"/>
            <a:chOff x="2339" y="3443"/>
            <a:chExt cx="390" cy="352"/>
          </a:xfrm>
        </p:grpSpPr>
        <p:pic>
          <p:nvPicPr>
            <p:cNvPr id="43044"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45"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43046" name="Group 38"/>
          <p:cNvGrpSpPr>
            <a:grpSpLocks/>
          </p:cNvGrpSpPr>
          <p:nvPr/>
        </p:nvGrpSpPr>
        <p:grpSpPr bwMode="auto">
          <a:xfrm>
            <a:off x="5548313" y="5454650"/>
            <a:ext cx="619125" cy="550863"/>
            <a:chOff x="3495" y="3436"/>
            <a:chExt cx="390" cy="347"/>
          </a:xfrm>
        </p:grpSpPr>
        <p:pic>
          <p:nvPicPr>
            <p:cNvPr id="43047"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48"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43049" name="Rectangle 4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50" name="Oval 42"/>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51" name="Rectangle 43"/>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
        <p:nvSpPr>
          <p:cNvPr id="43052" name="AutoShape 44"/>
          <p:cNvSpPr>
            <a:spLocks noChangeArrowheads="1"/>
          </p:cNvSpPr>
          <p:nvPr/>
        </p:nvSpPr>
        <p:spPr bwMode="auto">
          <a:xfrm rot="10800000" flipH="1">
            <a:off x="7324725"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b="1"/>
              <a:t>My hash</a:t>
            </a:r>
          </a:p>
          <a:p>
            <a:pPr algn="ctr" eaLnBrk="0" hangingPunct="0"/>
            <a:r>
              <a:rPr lang="en-US" b="1"/>
              <a:t>value is [2].</a:t>
            </a:r>
          </a:p>
        </p:txBody>
      </p:sp>
      <p:sp>
        <p:nvSpPr>
          <p:cNvPr id="43053" name="AutoShape 45"/>
          <p:cNvSpPr>
            <a:spLocks noChangeArrowheads="1"/>
          </p:cNvSpPr>
          <p:nvPr/>
        </p:nvSpPr>
        <p:spPr bwMode="auto">
          <a:xfrm>
            <a:off x="3910013" y="4070350"/>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b="1"/>
              <a:t>Not me.</a:t>
            </a:r>
          </a:p>
        </p:txBody>
      </p:sp>
    </p:spTree>
  </p:cSld>
  <p:clrMapOvr>
    <a:masterClrMapping/>
  </p:clrMapOvr>
  <p:transition>
    <p:checke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sz="half" idx="1"/>
          </p:nvPr>
        </p:nvSpPr>
        <p:spPr>
          <a:xfrm>
            <a:off x="685800"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Keep moving forward until you find the key, or you reach an empty spot.</a:t>
            </a:r>
          </a:p>
        </p:txBody>
      </p:sp>
      <p:sp useBgFill="1">
        <p:nvSpPr>
          <p:cNvPr id="45060"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1"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2"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3"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5"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8"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45069"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45070"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45071"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45072"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45073"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45074"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5"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45076" name="Group 20"/>
          <p:cNvGrpSpPr>
            <a:grpSpLocks/>
          </p:cNvGrpSpPr>
          <p:nvPr/>
        </p:nvGrpSpPr>
        <p:grpSpPr bwMode="auto">
          <a:xfrm>
            <a:off x="4598988" y="5475288"/>
            <a:ext cx="671512" cy="519112"/>
            <a:chOff x="2897" y="3449"/>
            <a:chExt cx="423" cy="327"/>
          </a:xfrm>
        </p:grpSpPr>
        <p:sp>
          <p:nvSpPr>
            <p:cNvPr id="45077"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45078"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79" name="Group 23"/>
          <p:cNvGrpSpPr>
            <a:grpSpLocks/>
          </p:cNvGrpSpPr>
          <p:nvPr/>
        </p:nvGrpSpPr>
        <p:grpSpPr bwMode="auto">
          <a:xfrm>
            <a:off x="2822575" y="5449888"/>
            <a:ext cx="671513" cy="569912"/>
            <a:chOff x="1778" y="3433"/>
            <a:chExt cx="423" cy="359"/>
          </a:xfrm>
        </p:grpSpPr>
        <p:sp>
          <p:nvSpPr>
            <p:cNvPr id="45080"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45081"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82" name="Group 26"/>
          <p:cNvGrpSpPr>
            <a:grpSpLocks/>
          </p:cNvGrpSpPr>
          <p:nvPr/>
        </p:nvGrpSpPr>
        <p:grpSpPr bwMode="auto">
          <a:xfrm>
            <a:off x="1906588" y="5445125"/>
            <a:ext cx="619125" cy="577850"/>
            <a:chOff x="1201" y="3430"/>
            <a:chExt cx="390" cy="364"/>
          </a:xfrm>
        </p:grpSpPr>
        <p:sp>
          <p:nvSpPr>
            <p:cNvPr id="45083"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45084"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85" name="Group 29"/>
          <p:cNvGrpSpPr>
            <a:grpSpLocks/>
          </p:cNvGrpSpPr>
          <p:nvPr/>
        </p:nvGrpSpPr>
        <p:grpSpPr bwMode="auto">
          <a:xfrm>
            <a:off x="7764463" y="5480050"/>
            <a:ext cx="727075" cy="508000"/>
            <a:chOff x="4891" y="3452"/>
            <a:chExt cx="458" cy="320"/>
          </a:xfrm>
        </p:grpSpPr>
        <p:sp>
          <p:nvSpPr>
            <p:cNvPr id="45086"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45087"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88" name="Group 32"/>
          <p:cNvGrpSpPr>
            <a:grpSpLocks/>
          </p:cNvGrpSpPr>
          <p:nvPr/>
        </p:nvGrpSpPr>
        <p:grpSpPr bwMode="auto">
          <a:xfrm>
            <a:off x="6596063" y="4014788"/>
            <a:ext cx="1311275" cy="2832100"/>
            <a:chOff x="4155" y="2529"/>
            <a:chExt cx="826" cy="1784"/>
          </a:xfrm>
        </p:grpSpPr>
        <p:sp useBgFill="1">
          <p:nvSpPr>
            <p:cNvPr id="45089"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90"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45091" name="Group 35"/>
          <p:cNvGrpSpPr>
            <a:grpSpLocks/>
          </p:cNvGrpSpPr>
          <p:nvPr/>
        </p:nvGrpSpPr>
        <p:grpSpPr bwMode="auto">
          <a:xfrm>
            <a:off x="3713163" y="5465763"/>
            <a:ext cx="619125" cy="558800"/>
            <a:chOff x="2339" y="3443"/>
            <a:chExt cx="390" cy="352"/>
          </a:xfrm>
        </p:grpSpPr>
        <p:pic>
          <p:nvPicPr>
            <p:cNvPr id="45092"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93"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45094" name="Group 38"/>
          <p:cNvGrpSpPr>
            <a:grpSpLocks/>
          </p:cNvGrpSpPr>
          <p:nvPr/>
        </p:nvGrpSpPr>
        <p:grpSpPr bwMode="auto">
          <a:xfrm>
            <a:off x="5548313" y="5454650"/>
            <a:ext cx="619125" cy="550863"/>
            <a:chOff x="3495" y="3436"/>
            <a:chExt cx="390" cy="347"/>
          </a:xfrm>
        </p:grpSpPr>
        <p:pic>
          <p:nvPicPr>
            <p:cNvPr id="45095"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96"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45097" name="Rectangle 4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98" name="Oval 42"/>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99" name="Rectangle 43"/>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
        <p:nvSpPr>
          <p:cNvPr id="45100" name="AutoShape 44"/>
          <p:cNvSpPr>
            <a:spLocks noChangeArrowheads="1"/>
          </p:cNvSpPr>
          <p:nvPr/>
        </p:nvSpPr>
        <p:spPr bwMode="auto">
          <a:xfrm rot="10800000" flipH="1">
            <a:off x="7324725"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b="1"/>
              <a:t>My hash</a:t>
            </a:r>
          </a:p>
          <a:p>
            <a:pPr algn="ctr" eaLnBrk="0" hangingPunct="0"/>
            <a:r>
              <a:rPr lang="en-US" b="1"/>
              <a:t>value is [2].</a:t>
            </a:r>
          </a:p>
        </p:txBody>
      </p:sp>
      <p:sp>
        <p:nvSpPr>
          <p:cNvPr id="45101" name="AutoShape 45"/>
          <p:cNvSpPr>
            <a:spLocks noChangeArrowheads="1"/>
          </p:cNvSpPr>
          <p:nvPr/>
        </p:nvSpPr>
        <p:spPr bwMode="auto">
          <a:xfrm>
            <a:off x="4765675" y="4070350"/>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b="1"/>
              <a:t>Not me.</a:t>
            </a:r>
          </a:p>
        </p:txBody>
      </p:sp>
    </p:spTree>
  </p:cSld>
  <p:clrMapOvr>
    <a:masterClrMapping/>
  </p:clrMapOvr>
  <p:transition>
    <p:checke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sz="half" idx="1"/>
          </p:nvPr>
        </p:nvSpPr>
        <p:spPr>
          <a:xfrm>
            <a:off x="685800"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Keep moving forward until you find the key, or you reach an empty spot.</a:t>
            </a:r>
          </a:p>
        </p:txBody>
      </p:sp>
      <p:sp useBgFill="1">
        <p:nvSpPr>
          <p:cNvPr id="47108"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09"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10"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1"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2"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3"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4"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5"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6"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47117"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47118"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47119"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47120"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47121"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47122"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3"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47124" name="Group 20"/>
          <p:cNvGrpSpPr>
            <a:grpSpLocks/>
          </p:cNvGrpSpPr>
          <p:nvPr/>
        </p:nvGrpSpPr>
        <p:grpSpPr bwMode="auto">
          <a:xfrm>
            <a:off x="4598988" y="5475288"/>
            <a:ext cx="671512" cy="519112"/>
            <a:chOff x="2897" y="3449"/>
            <a:chExt cx="423" cy="327"/>
          </a:xfrm>
        </p:grpSpPr>
        <p:sp>
          <p:nvSpPr>
            <p:cNvPr id="47125"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47126"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27" name="Group 23"/>
          <p:cNvGrpSpPr>
            <a:grpSpLocks/>
          </p:cNvGrpSpPr>
          <p:nvPr/>
        </p:nvGrpSpPr>
        <p:grpSpPr bwMode="auto">
          <a:xfrm>
            <a:off x="2822575" y="5449888"/>
            <a:ext cx="671513" cy="569912"/>
            <a:chOff x="1778" y="3433"/>
            <a:chExt cx="423" cy="359"/>
          </a:xfrm>
        </p:grpSpPr>
        <p:sp>
          <p:nvSpPr>
            <p:cNvPr id="47128"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47129"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30" name="Group 26"/>
          <p:cNvGrpSpPr>
            <a:grpSpLocks/>
          </p:cNvGrpSpPr>
          <p:nvPr/>
        </p:nvGrpSpPr>
        <p:grpSpPr bwMode="auto">
          <a:xfrm>
            <a:off x="1906588" y="5445125"/>
            <a:ext cx="619125" cy="577850"/>
            <a:chOff x="1201" y="3430"/>
            <a:chExt cx="390" cy="364"/>
          </a:xfrm>
        </p:grpSpPr>
        <p:sp>
          <p:nvSpPr>
            <p:cNvPr id="47131"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47132"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33" name="Group 29"/>
          <p:cNvGrpSpPr>
            <a:grpSpLocks/>
          </p:cNvGrpSpPr>
          <p:nvPr/>
        </p:nvGrpSpPr>
        <p:grpSpPr bwMode="auto">
          <a:xfrm>
            <a:off x="7764463" y="5480050"/>
            <a:ext cx="727075" cy="508000"/>
            <a:chOff x="4891" y="3452"/>
            <a:chExt cx="458" cy="320"/>
          </a:xfrm>
        </p:grpSpPr>
        <p:sp>
          <p:nvSpPr>
            <p:cNvPr id="47134"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47135"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36" name="Group 32"/>
          <p:cNvGrpSpPr>
            <a:grpSpLocks/>
          </p:cNvGrpSpPr>
          <p:nvPr/>
        </p:nvGrpSpPr>
        <p:grpSpPr bwMode="auto">
          <a:xfrm>
            <a:off x="6596063" y="4014788"/>
            <a:ext cx="1311275" cy="2832100"/>
            <a:chOff x="4155" y="2529"/>
            <a:chExt cx="826" cy="1784"/>
          </a:xfrm>
        </p:grpSpPr>
        <p:sp useBgFill="1">
          <p:nvSpPr>
            <p:cNvPr id="47137"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38"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47139" name="Group 35"/>
          <p:cNvGrpSpPr>
            <a:grpSpLocks/>
          </p:cNvGrpSpPr>
          <p:nvPr/>
        </p:nvGrpSpPr>
        <p:grpSpPr bwMode="auto">
          <a:xfrm>
            <a:off x="3713163" y="5465763"/>
            <a:ext cx="619125" cy="558800"/>
            <a:chOff x="2339" y="3443"/>
            <a:chExt cx="390" cy="352"/>
          </a:xfrm>
        </p:grpSpPr>
        <p:pic>
          <p:nvPicPr>
            <p:cNvPr id="47140"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41"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47142" name="Group 38"/>
          <p:cNvGrpSpPr>
            <a:grpSpLocks/>
          </p:cNvGrpSpPr>
          <p:nvPr/>
        </p:nvGrpSpPr>
        <p:grpSpPr bwMode="auto">
          <a:xfrm>
            <a:off x="5548313" y="5454650"/>
            <a:ext cx="619125" cy="550863"/>
            <a:chOff x="3495" y="3436"/>
            <a:chExt cx="390" cy="347"/>
          </a:xfrm>
        </p:grpSpPr>
        <p:pic>
          <p:nvPicPr>
            <p:cNvPr id="47143"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44"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47145" name="Rectangle 4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46" name="Oval 42"/>
          <p:cNvSpPr>
            <a:spLocks noChangeArrowheads="1"/>
          </p:cNvSpPr>
          <p:nvPr/>
        </p:nvSpPr>
        <p:spPr bwMode="auto">
          <a:xfrm>
            <a:off x="6864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47" name="Rectangle 43"/>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
        <p:nvSpPr>
          <p:cNvPr id="47148" name="AutoShape 44"/>
          <p:cNvSpPr>
            <a:spLocks noChangeArrowheads="1"/>
          </p:cNvSpPr>
          <p:nvPr/>
        </p:nvSpPr>
        <p:spPr bwMode="auto">
          <a:xfrm rot="10800000" flipH="1">
            <a:off x="7324725"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b="1"/>
              <a:t>My hash</a:t>
            </a:r>
          </a:p>
          <a:p>
            <a:pPr algn="ctr" eaLnBrk="0" hangingPunct="0"/>
            <a:r>
              <a:rPr lang="en-US" b="1"/>
              <a:t>value is [2].</a:t>
            </a:r>
          </a:p>
        </p:txBody>
      </p:sp>
      <p:sp>
        <p:nvSpPr>
          <p:cNvPr id="47149" name="AutoShape 45"/>
          <p:cNvSpPr>
            <a:spLocks noChangeArrowheads="1"/>
          </p:cNvSpPr>
          <p:nvPr/>
        </p:nvSpPr>
        <p:spPr bwMode="auto">
          <a:xfrm>
            <a:off x="5673725" y="4070350"/>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b="1"/>
              <a:t>Yes!</a:t>
            </a:r>
          </a:p>
        </p:txBody>
      </p:sp>
    </p:spTree>
  </p:cSld>
  <p:clrMapOvr>
    <a:masterClrMapping/>
  </p:clrMapOvr>
  <p:transition>
    <p:checke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sz="half" idx="1"/>
          </p:nvPr>
        </p:nvSpPr>
        <p:spPr>
          <a:xfrm>
            <a:off x="685800"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When the item is found, the information can be copied to the necessary location.</a:t>
            </a:r>
          </a:p>
        </p:txBody>
      </p:sp>
      <p:sp useBgFill="1">
        <p:nvSpPr>
          <p:cNvPr id="49156"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7"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8"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9"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0"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1"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2"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3"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4"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49165"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49166"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49167"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49168"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49169"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49170"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1"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49172" name="Group 20"/>
          <p:cNvGrpSpPr>
            <a:grpSpLocks/>
          </p:cNvGrpSpPr>
          <p:nvPr/>
        </p:nvGrpSpPr>
        <p:grpSpPr bwMode="auto">
          <a:xfrm>
            <a:off x="4598988" y="5475288"/>
            <a:ext cx="671512" cy="519112"/>
            <a:chOff x="2897" y="3449"/>
            <a:chExt cx="423" cy="327"/>
          </a:xfrm>
        </p:grpSpPr>
        <p:sp>
          <p:nvSpPr>
            <p:cNvPr id="49173"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49174"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75" name="Group 23"/>
          <p:cNvGrpSpPr>
            <a:grpSpLocks/>
          </p:cNvGrpSpPr>
          <p:nvPr/>
        </p:nvGrpSpPr>
        <p:grpSpPr bwMode="auto">
          <a:xfrm>
            <a:off x="2822575" y="5449888"/>
            <a:ext cx="671513" cy="569912"/>
            <a:chOff x="1778" y="3433"/>
            <a:chExt cx="423" cy="359"/>
          </a:xfrm>
        </p:grpSpPr>
        <p:sp>
          <p:nvSpPr>
            <p:cNvPr id="49176"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49177"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78" name="Group 26"/>
          <p:cNvGrpSpPr>
            <a:grpSpLocks/>
          </p:cNvGrpSpPr>
          <p:nvPr/>
        </p:nvGrpSpPr>
        <p:grpSpPr bwMode="auto">
          <a:xfrm>
            <a:off x="1906588" y="5445125"/>
            <a:ext cx="619125" cy="577850"/>
            <a:chOff x="1201" y="3430"/>
            <a:chExt cx="390" cy="364"/>
          </a:xfrm>
        </p:grpSpPr>
        <p:sp>
          <p:nvSpPr>
            <p:cNvPr id="49179"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49180"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81" name="Group 29"/>
          <p:cNvGrpSpPr>
            <a:grpSpLocks/>
          </p:cNvGrpSpPr>
          <p:nvPr/>
        </p:nvGrpSpPr>
        <p:grpSpPr bwMode="auto">
          <a:xfrm>
            <a:off x="7764463" y="5480050"/>
            <a:ext cx="727075" cy="508000"/>
            <a:chOff x="4891" y="3452"/>
            <a:chExt cx="458" cy="320"/>
          </a:xfrm>
        </p:grpSpPr>
        <p:sp>
          <p:nvSpPr>
            <p:cNvPr id="49182"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49183"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84" name="Group 32"/>
          <p:cNvGrpSpPr>
            <a:grpSpLocks/>
          </p:cNvGrpSpPr>
          <p:nvPr/>
        </p:nvGrpSpPr>
        <p:grpSpPr bwMode="auto">
          <a:xfrm>
            <a:off x="6596063" y="4014788"/>
            <a:ext cx="1311275" cy="2832100"/>
            <a:chOff x="4155" y="2529"/>
            <a:chExt cx="826" cy="1784"/>
          </a:xfrm>
        </p:grpSpPr>
        <p:sp useBgFill="1">
          <p:nvSpPr>
            <p:cNvPr id="49185"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86"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49187" name="Group 35"/>
          <p:cNvGrpSpPr>
            <a:grpSpLocks/>
          </p:cNvGrpSpPr>
          <p:nvPr/>
        </p:nvGrpSpPr>
        <p:grpSpPr bwMode="auto">
          <a:xfrm>
            <a:off x="3713163" y="5465763"/>
            <a:ext cx="619125" cy="558800"/>
            <a:chOff x="2339" y="3443"/>
            <a:chExt cx="390" cy="352"/>
          </a:xfrm>
        </p:grpSpPr>
        <p:pic>
          <p:nvPicPr>
            <p:cNvPr id="49188"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89"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49190" name="Group 38"/>
          <p:cNvGrpSpPr>
            <a:grpSpLocks/>
          </p:cNvGrpSpPr>
          <p:nvPr/>
        </p:nvGrpSpPr>
        <p:grpSpPr bwMode="auto">
          <a:xfrm>
            <a:off x="5548313" y="5454650"/>
            <a:ext cx="619125" cy="550863"/>
            <a:chOff x="3495" y="3436"/>
            <a:chExt cx="390" cy="347"/>
          </a:xfrm>
        </p:grpSpPr>
        <p:pic>
          <p:nvPicPr>
            <p:cNvPr id="49191"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92"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49193" name="Rectangle 41"/>
          <p:cNvSpPr>
            <a:spLocks noChangeArrowheads="1"/>
          </p:cNvSpPr>
          <p:nvPr/>
        </p:nvSpPr>
        <p:spPr bwMode="auto">
          <a:xfrm>
            <a:off x="6029325"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4" name="Rectangle 42"/>
          <p:cNvSpPr>
            <a:spLocks noChangeArrowheads="1"/>
          </p:cNvSpPr>
          <p:nvPr/>
        </p:nvSpPr>
        <p:spPr bwMode="auto">
          <a:xfrm>
            <a:off x="6157913" y="1104900"/>
            <a:ext cx="2251075" cy="36353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sz="1800" b="1">
                <a:latin typeface="Arial" panose="020B0604020202020204" pitchFamily="34" charset="0"/>
              </a:rPr>
              <a:t>Number 701466868</a:t>
            </a:r>
          </a:p>
        </p:txBody>
      </p:sp>
      <p:sp>
        <p:nvSpPr>
          <p:cNvPr id="49195" name="AutoShape 43"/>
          <p:cNvSpPr>
            <a:spLocks noChangeArrowheads="1"/>
          </p:cNvSpPr>
          <p:nvPr/>
        </p:nvSpPr>
        <p:spPr bwMode="auto">
          <a:xfrm rot="10800000" flipH="1">
            <a:off x="7324725"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b="1"/>
              <a:t>My hash</a:t>
            </a:r>
          </a:p>
          <a:p>
            <a:pPr algn="ctr" eaLnBrk="0" hangingPunct="0"/>
            <a:r>
              <a:rPr lang="en-US" b="1"/>
              <a:t>value is [2].</a:t>
            </a:r>
          </a:p>
        </p:txBody>
      </p:sp>
      <p:sp>
        <p:nvSpPr>
          <p:cNvPr id="49196" name="AutoShape 44"/>
          <p:cNvSpPr>
            <a:spLocks noChangeArrowheads="1"/>
          </p:cNvSpPr>
          <p:nvPr/>
        </p:nvSpPr>
        <p:spPr bwMode="auto">
          <a:xfrm>
            <a:off x="5673725" y="4070350"/>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b="1"/>
              <a:t>Yes!</a:t>
            </a:r>
          </a:p>
        </p:txBody>
      </p:sp>
      <p:sp>
        <p:nvSpPr>
          <p:cNvPr id="49197" name="Arc 45"/>
          <p:cNvSpPr>
            <a:spLocks/>
          </p:cNvSpPr>
          <p:nvPr/>
        </p:nvSpPr>
        <p:spPr bwMode="auto">
          <a:xfrm>
            <a:off x="4864100" y="4027488"/>
            <a:ext cx="798513" cy="1379537"/>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0800" cap="rnd">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98" name="Arc 46"/>
          <p:cNvSpPr>
            <a:spLocks/>
          </p:cNvSpPr>
          <p:nvPr/>
        </p:nvSpPr>
        <p:spPr bwMode="auto">
          <a:xfrm>
            <a:off x="4864100" y="2868613"/>
            <a:ext cx="1052513" cy="1123950"/>
          </a:xfrm>
          <a:custGeom>
            <a:avLst/>
            <a:gdLst>
              <a:gd name="G0" fmla="+- 21600 0 0"/>
              <a:gd name="G1" fmla="+- 21600 0 0"/>
              <a:gd name="G2" fmla="+- 21600 0 0"/>
              <a:gd name="T0" fmla="*/ 0 w 21600"/>
              <a:gd name="T1" fmla="*/ 21600 h 21600"/>
              <a:gd name="T2" fmla="*/ 21567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599"/>
                </a:moveTo>
                <a:cubicBezTo>
                  <a:pt x="0" y="9683"/>
                  <a:pt x="9650" y="18"/>
                  <a:pt x="21567" y="0"/>
                </a:cubicBezTo>
              </a:path>
              <a:path w="21600" h="21600" stroke="0" extrusionOk="0">
                <a:moveTo>
                  <a:pt x="0" y="21599"/>
                </a:moveTo>
                <a:cubicBezTo>
                  <a:pt x="0" y="9683"/>
                  <a:pt x="9650" y="18"/>
                  <a:pt x="21567" y="0"/>
                </a:cubicBezTo>
                <a:lnTo>
                  <a:pt x="21600" y="21600"/>
                </a:lnTo>
                <a:close/>
              </a:path>
            </a:pathLst>
          </a:custGeom>
          <a:noFill/>
          <a:ln w="50800" cap="rnd">
            <a:solidFill>
              <a:schemeClr val="accent2"/>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9199" name="Picture 47"/>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375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hecke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Deleting a Record</a:t>
            </a:r>
          </a:p>
        </p:txBody>
      </p:sp>
      <p:sp>
        <p:nvSpPr>
          <p:cNvPr id="51203" name="Rectangle 3"/>
          <p:cNvSpPr>
            <a:spLocks noGrp="1" noChangeArrowheads="1"/>
          </p:cNvSpPr>
          <p:nvPr>
            <p:ph type="body" sz="half" idx="1"/>
          </p:nvPr>
        </p:nvSpPr>
        <p:spPr>
          <a:xfrm>
            <a:off x="685800" y="1774825"/>
            <a:ext cx="7442200"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Records may also be deleted from a hash table.</a:t>
            </a:r>
          </a:p>
        </p:txBody>
      </p:sp>
      <p:sp useBgFill="1">
        <p:nvSpPr>
          <p:cNvPr id="51204"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5"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6"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7"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8"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9"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0"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1"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2"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51213"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51214"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51215"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51216"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51217"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51218"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9"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51220" name="Group 20"/>
          <p:cNvGrpSpPr>
            <a:grpSpLocks/>
          </p:cNvGrpSpPr>
          <p:nvPr/>
        </p:nvGrpSpPr>
        <p:grpSpPr bwMode="auto">
          <a:xfrm>
            <a:off x="4598988" y="5475288"/>
            <a:ext cx="671512" cy="519112"/>
            <a:chOff x="2897" y="3449"/>
            <a:chExt cx="423" cy="327"/>
          </a:xfrm>
        </p:grpSpPr>
        <p:sp>
          <p:nvSpPr>
            <p:cNvPr id="51221" name="Rectangle 21"/>
            <p:cNvSpPr>
              <a:spLocks noChangeArrowheads="1"/>
            </p:cNvSpPr>
            <p:nvPr/>
          </p:nvSpPr>
          <p:spPr bwMode="auto">
            <a:xfrm>
              <a:off x="2897" y="3449"/>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506643548</a:t>
              </a:r>
            </a:p>
          </p:txBody>
        </p:sp>
        <p:pic>
          <p:nvPicPr>
            <p:cNvPr id="51222" name="Picture 22"/>
            <p:cNvPicPr>
              <a:picLocks noChangeArrowheads="1"/>
            </p:cNvPicPr>
            <p:nvPr/>
          </p:nvPicPr>
          <p:blipFill>
            <a:blip r:embed="rId3" cstate="print">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23" name="Group 23"/>
          <p:cNvGrpSpPr>
            <a:grpSpLocks/>
          </p:cNvGrpSpPr>
          <p:nvPr/>
        </p:nvGrpSpPr>
        <p:grpSpPr bwMode="auto">
          <a:xfrm>
            <a:off x="2822575" y="5449888"/>
            <a:ext cx="671513" cy="569912"/>
            <a:chOff x="1778" y="3433"/>
            <a:chExt cx="423" cy="359"/>
          </a:xfrm>
        </p:grpSpPr>
        <p:sp>
          <p:nvSpPr>
            <p:cNvPr id="51224" name="Rectangle 24"/>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51225"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26" name="Group 26"/>
          <p:cNvGrpSpPr>
            <a:grpSpLocks/>
          </p:cNvGrpSpPr>
          <p:nvPr/>
        </p:nvGrpSpPr>
        <p:grpSpPr bwMode="auto">
          <a:xfrm>
            <a:off x="1906588" y="5445125"/>
            <a:ext cx="619125" cy="577850"/>
            <a:chOff x="1201" y="3430"/>
            <a:chExt cx="390" cy="364"/>
          </a:xfrm>
        </p:grpSpPr>
        <p:sp>
          <p:nvSpPr>
            <p:cNvPr id="51227" name="Rectangle 27"/>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51228" name="Picture 2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29" name="Group 29"/>
          <p:cNvGrpSpPr>
            <a:grpSpLocks/>
          </p:cNvGrpSpPr>
          <p:nvPr/>
        </p:nvGrpSpPr>
        <p:grpSpPr bwMode="auto">
          <a:xfrm>
            <a:off x="7764463" y="5480050"/>
            <a:ext cx="727075" cy="508000"/>
            <a:chOff x="4891" y="3452"/>
            <a:chExt cx="458" cy="320"/>
          </a:xfrm>
        </p:grpSpPr>
        <p:sp>
          <p:nvSpPr>
            <p:cNvPr id="51230" name="Rectangle 30"/>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51231" name="Picture 31"/>
            <p:cNvPicPr>
              <a:picLocks noChangeArrowheads="1"/>
            </p:cNvPicPr>
            <p:nvPr/>
          </p:nvPicPr>
          <p:blipFill>
            <a:blip r:embed="rId6"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32" name="Group 32"/>
          <p:cNvGrpSpPr>
            <a:grpSpLocks/>
          </p:cNvGrpSpPr>
          <p:nvPr/>
        </p:nvGrpSpPr>
        <p:grpSpPr bwMode="auto">
          <a:xfrm>
            <a:off x="6596063" y="4014788"/>
            <a:ext cx="1311275" cy="2832100"/>
            <a:chOff x="4155" y="2529"/>
            <a:chExt cx="826" cy="1784"/>
          </a:xfrm>
        </p:grpSpPr>
        <p:sp useBgFill="1">
          <p:nvSpPr>
            <p:cNvPr id="51233" name="Freeform 33"/>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34" name="Rectangle 34"/>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51235" name="Group 35"/>
          <p:cNvGrpSpPr>
            <a:grpSpLocks/>
          </p:cNvGrpSpPr>
          <p:nvPr/>
        </p:nvGrpSpPr>
        <p:grpSpPr bwMode="auto">
          <a:xfrm>
            <a:off x="3713163" y="5465763"/>
            <a:ext cx="619125" cy="558800"/>
            <a:chOff x="2339" y="3443"/>
            <a:chExt cx="390" cy="352"/>
          </a:xfrm>
        </p:grpSpPr>
        <p:pic>
          <p:nvPicPr>
            <p:cNvPr id="51236" name="Picture 36"/>
            <p:cNvPicPr>
              <a:picLocks noChangeArrowheads="1"/>
            </p:cNvPicPr>
            <p:nvPr/>
          </p:nvPicPr>
          <p:blipFill>
            <a:blip r:embed="rId7"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37" name="Rectangle 37"/>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51238" name="Group 38"/>
          <p:cNvGrpSpPr>
            <a:grpSpLocks/>
          </p:cNvGrpSpPr>
          <p:nvPr/>
        </p:nvGrpSpPr>
        <p:grpSpPr bwMode="auto">
          <a:xfrm>
            <a:off x="5548313" y="5454650"/>
            <a:ext cx="619125" cy="550863"/>
            <a:chOff x="3495" y="3436"/>
            <a:chExt cx="390" cy="347"/>
          </a:xfrm>
        </p:grpSpPr>
        <p:pic>
          <p:nvPicPr>
            <p:cNvPr id="51239"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40" name="Rectangle 40"/>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51241" name="AutoShape 41"/>
          <p:cNvSpPr>
            <a:spLocks noChangeArrowheads="1"/>
          </p:cNvSpPr>
          <p:nvPr/>
        </p:nvSpPr>
        <p:spPr bwMode="auto">
          <a:xfrm>
            <a:off x="4676775" y="3746500"/>
            <a:ext cx="1771650" cy="976313"/>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b="1"/>
              <a:t>Please</a:t>
            </a:r>
          </a:p>
          <a:p>
            <a:pPr algn="ctr" eaLnBrk="0" hangingPunct="0"/>
            <a:r>
              <a:rPr lang="en-US" b="1"/>
              <a:t>delete me.</a:t>
            </a:r>
          </a:p>
        </p:txBody>
      </p:sp>
    </p:spTree>
  </p:cSld>
  <p:clrMapOvr>
    <a:masterClrMapping/>
  </p:clrMapOvr>
  <p:transition>
    <p:pull dir="lu"/>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Deleting a Record</a:t>
            </a:r>
          </a:p>
        </p:txBody>
      </p:sp>
      <p:sp>
        <p:nvSpPr>
          <p:cNvPr id="53251" name="Rectangle 3"/>
          <p:cNvSpPr>
            <a:spLocks noGrp="1" noChangeArrowheads="1"/>
          </p:cNvSpPr>
          <p:nvPr>
            <p:ph type="body" sz="half" idx="1"/>
          </p:nvPr>
        </p:nvSpPr>
        <p:spPr>
          <a:xfrm>
            <a:off x="685800" y="1774825"/>
            <a:ext cx="8294688"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Records may also be deleted from a hash table.</a:t>
            </a:r>
          </a:p>
          <a:p>
            <a:r>
              <a:rPr lang="en-US" sz="2800"/>
              <a:t>But the location must not be left as an ordinary "empty spot" since that could interfere with searches.</a:t>
            </a:r>
          </a:p>
        </p:txBody>
      </p:sp>
      <p:sp useBgFill="1">
        <p:nvSpPr>
          <p:cNvPr id="53252" name="Freeform 4"/>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3" name="Rectangle 5"/>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4" name="Line 6"/>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5" name="Line 7"/>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6" name="Line 8"/>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7" name="Line 9"/>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8" name="Line 10"/>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9" name="Line 11"/>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60" name="Rectangle 12"/>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53261" name="Rectangle 13"/>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53262" name="Rectangle 14"/>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53263" name="Rectangle 15"/>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53264" name="Rectangle 16"/>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53265" name="Rectangle 17"/>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53266" name="Rectangle 18"/>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7" name="Rectangle 19"/>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53268" name="Group 20"/>
          <p:cNvGrpSpPr>
            <a:grpSpLocks/>
          </p:cNvGrpSpPr>
          <p:nvPr/>
        </p:nvGrpSpPr>
        <p:grpSpPr bwMode="auto">
          <a:xfrm>
            <a:off x="2822575" y="5449888"/>
            <a:ext cx="671513" cy="569912"/>
            <a:chOff x="1778" y="3433"/>
            <a:chExt cx="423" cy="359"/>
          </a:xfrm>
        </p:grpSpPr>
        <p:sp>
          <p:nvSpPr>
            <p:cNvPr id="53269" name="Rectangle 21"/>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53270" name="Picture 2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3271" name="Group 23"/>
          <p:cNvGrpSpPr>
            <a:grpSpLocks/>
          </p:cNvGrpSpPr>
          <p:nvPr/>
        </p:nvGrpSpPr>
        <p:grpSpPr bwMode="auto">
          <a:xfrm>
            <a:off x="1906588" y="5445125"/>
            <a:ext cx="619125" cy="577850"/>
            <a:chOff x="1201" y="3430"/>
            <a:chExt cx="390" cy="364"/>
          </a:xfrm>
        </p:grpSpPr>
        <p:sp>
          <p:nvSpPr>
            <p:cNvPr id="53272" name="Rectangle 24"/>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53273" name="Picture 2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3274" name="Group 26"/>
          <p:cNvGrpSpPr>
            <a:grpSpLocks/>
          </p:cNvGrpSpPr>
          <p:nvPr/>
        </p:nvGrpSpPr>
        <p:grpSpPr bwMode="auto">
          <a:xfrm>
            <a:off x="7764463" y="5480050"/>
            <a:ext cx="727075" cy="508000"/>
            <a:chOff x="4891" y="3452"/>
            <a:chExt cx="458" cy="320"/>
          </a:xfrm>
        </p:grpSpPr>
        <p:sp>
          <p:nvSpPr>
            <p:cNvPr id="53275" name="Rectangle 27"/>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53276" name="Picture 28"/>
            <p:cNvPicPr>
              <a:picLocks noChangeArrowheads="1"/>
            </p:cNvPicPr>
            <p:nvPr/>
          </p:nvPicPr>
          <p:blipFill>
            <a:blip r:embed="rId5"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3277" name="Group 29"/>
          <p:cNvGrpSpPr>
            <a:grpSpLocks/>
          </p:cNvGrpSpPr>
          <p:nvPr/>
        </p:nvGrpSpPr>
        <p:grpSpPr bwMode="auto">
          <a:xfrm>
            <a:off x="6596063" y="4014788"/>
            <a:ext cx="1311275" cy="2832100"/>
            <a:chOff x="4155" y="2529"/>
            <a:chExt cx="826" cy="1784"/>
          </a:xfrm>
        </p:grpSpPr>
        <p:sp useBgFill="1">
          <p:nvSpPr>
            <p:cNvPr id="53278" name="Freeform 30"/>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9" name="Rectangle 31"/>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53280" name="Group 32"/>
          <p:cNvGrpSpPr>
            <a:grpSpLocks/>
          </p:cNvGrpSpPr>
          <p:nvPr/>
        </p:nvGrpSpPr>
        <p:grpSpPr bwMode="auto">
          <a:xfrm>
            <a:off x="3713163" y="5465763"/>
            <a:ext cx="619125" cy="558800"/>
            <a:chOff x="2339" y="3443"/>
            <a:chExt cx="390" cy="352"/>
          </a:xfrm>
        </p:grpSpPr>
        <p:pic>
          <p:nvPicPr>
            <p:cNvPr id="53281" name="Picture 33"/>
            <p:cNvPicPr>
              <a:picLocks noChangeArrowheads="1"/>
            </p:cNvPicPr>
            <p:nvPr/>
          </p:nvPicPr>
          <p:blipFill>
            <a:blip r:embed="rId6"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82" name="Rectangle 34"/>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53283" name="Group 35"/>
          <p:cNvGrpSpPr>
            <a:grpSpLocks/>
          </p:cNvGrpSpPr>
          <p:nvPr/>
        </p:nvGrpSpPr>
        <p:grpSpPr bwMode="auto">
          <a:xfrm>
            <a:off x="5548313" y="5454650"/>
            <a:ext cx="619125" cy="550863"/>
            <a:chOff x="3495" y="3436"/>
            <a:chExt cx="390" cy="347"/>
          </a:xfrm>
        </p:grpSpPr>
        <p:pic>
          <p:nvPicPr>
            <p:cNvPr id="53284" name="Picture 3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85" name="Rectangle 37"/>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Tree>
  </p:cSld>
  <p:clrMapOvr>
    <a:masterClrMapping/>
  </p:clrMapOvr>
  <p:transition>
    <p:pull dir="l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Deleting a Record</a:t>
            </a:r>
          </a:p>
        </p:txBody>
      </p:sp>
      <p:sp useBgFill="1">
        <p:nvSpPr>
          <p:cNvPr id="55299" name="Freeform 3"/>
          <p:cNvSpPr>
            <a:spLocks/>
          </p:cNvSpPr>
          <p:nvPr/>
        </p:nvSpPr>
        <p:spPr bwMode="auto">
          <a:xfrm>
            <a:off x="6818313"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0" name="Rectangle 4"/>
          <p:cNvSpPr>
            <a:spLocks noChangeArrowheads="1"/>
          </p:cNvSpPr>
          <p:nvPr/>
        </p:nvSpPr>
        <p:spPr bwMode="auto">
          <a:xfrm>
            <a:off x="839788"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1" name="Line 5"/>
          <p:cNvSpPr>
            <a:spLocks noChangeShapeType="1"/>
          </p:cNvSpPr>
          <p:nvPr/>
        </p:nvSpPr>
        <p:spPr bwMode="auto">
          <a:xfrm>
            <a:off x="1752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2" name="Line 6"/>
          <p:cNvSpPr>
            <a:spLocks noChangeShapeType="1"/>
          </p:cNvSpPr>
          <p:nvPr/>
        </p:nvSpPr>
        <p:spPr bwMode="auto">
          <a:xfrm>
            <a:off x="2667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3" name="Line 7"/>
          <p:cNvSpPr>
            <a:spLocks noChangeShapeType="1"/>
          </p:cNvSpPr>
          <p:nvPr/>
        </p:nvSpPr>
        <p:spPr bwMode="auto">
          <a:xfrm>
            <a:off x="3579813"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4" name="Line 8"/>
          <p:cNvSpPr>
            <a:spLocks noChangeShapeType="1"/>
          </p:cNvSpPr>
          <p:nvPr/>
        </p:nvSpPr>
        <p:spPr bwMode="auto">
          <a:xfrm>
            <a:off x="44958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5" name="Line 9"/>
          <p:cNvSpPr>
            <a:spLocks noChangeShapeType="1"/>
          </p:cNvSpPr>
          <p:nvPr/>
        </p:nvSpPr>
        <p:spPr bwMode="auto">
          <a:xfrm>
            <a:off x="5410200" y="5341938"/>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6" name="Line 10"/>
          <p:cNvSpPr>
            <a:spLocks noChangeShapeType="1"/>
          </p:cNvSpPr>
          <p:nvPr/>
        </p:nvSpPr>
        <p:spPr bwMode="auto">
          <a:xfrm>
            <a:off x="6324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7" name="Rectangle 11"/>
          <p:cNvSpPr>
            <a:spLocks noChangeArrowheads="1"/>
          </p:cNvSpPr>
          <p:nvPr/>
        </p:nvSpPr>
        <p:spPr bwMode="auto">
          <a:xfrm>
            <a:off x="962025"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[ 0 ]</a:t>
            </a:r>
          </a:p>
        </p:txBody>
      </p:sp>
      <p:sp>
        <p:nvSpPr>
          <p:cNvPr id="55308" name="Rectangle 12"/>
          <p:cNvSpPr>
            <a:spLocks noChangeArrowheads="1"/>
          </p:cNvSpPr>
          <p:nvPr/>
        </p:nvSpPr>
        <p:spPr bwMode="auto">
          <a:xfrm>
            <a:off x="18224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[ 1 ]</a:t>
            </a:r>
          </a:p>
        </p:txBody>
      </p:sp>
      <p:sp>
        <p:nvSpPr>
          <p:cNvPr id="55309" name="Rectangle 13"/>
          <p:cNvSpPr>
            <a:spLocks noChangeArrowheads="1"/>
          </p:cNvSpPr>
          <p:nvPr/>
        </p:nvSpPr>
        <p:spPr bwMode="auto">
          <a:xfrm>
            <a:off x="2736850" y="4878388"/>
            <a:ext cx="722313"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[ 2 ]</a:t>
            </a:r>
          </a:p>
        </p:txBody>
      </p:sp>
      <p:sp>
        <p:nvSpPr>
          <p:cNvPr id="55310" name="Rectangle 14"/>
          <p:cNvSpPr>
            <a:spLocks noChangeArrowheads="1"/>
          </p:cNvSpPr>
          <p:nvPr/>
        </p:nvSpPr>
        <p:spPr bwMode="auto">
          <a:xfrm>
            <a:off x="36179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[ 3 ]</a:t>
            </a:r>
          </a:p>
        </p:txBody>
      </p:sp>
      <p:sp>
        <p:nvSpPr>
          <p:cNvPr id="55311" name="Rectangle 15"/>
          <p:cNvSpPr>
            <a:spLocks noChangeArrowheads="1"/>
          </p:cNvSpPr>
          <p:nvPr/>
        </p:nvSpPr>
        <p:spPr bwMode="auto">
          <a:xfrm>
            <a:off x="453231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[ 4 ]</a:t>
            </a:r>
          </a:p>
        </p:txBody>
      </p:sp>
      <p:sp>
        <p:nvSpPr>
          <p:cNvPr id="55312" name="Rectangle 16"/>
          <p:cNvSpPr>
            <a:spLocks noChangeArrowheads="1"/>
          </p:cNvSpPr>
          <p:nvPr/>
        </p:nvSpPr>
        <p:spPr bwMode="auto">
          <a:xfrm>
            <a:off x="5503863" y="4878388"/>
            <a:ext cx="722312"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b="1">
                <a:latin typeface="Arial" panose="020B0604020202020204" pitchFamily="34" charset="0"/>
              </a:rPr>
              <a:t>[ 5 ]</a:t>
            </a:r>
          </a:p>
        </p:txBody>
      </p:sp>
      <p:sp>
        <p:nvSpPr>
          <p:cNvPr id="55313" name="Rectangle 17"/>
          <p:cNvSpPr>
            <a:spLocks noChangeArrowheads="1"/>
          </p:cNvSpPr>
          <p:nvPr/>
        </p:nvSpPr>
        <p:spPr bwMode="auto">
          <a:xfrm>
            <a:off x="7669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4" name="Rectangle 18"/>
          <p:cNvSpPr>
            <a:spLocks noChangeArrowheads="1"/>
          </p:cNvSpPr>
          <p:nvPr/>
        </p:nvSpPr>
        <p:spPr bwMode="auto">
          <a:xfrm>
            <a:off x="7826375" y="4881563"/>
            <a:ext cx="977900" cy="454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[ 700]</a:t>
            </a:r>
          </a:p>
        </p:txBody>
      </p:sp>
      <p:grpSp>
        <p:nvGrpSpPr>
          <p:cNvPr id="55315" name="Group 19"/>
          <p:cNvGrpSpPr>
            <a:grpSpLocks/>
          </p:cNvGrpSpPr>
          <p:nvPr/>
        </p:nvGrpSpPr>
        <p:grpSpPr bwMode="auto">
          <a:xfrm>
            <a:off x="2822575" y="5449888"/>
            <a:ext cx="671513" cy="569912"/>
            <a:chOff x="1778" y="3433"/>
            <a:chExt cx="423" cy="359"/>
          </a:xfrm>
        </p:grpSpPr>
        <p:sp>
          <p:nvSpPr>
            <p:cNvPr id="55316" name="Rectangle 20"/>
            <p:cNvSpPr>
              <a:spLocks noChangeArrowheads="1"/>
            </p:cNvSpPr>
            <p:nvPr/>
          </p:nvSpPr>
          <p:spPr bwMode="auto">
            <a:xfrm>
              <a:off x="1778" y="3433"/>
              <a:ext cx="423"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233667136</a:t>
              </a:r>
            </a:p>
          </p:txBody>
        </p:sp>
        <p:pic>
          <p:nvPicPr>
            <p:cNvPr id="55317" name="Picture 2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5318" name="Group 22"/>
          <p:cNvGrpSpPr>
            <a:grpSpLocks/>
          </p:cNvGrpSpPr>
          <p:nvPr/>
        </p:nvGrpSpPr>
        <p:grpSpPr bwMode="auto">
          <a:xfrm>
            <a:off x="1906588" y="5445125"/>
            <a:ext cx="619125" cy="577850"/>
            <a:chOff x="1201" y="3430"/>
            <a:chExt cx="390" cy="364"/>
          </a:xfrm>
        </p:grpSpPr>
        <p:sp>
          <p:nvSpPr>
            <p:cNvPr id="55319" name="Rectangle 23"/>
            <p:cNvSpPr>
              <a:spLocks noChangeArrowheads="1"/>
            </p:cNvSpPr>
            <p:nvPr/>
          </p:nvSpPr>
          <p:spPr bwMode="auto">
            <a:xfrm>
              <a:off x="1201" y="3430"/>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281942902</a:t>
              </a:r>
            </a:p>
          </p:txBody>
        </p:sp>
        <p:pic>
          <p:nvPicPr>
            <p:cNvPr id="55320" name="Picture 2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5321" name="Group 25"/>
          <p:cNvGrpSpPr>
            <a:grpSpLocks/>
          </p:cNvGrpSpPr>
          <p:nvPr/>
        </p:nvGrpSpPr>
        <p:grpSpPr bwMode="auto">
          <a:xfrm>
            <a:off x="7764463" y="5480050"/>
            <a:ext cx="727075" cy="508000"/>
            <a:chOff x="4891" y="3452"/>
            <a:chExt cx="458" cy="320"/>
          </a:xfrm>
        </p:grpSpPr>
        <p:sp>
          <p:nvSpPr>
            <p:cNvPr id="55322" name="Rectangle 26"/>
            <p:cNvSpPr>
              <a:spLocks noChangeArrowheads="1"/>
            </p:cNvSpPr>
            <p:nvPr/>
          </p:nvSpPr>
          <p:spPr bwMode="auto">
            <a:xfrm>
              <a:off x="4928" y="3452"/>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155778322</a:t>
              </a:r>
            </a:p>
          </p:txBody>
        </p:sp>
        <p:pic>
          <p:nvPicPr>
            <p:cNvPr id="55323" name="Picture 27"/>
            <p:cNvPicPr>
              <a:picLocks noChangeArrowheads="1"/>
            </p:cNvPicPr>
            <p:nvPr/>
          </p:nvPicPr>
          <p:blipFill>
            <a:blip r:embed="rId5" cstate="print">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5324" name="Group 28"/>
          <p:cNvGrpSpPr>
            <a:grpSpLocks/>
          </p:cNvGrpSpPr>
          <p:nvPr/>
        </p:nvGrpSpPr>
        <p:grpSpPr bwMode="auto">
          <a:xfrm>
            <a:off x="6596063" y="4014788"/>
            <a:ext cx="1311275" cy="2832100"/>
            <a:chOff x="4155" y="2529"/>
            <a:chExt cx="826" cy="1784"/>
          </a:xfrm>
        </p:grpSpPr>
        <p:sp useBgFill="1">
          <p:nvSpPr>
            <p:cNvPr id="55325" name="Freeform 29"/>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26" name="Rectangle 30"/>
            <p:cNvSpPr>
              <a:spLocks noChangeArrowheads="1"/>
            </p:cNvSpPr>
            <p:nvPr/>
          </p:nvSpPr>
          <p:spPr bwMode="auto">
            <a:xfrm>
              <a:off x="4354" y="3462"/>
              <a:ext cx="379" cy="28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b="1">
                  <a:latin typeface="Arial" panose="020B0604020202020204" pitchFamily="34" charset="0"/>
                </a:rPr>
                <a:t>. . .</a:t>
              </a:r>
            </a:p>
          </p:txBody>
        </p:sp>
      </p:grpSp>
      <p:grpSp>
        <p:nvGrpSpPr>
          <p:cNvPr id="55327" name="Group 31"/>
          <p:cNvGrpSpPr>
            <a:grpSpLocks/>
          </p:cNvGrpSpPr>
          <p:nvPr/>
        </p:nvGrpSpPr>
        <p:grpSpPr bwMode="auto">
          <a:xfrm>
            <a:off x="3713163" y="5465763"/>
            <a:ext cx="619125" cy="558800"/>
            <a:chOff x="2339" y="3443"/>
            <a:chExt cx="390" cy="352"/>
          </a:xfrm>
        </p:grpSpPr>
        <p:pic>
          <p:nvPicPr>
            <p:cNvPr id="55328" name="Picture 32"/>
            <p:cNvPicPr>
              <a:picLocks noChangeArrowheads="1"/>
            </p:cNvPicPr>
            <p:nvPr/>
          </p:nvPicPr>
          <p:blipFill>
            <a:blip r:embed="rId6" cstate="print">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29" name="Rectangle 33"/>
            <p:cNvSpPr>
              <a:spLocks noChangeArrowheads="1"/>
            </p:cNvSpPr>
            <p:nvPr/>
          </p:nvSpPr>
          <p:spPr bwMode="auto">
            <a:xfrm>
              <a:off x="2339" y="3443"/>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580625685</a:t>
              </a:r>
            </a:p>
          </p:txBody>
        </p:sp>
      </p:grpSp>
      <p:grpSp>
        <p:nvGrpSpPr>
          <p:cNvPr id="55330" name="Group 34"/>
          <p:cNvGrpSpPr>
            <a:grpSpLocks/>
          </p:cNvGrpSpPr>
          <p:nvPr/>
        </p:nvGrpSpPr>
        <p:grpSpPr bwMode="auto">
          <a:xfrm>
            <a:off x="5548313" y="5454650"/>
            <a:ext cx="619125" cy="550863"/>
            <a:chOff x="3495" y="3436"/>
            <a:chExt cx="390" cy="347"/>
          </a:xfrm>
        </p:grpSpPr>
        <p:pic>
          <p:nvPicPr>
            <p:cNvPr id="55331" name="Picture 3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32" name="Rectangle 36"/>
            <p:cNvSpPr>
              <a:spLocks noChangeArrowheads="1"/>
            </p:cNvSpPr>
            <p:nvPr/>
          </p:nvSpPr>
          <p:spPr bwMode="auto">
            <a:xfrm>
              <a:off x="3495" y="3436"/>
              <a:ext cx="390" cy="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sz="500" b="1">
                  <a:latin typeface="Arial" panose="020B0604020202020204" pitchFamily="34" charset="0"/>
                </a:rPr>
                <a:t>Number 701466868</a:t>
              </a:r>
            </a:p>
          </p:txBody>
        </p:sp>
      </p:grpSp>
      <p:sp>
        <p:nvSpPr>
          <p:cNvPr id="55333" name="Rectangle 37"/>
          <p:cNvSpPr>
            <a:spLocks noChangeArrowheads="1"/>
          </p:cNvSpPr>
          <p:nvPr/>
        </p:nvSpPr>
        <p:spPr bwMode="auto">
          <a:xfrm>
            <a:off x="4484688" y="5332413"/>
            <a:ext cx="901700" cy="785812"/>
          </a:xfrm>
          <a:prstGeom prst="rect">
            <a:avLst/>
          </a:prstGeom>
          <a:pattFill prst="solidDmnd">
            <a:fgClr>
              <a:schemeClr val="bg2"/>
            </a:fgClr>
            <a:bgClr>
              <a:schemeClr val="tx1"/>
            </a:bgClr>
          </a:patt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34" name="Rectangle 38"/>
          <p:cNvSpPr>
            <a:spLocks noGrp="1" noChangeArrowheads="1"/>
          </p:cNvSpPr>
          <p:nvPr>
            <p:ph type="body" sz="half" idx="1"/>
          </p:nvPr>
        </p:nvSpPr>
        <p:spPr>
          <a:xfrm>
            <a:off x="685800" y="1774825"/>
            <a:ext cx="8277225" cy="4114800"/>
          </a:xfrm>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sz="2800"/>
              <a:t>Records may also be deleted from a hash table.</a:t>
            </a:r>
          </a:p>
          <a:p>
            <a:r>
              <a:rPr lang="en-US" sz="2800"/>
              <a:t>But the location must not be left as an ordinary "empty spot" since that could interfere with searches.</a:t>
            </a:r>
          </a:p>
          <a:p>
            <a:r>
              <a:rPr lang="en-US" sz="2800"/>
              <a:t>The location must be marked in some special way so that a search can tell that the spot used to have something in it.</a:t>
            </a:r>
          </a:p>
        </p:txBody>
      </p:sp>
    </p:spTree>
  </p:cSld>
  <p:clrMapOvr>
    <a:masterClrMapping/>
  </p:clrMapOvr>
  <p:transition>
    <p:pull dir="lu"/>
  </p:transition>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a:lnSpc>
                <a:spcPct val="90000"/>
              </a:lnSpc>
            </a:pPr>
            <a:r>
              <a:rPr lang="en-US" sz="2800"/>
              <a:t>Hash tables store a collection of records with keys.</a:t>
            </a:r>
          </a:p>
          <a:p>
            <a:pPr>
              <a:lnSpc>
                <a:spcPct val="90000"/>
              </a:lnSpc>
            </a:pPr>
            <a:r>
              <a:rPr lang="en-US" sz="2800"/>
              <a:t>The location of a record depends on the hash value of the record's key.</a:t>
            </a:r>
          </a:p>
          <a:p>
            <a:pPr>
              <a:lnSpc>
                <a:spcPct val="90000"/>
              </a:lnSpc>
            </a:pPr>
            <a:r>
              <a:rPr lang="en-US" sz="2800"/>
              <a:t>Open address hashing:</a:t>
            </a:r>
          </a:p>
          <a:p>
            <a:pPr lvl="1">
              <a:lnSpc>
                <a:spcPct val="90000"/>
              </a:lnSpc>
            </a:pPr>
            <a:r>
              <a:rPr lang="en-US" sz="2400"/>
              <a:t>When a collision occurs, the next available location is used.</a:t>
            </a:r>
          </a:p>
          <a:p>
            <a:pPr lvl="1">
              <a:lnSpc>
                <a:spcPct val="90000"/>
              </a:lnSpc>
            </a:pPr>
            <a:r>
              <a:rPr lang="en-US" sz="2400"/>
              <a:t>Searching for a particular key is generally quick.</a:t>
            </a:r>
          </a:p>
          <a:p>
            <a:pPr lvl="1">
              <a:lnSpc>
                <a:spcPct val="90000"/>
              </a:lnSpc>
            </a:pPr>
            <a:r>
              <a:rPr lang="en-US" sz="2400"/>
              <a:t>When an item is deleted, the location must be marked in a special way, so that the searches know that the spot used to be used.</a:t>
            </a:r>
          </a:p>
          <a:p>
            <a:pPr>
              <a:lnSpc>
                <a:spcPct val="90000"/>
              </a:lnSpc>
            </a:pPr>
            <a:r>
              <a:rPr lang="en-US" sz="2800"/>
              <a:t>See text for implementation.</a:t>
            </a:r>
          </a:p>
        </p:txBody>
      </p:sp>
      <p:sp>
        <p:nvSpPr>
          <p:cNvPr id="57348" name="Rectangle 4"/>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r>
              <a:rPr lang="en-US"/>
              <a:t>Hashing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animEffect transition="in" filter="randombar(vertical)">
                                      <p:cBhvr>
                                        <p:cTn id="7" dur="500"/>
                                        <p:tgtEl>
                                          <p:spTgt spid="573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57346">
                                            <p:txEl>
                                              <p:pRg st="1" end="1"/>
                                            </p:txEl>
                                          </p:spTgt>
                                        </p:tgtEl>
                                        <p:attrNameLst>
                                          <p:attrName>style.visibility</p:attrName>
                                        </p:attrNameLst>
                                      </p:cBhvr>
                                      <p:to>
                                        <p:strVal val="visible"/>
                                      </p:to>
                                    </p:set>
                                    <p:animEffect transition="in" filter="randombar(vertical)">
                                      <p:cBhvr>
                                        <p:cTn id="12" dur="500"/>
                                        <p:tgtEl>
                                          <p:spTgt spid="573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57346">
                                            <p:txEl>
                                              <p:pRg st="2" end="2"/>
                                            </p:txEl>
                                          </p:spTgt>
                                        </p:tgtEl>
                                        <p:attrNameLst>
                                          <p:attrName>style.visibility</p:attrName>
                                        </p:attrNameLst>
                                      </p:cBhvr>
                                      <p:to>
                                        <p:strVal val="visible"/>
                                      </p:to>
                                    </p:set>
                                    <p:animEffect transition="in" filter="randombar(vertical)">
                                      <p:cBhvr>
                                        <p:cTn id="17" dur="500"/>
                                        <p:tgtEl>
                                          <p:spTgt spid="57346">
                                            <p:txEl>
                                              <p:pRg st="2" end="2"/>
                                            </p:txEl>
                                          </p:spTgt>
                                        </p:tgtEl>
                                      </p:cBhvr>
                                    </p:animEffect>
                                  </p:childTnLst>
                                </p:cTn>
                              </p:par>
                              <p:par>
                                <p:cTn id="18" presetID="14" presetClass="entr" presetSubtype="5" fill="hold" grpId="0" nodeType="withEffect">
                                  <p:stCondLst>
                                    <p:cond delay="0"/>
                                  </p:stCondLst>
                                  <p:childTnLst>
                                    <p:set>
                                      <p:cBhvr>
                                        <p:cTn id="19" dur="1" fill="hold">
                                          <p:stCondLst>
                                            <p:cond delay="0"/>
                                          </p:stCondLst>
                                        </p:cTn>
                                        <p:tgtEl>
                                          <p:spTgt spid="57346">
                                            <p:txEl>
                                              <p:pRg st="3" end="3"/>
                                            </p:txEl>
                                          </p:spTgt>
                                        </p:tgtEl>
                                        <p:attrNameLst>
                                          <p:attrName>style.visibility</p:attrName>
                                        </p:attrNameLst>
                                      </p:cBhvr>
                                      <p:to>
                                        <p:strVal val="visible"/>
                                      </p:to>
                                    </p:set>
                                    <p:animEffect transition="in" filter="randombar(vertical)">
                                      <p:cBhvr>
                                        <p:cTn id="20" dur="500"/>
                                        <p:tgtEl>
                                          <p:spTgt spid="57346">
                                            <p:txEl>
                                              <p:pRg st="3" end="3"/>
                                            </p:txEl>
                                          </p:spTgt>
                                        </p:tgtEl>
                                      </p:cBhvr>
                                    </p:animEffect>
                                  </p:childTnLst>
                                </p:cTn>
                              </p:par>
                              <p:par>
                                <p:cTn id="21" presetID="14" presetClass="entr" presetSubtype="5" fill="hold" grpId="0" nodeType="withEffect">
                                  <p:stCondLst>
                                    <p:cond delay="0"/>
                                  </p:stCondLst>
                                  <p:childTnLst>
                                    <p:set>
                                      <p:cBhvr>
                                        <p:cTn id="22" dur="1" fill="hold">
                                          <p:stCondLst>
                                            <p:cond delay="0"/>
                                          </p:stCondLst>
                                        </p:cTn>
                                        <p:tgtEl>
                                          <p:spTgt spid="57346">
                                            <p:txEl>
                                              <p:pRg st="4" end="4"/>
                                            </p:txEl>
                                          </p:spTgt>
                                        </p:tgtEl>
                                        <p:attrNameLst>
                                          <p:attrName>style.visibility</p:attrName>
                                        </p:attrNameLst>
                                      </p:cBhvr>
                                      <p:to>
                                        <p:strVal val="visible"/>
                                      </p:to>
                                    </p:set>
                                    <p:animEffect transition="in" filter="randombar(vertical)">
                                      <p:cBhvr>
                                        <p:cTn id="23" dur="500"/>
                                        <p:tgtEl>
                                          <p:spTgt spid="57346">
                                            <p:txEl>
                                              <p:pRg st="4" end="4"/>
                                            </p:txEl>
                                          </p:spTgt>
                                        </p:tgtEl>
                                      </p:cBhvr>
                                    </p:animEffect>
                                  </p:childTnLst>
                                </p:cTn>
                              </p:par>
                              <p:par>
                                <p:cTn id="24" presetID="14" presetClass="entr" presetSubtype="5" fill="hold" grpId="0" nodeType="withEffect">
                                  <p:stCondLst>
                                    <p:cond delay="0"/>
                                  </p:stCondLst>
                                  <p:childTnLst>
                                    <p:set>
                                      <p:cBhvr>
                                        <p:cTn id="25" dur="1" fill="hold">
                                          <p:stCondLst>
                                            <p:cond delay="0"/>
                                          </p:stCondLst>
                                        </p:cTn>
                                        <p:tgtEl>
                                          <p:spTgt spid="57346">
                                            <p:txEl>
                                              <p:pRg st="5" end="5"/>
                                            </p:txEl>
                                          </p:spTgt>
                                        </p:tgtEl>
                                        <p:attrNameLst>
                                          <p:attrName>style.visibility</p:attrName>
                                        </p:attrNameLst>
                                      </p:cBhvr>
                                      <p:to>
                                        <p:strVal val="visible"/>
                                      </p:to>
                                    </p:set>
                                    <p:animEffect transition="in" filter="randombar(vertical)">
                                      <p:cBhvr>
                                        <p:cTn id="26" dur="500"/>
                                        <p:tgtEl>
                                          <p:spTgt spid="57346">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4" presetClass="entr" presetSubtype="5" fill="hold" grpId="0" nodeType="clickEffect">
                                  <p:stCondLst>
                                    <p:cond delay="0"/>
                                  </p:stCondLst>
                                  <p:childTnLst>
                                    <p:set>
                                      <p:cBhvr>
                                        <p:cTn id="30" dur="1" fill="hold">
                                          <p:stCondLst>
                                            <p:cond delay="0"/>
                                          </p:stCondLst>
                                        </p:cTn>
                                        <p:tgtEl>
                                          <p:spTgt spid="57346">
                                            <p:txEl>
                                              <p:pRg st="6" end="6"/>
                                            </p:txEl>
                                          </p:spTgt>
                                        </p:tgtEl>
                                        <p:attrNameLst>
                                          <p:attrName>style.visibility</p:attrName>
                                        </p:attrNameLst>
                                      </p:cBhvr>
                                      <p:to>
                                        <p:strVal val="visible"/>
                                      </p:to>
                                    </p:set>
                                    <p:animEffect transition="in" filter="randombar(vertical)">
                                      <p:cBhvr>
                                        <p:cTn id="31" dur="500"/>
                                        <p:tgtEl>
                                          <p:spTgt spid="573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a:t>Open Address Hashing</a:t>
            </a:r>
          </a:p>
        </p:txBody>
      </p:sp>
      <p:sp>
        <p:nvSpPr>
          <p:cNvPr id="100355" name="Rectangle 3"/>
          <p:cNvSpPr>
            <a:spLocks noGrp="1" noChangeArrowheads="1"/>
          </p:cNvSpPr>
          <p:nvPr>
            <p:ph type="body" idx="1"/>
          </p:nvPr>
        </p:nvSpPr>
        <p:spPr>
          <a:xfrm>
            <a:off x="342900" y="1905000"/>
            <a:ext cx="8458200" cy="4114800"/>
          </a:xfrm>
        </p:spPr>
        <p:txBody>
          <a:bodyPr/>
          <a:lstStyle/>
          <a:p>
            <a:pPr>
              <a:lnSpc>
                <a:spcPct val="90000"/>
              </a:lnSpc>
            </a:pPr>
            <a:r>
              <a:rPr lang="en-US" sz="2800"/>
              <a:t>To reduce collisions…</a:t>
            </a:r>
          </a:p>
          <a:p>
            <a:pPr lvl="1">
              <a:lnSpc>
                <a:spcPct val="90000"/>
              </a:lnSpc>
            </a:pPr>
            <a:r>
              <a:rPr lang="en-US"/>
              <a:t>Use table CAPACITY = prime number of form 4k+3</a:t>
            </a:r>
          </a:p>
          <a:p>
            <a:pPr lvl="1">
              <a:lnSpc>
                <a:spcPct val="90000"/>
              </a:lnSpc>
            </a:pPr>
            <a:r>
              <a:rPr lang="en-US"/>
              <a:t>Hashing functions:</a:t>
            </a:r>
          </a:p>
          <a:p>
            <a:pPr lvl="2">
              <a:lnSpc>
                <a:spcPct val="90000"/>
              </a:lnSpc>
            </a:pPr>
            <a:r>
              <a:rPr lang="en-US" sz="2800"/>
              <a:t>Division hash function: key % CAPACITY</a:t>
            </a:r>
          </a:p>
          <a:p>
            <a:pPr lvl="2">
              <a:lnSpc>
                <a:spcPct val="90000"/>
              </a:lnSpc>
            </a:pPr>
            <a:r>
              <a:rPr lang="en-US" sz="2800"/>
              <a:t>Mid-square function: (key*key) % CAPACITY</a:t>
            </a:r>
          </a:p>
          <a:p>
            <a:pPr lvl="2">
              <a:lnSpc>
                <a:spcPct val="90000"/>
              </a:lnSpc>
            </a:pPr>
            <a:r>
              <a:rPr lang="en-US" sz="2800"/>
              <a:t>Multiplicative hash function: key is multiplied by positive constant less than one. Hash function returns first few digits of fractional result.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685800" y="304800"/>
            <a:ext cx="7772400" cy="1143000"/>
          </a:xfrm>
        </p:spPr>
        <p:txBody>
          <a:bodyPr/>
          <a:lstStyle/>
          <a:p>
            <a:r>
              <a:rPr lang="en-US"/>
              <a:t>Clustering</a:t>
            </a:r>
          </a:p>
        </p:txBody>
      </p:sp>
      <p:sp>
        <p:nvSpPr>
          <p:cNvPr id="101379" name="Rectangle 3"/>
          <p:cNvSpPr>
            <a:spLocks noGrp="1" noChangeArrowheads="1"/>
          </p:cNvSpPr>
          <p:nvPr>
            <p:ph type="body" idx="1"/>
          </p:nvPr>
        </p:nvSpPr>
        <p:spPr>
          <a:xfrm>
            <a:off x="685800" y="1600200"/>
            <a:ext cx="7772400" cy="4114800"/>
          </a:xfrm>
        </p:spPr>
        <p:txBody>
          <a:bodyPr/>
          <a:lstStyle/>
          <a:p>
            <a:pPr>
              <a:lnSpc>
                <a:spcPct val="90000"/>
              </a:lnSpc>
            </a:pPr>
            <a:r>
              <a:rPr lang="en-US" sz="2800"/>
              <a:t>In the hash method described, when the insertion encounters a collision, we move forward in the table until a vacant spot is found.  This is called </a:t>
            </a:r>
            <a:r>
              <a:rPr lang="en-US" sz="2800" i="1"/>
              <a:t>linear probing.</a:t>
            </a:r>
          </a:p>
          <a:p>
            <a:pPr>
              <a:lnSpc>
                <a:spcPct val="90000"/>
              </a:lnSpc>
            </a:pPr>
            <a:r>
              <a:rPr lang="en-US" sz="2800" i="1"/>
              <a:t>Problem: </a:t>
            </a:r>
            <a:r>
              <a:rPr lang="en-US" sz="2800"/>
              <a:t>when several different keys are hashed to the same location, adjacent spots in the table will be filled. This leads to the problem of </a:t>
            </a:r>
            <a:r>
              <a:rPr lang="en-US" sz="2800" i="1"/>
              <a:t>clustering.</a:t>
            </a:r>
          </a:p>
          <a:p>
            <a:pPr>
              <a:lnSpc>
                <a:spcPct val="90000"/>
              </a:lnSpc>
            </a:pPr>
            <a:r>
              <a:rPr lang="en-US" sz="2800"/>
              <a:t>As the table approaches its capacity, these clusters tend to merge. This causes insertion to take a long time (due to linear probing to find vacant spot).</a:t>
            </a:r>
            <a:endParaRPr lang="en-US" sz="2800" i="1"/>
          </a:p>
          <a:p>
            <a:pPr>
              <a:lnSpc>
                <a:spcPct val="90000"/>
              </a:lnSpc>
            </a:pPr>
            <a:endParaRPr lang="en-US" sz="2800" i="1"/>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a:t>Double Hashing</a:t>
            </a:r>
          </a:p>
        </p:txBody>
      </p:sp>
      <p:sp>
        <p:nvSpPr>
          <p:cNvPr id="102403" name="Rectangle 3"/>
          <p:cNvSpPr>
            <a:spLocks noGrp="1" noChangeArrowheads="1"/>
          </p:cNvSpPr>
          <p:nvPr>
            <p:ph type="body" idx="1"/>
          </p:nvPr>
        </p:nvSpPr>
        <p:spPr/>
        <p:txBody>
          <a:bodyPr/>
          <a:lstStyle/>
          <a:p>
            <a:pPr marL="609600" indent="-609600">
              <a:lnSpc>
                <a:spcPct val="90000"/>
              </a:lnSpc>
            </a:pPr>
            <a:r>
              <a:rPr lang="en-US" sz="2400"/>
              <a:t>One common technique to avoid cluster is called </a:t>
            </a:r>
            <a:r>
              <a:rPr lang="en-US" sz="2400" i="1"/>
              <a:t>double hashing</a:t>
            </a:r>
            <a:r>
              <a:rPr lang="en-US" sz="2400"/>
              <a:t>.</a:t>
            </a:r>
          </a:p>
          <a:p>
            <a:pPr marL="609600" indent="-609600">
              <a:lnSpc>
                <a:spcPct val="90000"/>
              </a:lnSpc>
            </a:pPr>
            <a:r>
              <a:rPr lang="en-US" sz="2400"/>
              <a:t>Let’s call the original hash function </a:t>
            </a:r>
            <a:r>
              <a:rPr lang="en-US" sz="2400" i="1">
                <a:latin typeface="Arial" panose="020B0604020202020204" pitchFamily="34" charset="0"/>
              </a:rPr>
              <a:t>hash1</a:t>
            </a:r>
          </a:p>
          <a:p>
            <a:pPr marL="609600" indent="-609600">
              <a:lnSpc>
                <a:spcPct val="90000"/>
              </a:lnSpc>
            </a:pPr>
            <a:r>
              <a:rPr lang="en-US" sz="2400"/>
              <a:t>Define a second hash function</a:t>
            </a:r>
            <a:r>
              <a:rPr lang="en-US" sz="2400" i="1">
                <a:latin typeface="Arial" panose="020B0604020202020204" pitchFamily="34" charset="0"/>
              </a:rPr>
              <a:t> hash2</a:t>
            </a:r>
          </a:p>
          <a:p>
            <a:pPr marL="609600" indent="-609600">
              <a:lnSpc>
                <a:spcPct val="90000"/>
              </a:lnSpc>
              <a:buFontTx/>
              <a:buNone/>
            </a:pPr>
            <a:endParaRPr lang="en-US" sz="2400" i="1">
              <a:latin typeface="Arial" panose="020B0604020202020204" pitchFamily="34" charset="0"/>
            </a:endParaRPr>
          </a:p>
          <a:p>
            <a:pPr marL="609600" indent="-609600">
              <a:lnSpc>
                <a:spcPct val="90000"/>
              </a:lnSpc>
              <a:buFontTx/>
              <a:buNone/>
            </a:pPr>
            <a:r>
              <a:rPr lang="en-US" sz="2400" i="1">
                <a:latin typeface="Arial" panose="020B0604020202020204" pitchFamily="34" charset="0"/>
              </a:rPr>
              <a:t>Double hashing algorithm:</a:t>
            </a:r>
          </a:p>
          <a:p>
            <a:pPr marL="990600" lvl="1" indent="-533400">
              <a:lnSpc>
                <a:spcPct val="90000"/>
              </a:lnSpc>
              <a:buFontTx/>
              <a:buAutoNum type="arabicPeriod"/>
            </a:pPr>
            <a:r>
              <a:rPr lang="en-US" sz="2000" i="1">
                <a:latin typeface="Arial" panose="020B0604020202020204" pitchFamily="34" charset="0"/>
              </a:rPr>
              <a:t>When an item is inserted, use hash1(key) to determine insertion location i in array as before.</a:t>
            </a:r>
          </a:p>
          <a:p>
            <a:pPr marL="990600" lvl="1" indent="-533400">
              <a:lnSpc>
                <a:spcPct val="90000"/>
              </a:lnSpc>
              <a:buFontTx/>
              <a:buAutoNum type="arabicPeriod"/>
            </a:pPr>
            <a:r>
              <a:rPr lang="en-US" sz="2000" i="1">
                <a:latin typeface="Arial" panose="020B0604020202020204" pitchFamily="34" charset="0"/>
              </a:rPr>
              <a:t>If collision occurs, use hash2(key) to determine how far to move forward in the array looking for a vacant spot:</a:t>
            </a:r>
          </a:p>
          <a:p>
            <a:pPr marL="1371600" lvl="2" indent="-457200">
              <a:lnSpc>
                <a:spcPct val="90000"/>
              </a:lnSpc>
              <a:buFontTx/>
              <a:buNone/>
            </a:pPr>
            <a:endParaRPr lang="en-US" sz="1800" i="1">
              <a:latin typeface="Arial" panose="020B0604020202020204" pitchFamily="34" charset="0"/>
            </a:endParaRPr>
          </a:p>
          <a:p>
            <a:pPr marL="1371600" lvl="2" indent="-457200">
              <a:lnSpc>
                <a:spcPct val="90000"/>
              </a:lnSpc>
              <a:buFontTx/>
              <a:buNone/>
            </a:pPr>
            <a:r>
              <a:rPr lang="en-US" sz="1800" i="1">
                <a:latin typeface="Arial" panose="020B0604020202020204" pitchFamily="34" charset="0"/>
              </a:rPr>
              <a:t>next location = (i + hash2(key)) % CAPACITY</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r>
              <a:rPr lang="en-US"/>
              <a:t>Double Hashing</a:t>
            </a:r>
          </a:p>
        </p:txBody>
      </p:sp>
      <p:sp>
        <p:nvSpPr>
          <p:cNvPr id="103427" name="Rectangle 3"/>
          <p:cNvSpPr>
            <a:spLocks noGrp="1" noChangeArrowheads="1"/>
          </p:cNvSpPr>
          <p:nvPr>
            <p:ph type="body" idx="1"/>
          </p:nvPr>
        </p:nvSpPr>
        <p:spPr>
          <a:xfrm>
            <a:off x="685800" y="1981200"/>
            <a:ext cx="8077200" cy="4114800"/>
          </a:xfrm>
        </p:spPr>
        <p:txBody>
          <a:bodyPr/>
          <a:lstStyle/>
          <a:p>
            <a:pPr>
              <a:lnSpc>
                <a:spcPct val="90000"/>
              </a:lnSpc>
            </a:pPr>
            <a:r>
              <a:rPr lang="en-US" sz="2400"/>
              <a:t>Clustering tends to be reduced, because </a:t>
            </a:r>
            <a:r>
              <a:rPr lang="en-US" sz="2400">
                <a:latin typeface="Arial" panose="020B0604020202020204" pitchFamily="34" charset="0"/>
              </a:rPr>
              <a:t>hash2() </a:t>
            </a:r>
            <a:r>
              <a:rPr lang="en-US" sz="2400"/>
              <a:t>has different values for keys that initially map to the same initial location via </a:t>
            </a:r>
            <a:r>
              <a:rPr lang="en-US" sz="2400">
                <a:latin typeface="Arial" panose="020B0604020202020204" pitchFamily="34" charset="0"/>
              </a:rPr>
              <a:t>hash1().</a:t>
            </a:r>
          </a:p>
          <a:p>
            <a:pPr>
              <a:lnSpc>
                <a:spcPct val="90000"/>
              </a:lnSpc>
            </a:pPr>
            <a:r>
              <a:rPr lang="en-US" sz="2400"/>
              <a:t>This is in contrast to hashing with </a:t>
            </a:r>
            <a:r>
              <a:rPr lang="en-US" sz="2400" i="1"/>
              <a:t>linear probing.</a:t>
            </a:r>
          </a:p>
          <a:p>
            <a:pPr>
              <a:lnSpc>
                <a:spcPct val="90000"/>
              </a:lnSpc>
            </a:pPr>
            <a:r>
              <a:rPr lang="en-US" sz="2400"/>
              <a:t>Both methods are </a:t>
            </a:r>
            <a:r>
              <a:rPr lang="en-US" sz="2400" i="1"/>
              <a:t>open address hashing</a:t>
            </a:r>
            <a:r>
              <a:rPr lang="en-US" sz="2400"/>
              <a:t>, because the methods take the next open spot in the array.</a:t>
            </a:r>
          </a:p>
          <a:p>
            <a:pPr>
              <a:lnSpc>
                <a:spcPct val="90000"/>
              </a:lnSpc>
            </a:pPr>
            <a:r>
              <a:rPr lang="en-US" sz="2400"/>
              <a:t>In linear probing </a:t>
            </a:r>
          </a:p>
          <a:p>
            <a:pPr lvl="1">
              <a:lnSpc>
                <a:spcPct val="90000"/>
              </a:lnSpc>
              <a:buFontTx/>
              <a:buNone/>
            </a:pPr>
            <a:r>
              <a:rPr lang="en-US" sz="2000">
                <a:latin typeface="Arial" panose="020B0604020202020204" pitchFamily="34" charset="0"/>
              </a:rPr>
              <a:t>	hash2(key) = (i+1)%CAPACITY</a:t>
            </a:r>
          </a:p>
          <a:p>
            <a:pPr>
              <a:lnSpc>
                <a:spcPct val="90000"/>
              </a:lnSpc>
            </a:pPr>
            <a:r>
              <a:rPr lang="en-US" sz="2400"/>
              <a:t>In double hashing</a:t>
            </a:r>
            <a:r>
              <a:rPr lang="en-US" sz="2400">
                <a:latin typeface="Arial" panose="020B0604020202020204" pitchFamily="34" charset="0"/>
              </a:rPr>
              <a:t> hash2() </a:t>
            </a:r>
            <a:r>
              <a:rPr lang="en-US" sz="2400"/>
              <a:t>can be a general function of the form</a:t>
            </a:r>
          </a:p>
          <a:p>
            <a:pPr lvl="1">
              <a:lnSpc>
                <a:spcPct val="90000"/>
              </a:lnSpc>
            </a:pPr>
            <a:r>
              <a:rPr lang="en-US" sz="2000">
                <a:latin typeface="Arial" panose="020B0604020202020204" pitchFamily="34" charset="0"/>
              </a:rPr>
              <a:t>hash2(key) = (I+f(key))%CAPACITY</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a:t>Chained Hashing</a:t>
            </a:r>
          </a:p>
        </p:txBody>
      </p:sp>
      <p:sp>
        <p:nvSpPr>
          <p:cNvPr id="104451" name="Rectangle 3"/>
          <p:cNvSpPr>
            <a:spLocks noGrp="1" noChangeArrowheads="1"/>
          </p:cNvSpPr>
          <p:nvPr>
            <p:ph type="body" idx="1"/>
          </p:nvPr>
        </p:nvSpPr>
        <p:spPr/>
        <p:txBody>
          <a:bodyPr/>
          <a:lstStyle/>
          <a:p>
            <a:r>
              <a:rPr lang="en-US"/>
              <a:t>In open address hashing, a collision is handled by probing the array for the next vacant spot.  </a:t>
            </a:r>
          </a:p>
          <a:p>
            <a:r>
              <a:rPr lang="en-US"/>
              <a:t>When the array is full, no new items can be added. </a:t>
            </a:r>
          </a:p>
          <a:p>
            <a:r>
              <a:rPr lang="en-US"/>
              <a:t>We can solve this by resizing the table.</a:t>
            </a:r>
          </a:p>
          <a:p>
            <a:r>
              <a:rPr lang="en-US"/>
              <a:t>Alternative: chained hashing.</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a:xfrm>
            <a:off x="685800" y="152400"/>
            <a:ext cx="7772400" cy="1143000"/>
          </a:xfrm>
        </p:spPr>
        <p:txBody>
          <a:bodyPr/>
          <a:lstStyle/>
          <a:p>
            <a:r>
              <a:rPr lang="en-US"/>
              <a:t>Chained Hashing</a:t>
            </a:r>
          </a:p>
        </p:txBody>
      </p:sp>
      <p:sp>
        <p:nvSpPr>
          <p:cNvPr id="105475" name="Rectangle 3"/>
          <p:cNvSpPr>
            <a:spLocks noGrp="1" noChangeArrowheads="1"/>
          </p:cNvSpPr>
          <p:nvPr>
            <p:ph type="body" idx="1"/>
          </p:nvPr>
        </p:nvSpPr>
        <p:spPr>
          <a:xfrm>
            <a:off x="685800" y="1524000"/>
            <a:ext cx="7772400" cy="4114800"/>
          </a:xfrm>
        </p:spPr>
        <p:txBody>
          <a:bodyPr/>
          <a:lstStyle/>
          <a:p>
            <a:r>
              <a:rPr lang="en-US" sz="2800"/>
              <a:t>In chained hashing, each location in the hash table contains a list of records whose keys map to that location:</a:t>
            </a:r>
          </a:p>
          <a:p>
            <a:endParaRPr lang="en-US" sz="2800"/>
          </a:p>
          <a:p>
            <a:endParaRPr lang="en-US" sz="2800"/>
          </a:p>
        </p:txBody>
      </p:sp>
      <p:sp>
        <p:nvSpPr>
          <p:cNvPr id="105476" name="Rectangle 4"/>
          <p:cNvSpPr>
            <a:spLocks noChangeArrowheads="1"/>
          </p:cNvSpPr>
          <p:nvPr/>
        </p:nvSpPr>
        <p:spPr bwMode="auto">
          <a:xfrm>
            <a:off x="25146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7" name="Rectangle 5"/>
          <p:cNvSpPr>
            <a:spLocks noChangeArrowheads="1"/>
          </p:cNvSpPr>
          <p:nvPr/>
        </p:nvSpPr>
        <p:spPr bwMode="auto">
          <a:xfrm>
            <a:off x="31242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8" name="Rectangle 6"/>
          <p:cNvSpPr>
            <a:spLocks noChangeArrowheads="1"/>
          </p:cNvSpPr>
          <p:nvPr/>
        </p:nvSpPr>
        <p:spPr bwMode="auto">
          <a:xfrm>
            <a:off x="37338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9" name="Rectangle 7"/>
          <p:cNvSpPr>
            <a:spLocks noChangeArrowheads="1"/>
          </p:cNvSpPr>
          <p:nvPr/>
        </p:nvSpPr>
        <p:spPr bwMode="auto">
          <a:xfrm>
            <a:off x="43434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0" name="Rectangle 8"/>
          <p:cNvSpPr>
            <a:spLocks noChangeArrowheads="1"/>
          </p:cNvSpPr>
          <p:nvPr/>
        </p:nvSpPr>
        <p:spPr bwMode="auto">
          <a:xfrm>
            <a:off x="49530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1" name="Rectangle 9"/>
          <p:cNvSpPr>
            <a:spLocks noChangeArrowheads="1"/>
          </p:cNvSpPr>
          <p:nvPr/>
        </p:nvSpPr>
        <p:spPr bwMode="auto">
          <a:xfrm>
            <a:off x="55626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2" name="Rectangle 10"/>
          <p:cNvSpPr>
            <a:spLocks noChangeArrowheads="1"/>
          </p:cNvSpPr>
          <p:nvPr/>
        </p:nvSpPr>
        <p:spPr bwMode="auto">
          <a:xfrm>
            <a:off x="61722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3" name="Rectangle 11"/>
          <p:cNvSpPr>
            <a:spLocks noChangeArrowheads="1"/>
          </p:cNvSpPr>
          <p:nvPr/>
        </p:nvSpPr>
        <p:spPr bwMode="auto">
          <a:xfrm>
            <a:off x="67818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4" name="Rectangle 12"/>
          <p:cNvSpPr>
            <a:spLocks noChangeArrowheads="1"/>
          </p:cNvSpPr>
          <p:nvPr/>
        </p:nvSpPr>
        <p:spPr bwMode="auto">
          <a:xfrm>
            <a:off x="79248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5" name="Text Box 13"/>
          <p:cNvSpPr txBox="1">
            <a:spLocks noChangeArrowheads="1"/>
          </p:cNvSpPr>
          <p:nvPr/>
        </p:nvSpPr>
        <p:spPr bwMode="auto">
          <a:xfrm>
            <a:off x="7391400" y="2895600"/>
            <a:ext cx="5905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200"/>
              <a:t>…</a:t>
            </a:r>
          </a:p>
        </p:txBody>
      </p:sp>
      <p:sp>
        <p:nvSpPr>
          <p:cNvPr id="105486" name="Text Box 14"/>
          <p:cNvSpPr txBox="1">
            <a:spLocks noChangeArrowheads="1"/>
          </p:cNvSpPr>
          <p:nvPr/>
        </p:nvSpPr>
        <p:spPr bwMode="auto">
          <a:xfrm>
            <a:off x="251460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[0]</a:t>
            </a:r>
          </a:p>
        </p:txBody>
      </p:sp>
      <p:sp>
        <p:nvSpPr>
          <p:cNvPr id="105487" name="Text Box 15"/>
          <p:cNvSpPr txBox="1">
            <a:spLocks noChangeArrowheads="1"/>
          </p:cNvSpPr>
          <p:nvPr/>
        </p:nvSpPr>
        <p:spPr bwMode="auto">
          <a:xfrm>
            <a:off x="319405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[1]</a:t>
            </a:r>
          </a:p>
        </p:txBody>
      </p:sp>
      <p:sp>
        <p:nvSpPr>
          <p:cNvPr id="105488" name="Text Box 16"/>
          <p:cNvSpPr txBox="1">
            <a:spLocks noChangeArrowheads="1"/>
          </p:cNvSpPr>
          <p:nvPr/>
        </p:nvSpPr>
        <p:spPr bwMode="auto">
          <a:xfrm>
            <a:off x="372110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[2]</a:t>
            </a:r>
          </a:p>
        </p:txBody>
      </p:sp>
      <p:sp>
        <p:nvSpPr>
          <p:cNvPr id="105489" name="Text Box 17"/>
          <p:cNvSpPr txBox="1">
            <a:spLocks noChangeArrowheads="1"/>
          </p:cNvSpPr>
          <p:nvPr/>
        </p:nvSpPr>
        <p:spPr bwMode="auto">
          <a:xfrm>
            <a:off x="432435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[3]</a:t>
            </a:r>
          </a:p>
        </p:txBody>
      </p:sp>
      <p:sp>
        <p:nvSpPr>
          <p:cNvPr id="105490" name="Text Box 18"/>
          <p:cNvSpPr txBox="1">
            <a:spLocks noChangeArrowheads="1"/>
          </p:cNvSpPr>
          <p:nvPr/>
        </p:nvSpPr>
        <p:spPr bwMode="auto">
          <a:xfrm>
            <a:off x="492760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[4]</a:t>
            </a:r>
          </a:p>
        </p:txBody>
      </p:sp>
      <p:sp>
        <p:nvSpPr>
          <p:cNvPr id="105491" name="Text Box 19"/>
          <p:cNvSpPr txBox="1">
            <a:spLocks noChangeArrowheads="1"/>
          </p:cNvSpPr>
          <p:nvPr/>
        </p:nvSpPr>
        <p:spPr bwMode="auto">
          <a:xfrm>
            <a:off x="553085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[5]</a:t>
            </a:r>
          </a:p>
        </p:txBody>
      </p:sp>
      <p:sp>
        <p:nvSpPr>
          <p:cNvPr id="105492" name="Text Box 20"/>
          <p:cNvSpPr txBox="1">
            <a:spLocks noChangeArrowheads="1"/>
          </p:cNvSpPr>
          <p:nvPr/>
        </p:nvSpPr>
        <p:spPr bwMode="auto">
          <a:xfrm>
            <a:off x="613410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[6]</a:t>
            </a:r>
          </a:p>
        </p:txBody>
      </p:sp>
      <p:sp>
        <p:nvSpPr>
          <p:cNvPr id="105493" name="Text Box 21"/>
          <p:cNvSpPr txBox="1">
            <a:spLocks noChangeArrowheads="1"/>
          </p:cNvSpPr>
          <p:nvPr/>
        </p:nvSpPr>
        <p:spPr bwMode="auto">
          <a:xfrm>
            <a:off x="673735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[7]</a:t>
            </a:r>
          </a:p>
        </p:txBody>
      </p:sp>
      <p:sp>
        <p:nvSpPr>
          <p:cNvPr id="105494" name="Text Box 22"/>
          <p:cNvSpPr txBox="1">
            <a:spLocks noChangeArrowheads="1"/>
          </p:cNvSpPr>
          <p:nvPr/>
        </p:nvSpPr>
        <p:spPr bwMode="auto">
          <a:xfrm>
            <a:off x="7994650" y="2590800"/>
            <a:ext cx="53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t>[n]</a:t>
            </a:r>
          </a:p>
        </p:txBody>
      </p:sp>
      <p:sp>
        <p:nvSpPr>
          <p:cNvPr id="105495" name="Rectangle 23"/>
          <p:cNvSpPr>
            <a:spLocks noChangeArrowheads="1"/>
          </p:cNvSpPr>
          <p:nvPr/>
        </p:nvSpPr>
        <p:spPr bwMode="auto">
          <a:xfrm>
            <a:off x="1371600" y="4114800"/>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Arial" panose="020B0604020202020204" pitchFamily="34" charset="0"/>
              </a:rPr>
              <a:t>Record whose </a:t>
            </a:r>
          </a:p>
          <a:p>
            <a:pPr algn="ctr"/>
            <a:r>
              <a:rPr lang="en-US" sz="1400">
                <a:latin typeface="Arial" panose="020B0604020202020204" pitchFamily="34" charset="0"/>
              </a:rPr>
              <a:t>key hashes </a:t>
            </a:r>
          </a:p>
          <a:p>
            <a:pPr algn="ctr"/>
            <a:r>
              <a:rPr lang="en-US" sz="1400">
                <a:latin typeface="Arial" panose="020B0604020202020204" pitchFamily="34" charset="0"/>
              </a:rPr>
              <a:t>to 0</a:t>
            </a:r>
          </a:p>
          <a:p>
            <a:pPr algn="ctr"/>
            <a:endParaRPr lang="en-US" sz="1400">
              <a:latin typeface="Arial" panose="020B0604020202020204" pitchFamily="34" charset="0"/>
            </a:endParaRPr>
          </a:p>
        </p:txBody>
      </p:sp>
      <p:sp>
        <p:nvSpPr>
          <p:cNvPr id="105496" name="Rectangle 24"/>
          <p:cNvSpPr>
            <a:spLocks noChangeArrowheads="1"/>
          </p:cNvSpPr>
          <p:nvPr/>
        </p:nvSpPr>
        <p:spPr bwMode="auto">
          <a:xfrm>
            <a:off x="1371600" y="4724400"/>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98" name="Line 26"/>
          <p:cNvSpPr>
            <a:spLocks noChangeShapeType="1"/>
          </p:cNvSpPr>
          <p:nvPr/>
        </p:nvSpPr>
        <p:spPr bwMode="auto">
          <a:xfrm flipH="1">
            <a:off x="1905000" y="4800600"/>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99" name="Rectangle 27"/>
          <p:cNvSpPr>
            <a:spLocks noChangeArrowheads="1"/>
          </p:cNvSpPr>
          <p:nvPr/>
        </p:nvSpPr>
        <p:spPr bwMode="auto">
          <a:xfrm>
            <a:off x="1143000" y="5181600"/>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Arial" panose="020B0604020202020204" pitchFamily="34" charset="0"/>
              </a:rPr>
              <a:t>Record whose </a:t>
            </a:r>
          </a:p>
          <a:p>
            <a:pPr algn="ctr"/>
            <a:r>
              <a:rPr lang="en-US" sz="1400">
                <a:latin typeface="Arial" panose="020B0604020202020204" pitchFamily="34" charset="0"/>
              </a:rPr>
              <a:t>key hashes </a:t>
            </a:r>
          </a:p>
          <a:p>
            <a:pPr algn="ctr"/>
            <a:r>
              <a:rPr lang="en-US" sz="1400">
                <a:latin typeface="Arial" panose="020B0604020202020204" pitchFamily="34" charset="0"/>
              </a:rPr>
              <a:t>to 0</a:t>
            </a:r>
          </a:p>
          <a:p>
            <a:pPr algn="ctr"/>
            <a:endParaRPr lang="en-US" sz="1400">
              <a:latin typeface="Arial" panose="020B0604020202020204" pitchFamily="34" charset="0"/>
            </a:endParaRPr>
          </a:p>
        </p:txBody>
      </p:sp>
      <p:sp>
        <p:nvSpPr>
          <p:cNvPr id="105500" name="Rectangle 28"/>
          <p:cNvSpPr>
            <a:spLocks noChangeArrowheads="1"/>
          </p:cNvSpPr>
          <p:nvPr/>
        </p:nvSpPr>
        <p:spPr bwMode="auto">
          <a:xfrm>
            <a:off x="1143000" y="5791200"/>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01" name="Line 29"/>
          <p:cNvSpPr>
            <a:spLocks noChangeShapeType="1"/>
          </p:cNvSpPr>
          <p:nvPr/>
        </p:nvSpPr>
        <p:spPr bwMode="auto">
          <a:xfrm flipH="1">
            <a:off x="1676400" y="5867400"/>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3" name="Text Box 31"/>
          <p:cNvSpPr txBox="1">
            <a:spLocks noChangeArrowheads="1"/>
          </p:cNvSpPr>
          <p:nvPr/>
        </p:nvSpPr>
        <p:spPr bwMode="auto">
          <a:xfrm>
            <a:off x="1390650" y="5946775"/>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a:t>…</a:t>
            </a:r>
          </a:p>
        </p:txBody>
      </p:sp>
      <p:sp>
        <p:nvSpPr>
          <p:cNvPr id="105504" name="Line 32"/>
          <p:cNvSpPr>
            <a:spLocks noChangeShapeType="1"/>
          </p:cNvSpPr>
          <p:nvPr/>
        </p:nvSpPr>
        <p:spPr bwMode="auto">
          <a:xfrm flipH="1">
            <a:off x="1981200" y="3276600"/>
            <a:ext cx="762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5" name="Rectangle 33"/>
          <p:cNvSpPr>
            <a:spLocks noChangeArrowheads="1"/>
          </p:cNvSpPr>
          <p:nvPr/>
        </p:nvSpPr>
        <p:spPr bwMode="auto">
          <a:xfrm>
            <a:off x="2895600" y="43084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Arial" panose="020B0604020202020204" pitchFamily="34" charset="0"/>
              </a:rPr>
              <a:t>Record whose </a:t>
            </a:r>
          </a:p>
          <a:p>
            <a:pPr algn="ctr"/>
            <a:r>
              <a:rPr lang="en-US" sz="1400">
                <a:latin typeface="Arial" panose="020B0604020202020204" pitchFamily="34" charset="0"/>
              </a:rPr>
              <a:t>key hashes </a:t>
            </a:r>
          </a:p>
          <a:p>
            <a:pPr algn="ctr"/>
            <a:r>
              <a:rPr lang="en-US" sz="1400">
                <a:latin typeface="Arial" panose="020B0604020202020204" pitchFamily="34" charset="0"/>
              </a:rPr>
              <a:t>to 1</a:t>
            </a:r>
          </a:p>
          <a:p>
            <a:pPr algn="ctr"/>
            <a:endParaRPr lang="en-US" sz="1400">
              <a:latin typeface="Arial" panose="020B0604020202020204" pitchFamily="34" charset="0"/>
            </a:endParaRPr>
          </a:p>
        </p:txBody>
      </p:sp>
      <p:sp>
        <p:nvSpPr>
          <p:cNvPr id="105506" name="Rectangle 34"/>
          <p:cNvSpPr>
            <a:spLocks noChangeArrowheads="1"/>
          </p:cNvSpPr>
          <p:nvPr/>
        </p:nvSpPr>
        <p:spPr bwMode="auto">
          <a:xfrm>
            <a:off x="2895600" y="49180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07" name="Line 35"/>
          <p:cNvSpPr>
            <a:spLocks noChangeShapeType="1"/>
          </p:cNvSpPr>
          <p:nvPr/>
        </p:nvSpPr>
        <p:spPr bwMode="auto">
          <a:xfrm flipH="1">
            <a:off x="3429000" y="49942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8" name="Rectangle 36"/>
          <p:cNvSpPr>
            <a:spLocks noChangeArrowheads="1"/>
          </p:cNvSpPr>
          <p:nvPr/>
        </p:nvSpPr>
        <p:spPr bwMode="auto">
          <a:xfrm>
            <a:off x="2667000" y="53752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Arial" panose="020B0604020202020204" pitchFamily="34" charset="0"/>
              </a:rPr>
              <a:t>Record whose </a:t>
            </a:r>
          </a:p>
          <a:p>
            <a:pPr algn="ctr"/>
            <a:r>
              <a:rPr lang="en-US" sz="1400">
                <a:latin typeface="Arial" panose="020B0604020202020204" pitchFamily="34" charset="0"/>
              </a:rPr>
              <a:t>key hashes </a:t>
            </a:r>
          </a:p>
          <a:p>
            <a:pPr algn="ctr"/>
            <a:r>
              <a:rPr lang="en-US" sz="1400">
                <a:latin typeface="Arial" panose="020B0604020202020204" pitchFamily="34" charset="0"/>
              </a:rPr>
              <a:t>to 1</a:t>
            </a:r>
          </a:p>
          <a:p>
            <a:pPr algn="ctr"/>
            <a:endParaRPr lang="en-US" sz="1400">
              <a:latin typeface="Arial" panose="020B0604020202020204" pitchFamily="34" charset="0"/>
            </a:endParaRPr>
          </a:p>
        </p:txBody>
      </p:sp>
      <p:sp>
        <p:nvSpPr>
          <p:cNvPr id="105509" name="Rectangle 37"/>
          <p:cNvSpPr>
            <a:spLocks noChangeArrowheads="1"/>
          </p:cNvSpPr>
          <p:nvPr/>
        </p:nvSpPr>
        <p:spPr bwMode="auto">
          <a:xfrm>
            <a:off x="2667000" y="59848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0" name="Line 38"/>
          <p:cNvSpPr>
            <a:spLocks noChangeShapeType="1"/>
          </p:cNvSpPr>
          <p:nvPr/>
        </p:nvSpPr>
        <p:spPr bwMode="auto">
          <a:xfrm flipH="1">
            <a:off x="3200400" y="60610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1" name="Text Box 39"/>
          <p:cNvSpPr txBox="1">
            <a:spLocks noChangeArrowheads="1"/>
          </p:cNvSpPr>
          <p:nvPr/>
        </p:nvSpPr>
        <p:spPr bwMode="auto">
          <a:xfrm>
            <a:off x="2914650" y="61404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a:t>…</a:t>
            </a:r>
          </a:p>
        </p:txBody>
      </p:sp>
      <p:sp>
        <p:nvSpPr>
          <p:cNvPr id="105512" name="Line 40"/>
          <p:cNvSpPr>
            <a:spLocks noChangeShapeType="1"/>
          </p:cNvSpPr>
          <p:nvPr/>
        </p:nvSpPr>
        <p:spPr bwMode="auto">
          <a:xfrm>
            <a:off x="3429000" y="3352800"/>
            <a:ext cx="76200" cy="9556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3" name="Rectangle 41"/>
          <p:cNvSpPr>
            <a:spLocks noChangeArrowheads="1"/>
          </p:cNvSpPr>
          <p:nvPr/>
        </p:nvSpPr>
        <p:spPr bwMode="auto">
          <a:xfrm>
            <a:off x="4572000" y="42322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Arial" panose="020B0604020202020204" pitchFamily="34" charset="0"/>
              </a:rPr>
              <a:t>Record whose </a:t>
            </a:r>
          </a:p>
          <a:p>
            <a:pPr algn="ctr"/>
            <a:r>
              <a:rPr lang="en-US" sz="1400">
                <a:latin typeface="Arial" panose="020B0604020202020204" pitchFamily="34" charset="0"/>
              </a:rPr>
              <a:t>key hashes </a:t>
            </a:r>
          </a:p>
          <a:p>
            <a:pPr algn="ctr"/>
            <a:r>
              <a:rPr lang="en-US" sz="1400">
                <a:latin typeface="Arial" panose="020B0604020202020204" pitchFamily="34" charset="0"/>
              </a:rPr>
              <a:t>to 3</a:t>
            </a:r>
          </a:p>
          <a:p>
            <a:pPr algn="ctr"/>
            <a:endParaRPr lang="en-US" sz="1400">
              <a:latin typeface="Arial" panose="020B0604020202020204" pitchFamily="34" charset="0"/>
            </a:endParaRPr>
          </a:p>
        </p:txBody>
      </p:sp>
      <p:sp>
        <p:nvSpPr>
          <p:cNvPr id="105514" name="Rectangle 42"/>
          <p:cNvSpPr>
            <a:spLocks noChangeArrowheads="1"/>
          </p:cNvSpPr>
          <p:nvPr/>
        </p:nvSpPr>
        <p:spPr bwMode="auto">
          <a:xfrm>
            <a:off x="4572000" y="48418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5" name="Line 43"/>
          <p:cNvSpPr>
            <a:spLocks noChangeShapeType="1"/>
          </p:cNvSpPr>
          <p:nvPr/>
        </p:nvSpPr>
        <p:spPr bwMode="auto">
          <a:xfrm flipH="1">
            <a:off x="5105400" y="49180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6" name="Rectangle 44"/>
          <p:cNvSpPr>
            <a:spLocks noChangeArrowheads="1"/>
          </p:cNvSpPr>
          <p:nvPr/>
        </p:nvSpPr>
        <p:spPr bwMode="auto">
          <a:xfrm>
            <a:off x="4343400" y="52990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Arial" panose="020B0604020202020204" pitchFamily="34" charset="0"/>
              </a:rPr>
              <a:t>Record whose </a:t>
            </a:r>
          </a:p>
          <a:p>
            <a:pPr algn="ctr"/>
            <a:r>
              <a:rPr lang="en-US" sz="1400">
                <a:latin typeface="Arial" panose="020B0604020202020204" pitchFamily="34" charset="0"/>
              </a:rPr>
              <a:t>key hashes </a:t>
            </a:r>
          </a:p>
          <a:p>
            <a:pPr algn="ctr"/>
            <a:r>
              <a:rPr lang="en-US" sz="1400">
                <a:latin typeface="Arial" panose="020B0604020202020204" pitchFamily="34" charset="0"/>
              </a:rPr>
              <a:t>to 3</a:t>
            </a:r>
          </a:p>
          <a:p>
            <a:pPr algn="ctr"/>
            <a:endParaRPr lang="en-US" sz="1400">
              <a:latin typeface="Arial" panose="020B0604020202020204" pitchFamily="34" charset="0"/>
            </a:endParaRPr>
          </a:p>
        </p:txBody>
      </p:sp>
      <p:sp>
        <p:nvSpPr>
          <p:cNvPr id="105517" name="Rectangle 45"/>
          <p:cNvSpPr>
            <a:spLocks noChangeArrowheads="1"/>
          </p:cNvSpPr>
          <p:nvPr/>
        </p:nvSpPr>
        <p:spPr bwMode="auto">
          <a:xfrm>
            <a:off x="4343400" y="59086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8" name="Line 46"/>
          <p:cNvSpPr>
            <a:spLocks noChangeShapeType="1"/>
          </p:cNvSpPr>
          <p:nvPr/>
        </p:nvSpPr>
        <p:spPr bwMode="auto">
          <a:xfrm flipH="1">
            <a:off x="4876800" y="59848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9" name="Text Box 47"/>
          <p:cNvSpPr txBox="1">
            <a:spLocks noChangeArrowheads="1"/>
          </p:cNvSpPr>
          <p:nvPr/>
        </p:nvSpPr>
        <p:spPr bwMode="auto">
          <a:xfrm>
            <a:off x="4591050" y="6064250"/>
            <a:ext cx="6413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3600"/>
              <a:t>…</a:t>
            </a:r>
          </a:p>
        </p:txBody>
      </p:sp>
      <p:sp>
        <p:nvSpPr>
          <p:cNvPr id="105520" name="Line 48"/>
          <p:cNvSpPr>
            <a:spLocks noChangeShapeType="1"/>
          </p:cNvSpPr>
          <p:nvPr/>
        </p:nvSpPr>
        <p:spPr bwMode="auto">
          <a:xfrm>
            <a:off x="4572000" y="3276600"/>
            <a:ext cx="609600" cy="9556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21" name="Text Box 49"/>
          <p:cNvSpPr txBox="1">
            <a:spLocks noChangeArrowheads="1"/>
          </p:cNvSpPr>
          <p:nvPr/>
        </p:nvSpPr>
        <p:spPr bwMode="auto">
          <a:xfrm>
            <a:off x="6324600" y="4606925"/>
            <a:ext cx="74295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4400"/>
              <a: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t>Time Analysis of Hashing</a:t>
            </a:r>
          </a:p>
        </p:txBody>
      </p:sp>
      <p:sp>
        <p:nvSpPr>
          <p:cNvPr id="106499" name="Rectangle 3"/>
          <p:cNvSpPr>
            <a:spLocks noGrp="1" noChangeArrowheads="1"/>
          </p:cNvSpPr>
          <p:nvPr>
            <p:ph type="body" idx="1"/>
          </p:nvPr>
        </p:nvSpPr>
        <p:spPr/>
        <p:txBody>
          <a:bodyPr/>
          <a:lstStyle/>
          <a:p>
            <a:pPr>
              <a:lnSpc>
                <a:spcPct val="90000"/>
              </a:lnSpc>
            </a:pPr>
            <a:r>
              <a:rPr lang="en-US"/>
              <a:t>Worst case: every key gets hashed to same array index!  O(n) search!!</a:t>
            </a:r>
          </a:p>
          <a:p>
            <a:pPr>
              <a:lnSpc>
                <a:spcPct val="90000"/>
              </a:lnSpc>
            </a:pPr>
            <a:r>
              <a:rPr lang="en-US"/>
              <a:t>Luckily, average case is more promising.</a:t>
            </a:r>
          </a:p>
          <a:p>
            <a:pPr>
              <a:lnSpc>
                <a:spcPct val="90000"/>
              </a:lnSpc>
            </a:pPr>
            <a:r>
              <a:rPr lang="en-US"/>
              <a:t>First we define a fraction called the hash table </a:t>
            </a:r>
            <a:r>
              <a:rPr lang="en-US" i="1"/>
              <a:t>load factor:</a:t>
            </a:r>
          </a:p>
          <a:p>
            <a:pPr lvl="1">
              <a:lnSpc>
                <a:spcPct val="90000"/>
              </a:lnSpc>
              <a:buFontTx/>
              <a:buNone/>
            </a:pPr>
            <a:r>
              <a:rPr lang="en-US" i="1"/>
              <a:t>			</a:t>
            </a:r>
          </a:p>
          <a:p>
            <a:pPr lvl="1">
              <a:lnSpc>
                <a:spcPct val="90000"/>
              </a:lnSpc>
              <a:buFontTx/>
              <a:buNone/>
            </a:pPr>
            <a:r>
              <a:rPr lang="en-US" i="1">
                <a:latin typeface="Symbol" panose="05050102010706020507" pitchFamily="18" charset="2"/>
              </a:rPr>
              <a:t>a</a:t>
            </a:r>
            <a:r>
              <a:rPr lang="en-US" i="1"/>
              <a:t> = </a:t>
            </a:r>
            <a:r>
              <a:rPr lang="en-US" i="1" u="sng"/>
              <a:t>number of occupied table locations</a:t>
            </a:r>
          </a:p>
          <a:p>
            <a:pPr lvl="1">
              <a:lnSpc>
                <a:spcPct val="90000"/>
              </a:lnSpc>
              <a:buFontTx/>
              <a:buNone/>
            </a:pPr>
            <a:r>
              <a:rPr lang="en-US" i="1"/>
              <a:t>		  	size of table’s array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a:t>Average Search Times</a:t>
            </a:r>
          </a:p>
        </p:txBody>
      </p:sp>
      <p:sp>
        <p:nvSpPr>
          <p:cNvPr id="107523" name="Rectangle 3"/>
          <p:cNvSpPr>
            <a:spLocks noGrp="1" noChangeArrowheads="1"/>
          </p:cNvSpPr>
          <p:nvPr>
            <p:ph type="body" idx="1"/>
          </p:nvPr>
        </p:nvSpPr>
        <p:spPr/>
        <p:txBody>
          <a:bodyPr/>
          <a:lstStyle/>
          <a:p>
            <a:pPr>
              <a:buFontTx/>
              <a:buNone/>
            </a:pPr>
            <a:r>
              <a:rPr lang="en-US" sz="2800"/>
              <a:t>For open addressing with linear probing, average number of table elements examined in a successful search is approximately:</a:t>
            </a:r>
          </a:p>
          <a:p>
            <a:pPr lvl="1">
              <a:buFontTx/>
              <a:buNone/>
            </a:pPr>
            <a:r>
              <a:rPr lang="en-US"/>
              <a:t>				</a:t>
            </a:r>
          </a:p>
          <a:p>
            <a:pPr lvl="1">
              <a:buFontTx/>
              <a:buNone/>
            </a:pPr>
            <a:r>
              <a:rPr lang="en-US"/>
              <a:t>		½ (1+ 1/(1-</a:t>
            </a:r>
            <a:r>
              <a:rPr lang="en-US">
                <a:latin typeface="Symbol" panose="05050102010706020507" pitchFamily="18" charset="2"/>
              </a:rPr>
              <a:t>a</a:t>
            </a:r>
            <a:r>
              <a:rPr lang="en-US"/>
              <a:t>))</a:t>
            </a:r>
          </a:p>
          <a:p>
            <a:pPr lvl="1">
              <a:buFontTx/>
              <a:buNone/>
            </a:pPr>
            <a:endParaRPr lang="en-US"/>
          </a:p>
          <a:p>
            <a:pPr lvl="1">
              <a:buFontTx/>
              <a:buNone/>
            </a:pPr>
            <a:r>
              <a:rPr lang="en-US"/>
              <a:t>Double hashing: -ln(1-</a:t>
            </a:r>
            <a:r>
              <a:rPr lang="en-US">
                <a:latin typeface="Symbol" panose="05050102010706020507" pitchFamily="18" charset="2"/>
              </a:rPr>
              <a:t>a</a:t>
            </a:r>
            <a:r>
              <a:rPr lang="en-US"/>
              <a:t>)/</a:t>
            </a:r>
            <a:r>
              <a:rPr lang="en-US">
                <a:latin typeface="Symbol" panose="05050102010706020507" pitchFamily="18" charset="2"/>
              </a:rPr>
              <a:t>a</a:t>
            </a:r>
          </a:p>
          <a:p>
            <a:pPr lvl="1">
              <a:buFontTx/>
              <a:buNone/>
            </a:pPr>
            <a:r>
              <a:rPr lang="en-US"/>
              <a:t>Chained hashing</a:t>
            </a:r>
            <a:r>
              <a:rPr lang="en-US">
                <a:latin typeface="Symbol" panose="05050102010706020507" pitchFamily="18" charset="2"/>
              </a:rPr>
              <a:t>: 1+a/2</a:t>
            </a:r>
          </a:p>
          <a:p>
            <a:pPr lvl="1">
              <a:buFontTx/>
              <a:buNone/>
            </a:pPr>
            <a:endParaRPr lang="en-US">
              <a:latin typeface="Symbol" panose="05050102010706020507" pitchFamily="18" charset="2"/>
            </a:endParaRPr>
          </a:p>
          <a:p>
            <a:pPr lvl="1">
              <a:buFontTx/>
              <a:buNone/>
            </a:pPr>
            <a:endParaRPr lang="en-US">
              <a:latin typeface="Symbol" panose="05050102010706020507" pitchFamily="18" charset="2"/>
            </a:endParaRPr>
          </a:p>
          <a:p>
            <a:pPr lvl="1">
              <a:buFontTx/>
              <a:buNone/>
            </a:pPr>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644" name="Group 100"/>
          <p:cNvGraphicFramePr>
            <a:graphicFrameLocks noGrp="1"/>
          </p:cNvGraphicFramePr>
          <p:nvPr/>
        </p:nvGraphicFramePr>
        <p:xfrm>
          <a:off x="838200" y="914400"/>
          <a:ext cx="7696200" cy="5321936"/>
        </p:xfrm>
        <a:graphic>
          <a:graphicData uri="http://schemas.openxmlformats.org/drawingml/2006/table">
            <a:tbl>
              <a:tblPr/>
              <a:tblGrid>
                <a:gridCol w="1352550"/>
                <a:gridCol w="2114550"/>
                <a:gridCol w="2114550"/>
                <a:gridCol w="2114550"/>
              </a:tblGrid>
              <a:tr h="73183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2"/>
                        </a:solidFill>
                        <a:effectLst/>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2"/>
                          </a:solidFill>
                          <a:effectLst/>
                          <a:latin typeface="Times New Roman" panose="02020603050405020304" pitchFamily="18" charset="0"/>
                        </a:rPr>
                        <a:t>Load factor(</a:t>
                      </a:r>
                      <a:r>
                        <a:rPr kumimoji="0" lang="en-US" sz="2000" b="0" i="0" u="none" strike="noStrike" cap="none" normalizeH="0" baseline="0" smtClean="0">
                          <a:ln>
                            <a:noFill/>
                          </a:ln>
                          <a:solidFill>
                            <a:schemeClr val="tx2"/>
                          </a:solidFill>
                          <a:effectLst/>
                          <a:latin typeface="Symbol" panose="05050102010706020507" pitchFamily="18" charset="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2"/>
                          </a:solidFill>
                          <a:effectLst/>
                          <a:latin typeface="Times New Roman" panose="02020603050405020304" pitchFamily="18" charset="0"/>
                        </a:rPr>
                        <a:t>Open addressing, linear probing</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2"/>
                          </a:solidFill>
                          <a:effectLst/>
                          <a:latin typeface="Times New Roman" panose="02020603050405020304" pitchFamily="18" charset="0"/>
                        </a:rPr>
                        <a:t>½ (1+1/(1-</a:t>
                      </a:r>
                      <a:r>
                        <a:rPr kumimoji="0" lang="en-US" sz="2000" b="0" i="0" u="none" strike="noStrike" cap="none" normalizeH="0" baseline="0" smtClean="0">
                          <a:ln>
                            <a:noFill/>
                          </a:ln>
                          <a:solidFill>
                            <a:schemeClr val="tx2"/>
                          </a:solidFill>
                          <a:effectLst/>
                          <a:latin typeface="Symbol" panose="05050102010706020507" pitchFamily="18" charset="2"/>
                        </a:rPr>
                        <a:t>a</a:t>
                      </a:r>
                      <a:r>
                        <a:rPr kumimoji="0" lang="en-US" sz="2000" b="0" i="0" u="none" strike="noStrike" cap="none" normalizeH="0" baseline="0" smtClean="0">
                          <a:ln>
                            <a:noFill/>
                          </a:ln>
                          <a:solidFill>
                            <a:schemeClr val="tx2"/>
                          </a:solidFill>
                          <a:effectLst/>
                          <a:latin typeface="Times New Roman" panose="02020603050405020304" pitchFamily="18" charset="0"/>
                        </a:rPr>
                        <a:t>))</a:t>
                      </a:r>
                      <a:endParaRPr kumimoji="0" lang="en-US" sz="1800" b="0" i="0" u="none" strike="noStrike" cap="none" normalizeH="0" baseline="0" smtClean="0">
                        <a:ln>
                          <a:noFill/>
                        </a:ln>
                        <a:solidFill>
                          <a:schemeClr val="tx2"/>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2"/>
                          </a:solidFill>
                          <a:effectLst/>
                          <a:latin typeface="Times New Roman" panose="02020603050405020304" pitchFamily="18" charset="0"/>
                        </a:rPr>
                        <a:t>Open addressing double hashing</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2"/>
                          </a:solidFill>
                          <a:effectLst/>
                          <a:latin typeface="Times New Roman" panose="02020603050405020304" pitchFamily="18" charset="0"/>
                        </a:rPr>
                        <a:t>-ln(1-</a:t>
                      </a:r>
                      <a:r>
                        <a:rPr kumimoji="0" lang="en-US" sz="2000" b="0" i="0" u="none" strike="noStrike" cap="none" normalizeH="0" baseline="0" smtClean="0">
                          <a:ln>
                            <a:noFill/>
                          </a:ln>
                          <a:solidFill>
                            <a:schemeClr val="tx2"/>
                          </a:solidFill>
                          <a:effectLst/>
                          <a:latin typeface="Symbol" panose="05050102010706020507" pitchFamily="18" charset="2"/>
                        </a:rPr>
                        <a:t>a</a:t>
                      </a:r>
                      <a:r>
                        <a:rPr kumimoji="0" lang="en-US" sz="2000" b="0" i="0" u="none" strike="noStrike" cap="none" normalizeH="0" baseline="0" smtClean="0">
                          <a:ln>
                            <a:noFill/>
                          </a:ln>
                          <a:solidFill>
                            <a:schemeClr val="tx2"/>
                          </a:solidFill>
                          <a:effectLst/>
                          <a:latin typeface="Times New Roman" panose="02020603050405020304" pitchFamily="18" charset="0"/>
                        </a:rPr>
                        <a:t>)/</a:t>
                      </a:r>
                      <a:r>
                        <a:rPr kumimoji="0" lang="en-US" sz="2000" b="0" i="0" u="none" strike="noStrike" cap="none" normalizeH="0" baseline="0" smtClean="0">
                          <a:ln>
                            <a:noFill/>
                          </a:ln>
                          <a:solidFill>
                            <a:schemeClr val="tx2"/>
                          </a:solidFill>
                          <a:effectLst/>
                          <a:latin typeface="Symbol" panose="05050102010706020507" pitchFamily="18" charset="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smtClean="0">
                        <a:ln>
                          <a:noFill/>
                        </a:ln>
                        <a:solidFill>
                          <a:schemeClr val="tx2"/>
                        </a:solidFill>
                        <a:effectLst/>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2"/>
                          </a:solidFill>
                          <a:effectLst/>
                          <a:latin typeface="Times New Roman" panose="02020603050405020304" pitchFamily="18" charset="0"/>
                        </a:rPr>
                        <a:t>Chained hashing</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2"/>
                          </a:solidFill>
                          <a:effectLst/>
                          <a:latin typeface="Symbol" panose="05050102010706020507" pitchFamily="18" charset="2"/>
                        </a:rPr>
                        <a:t>1+a/2</a:t>
                      </a:r>
                      <a:endParaRPr kumimoji="0" lang="en-US" sz="2000" b="0" i="0" u="none" strike="noStrike" cap="none" normalizeH="0" baseline="0" smtClean="0">
                        <a:ln>
                          <a:noFill/>
                        </a:ln>
                        <a:solidFill>
                          <a:schemeClr val="tx2"/>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0.6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2.17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0.8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2.01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0.9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5.50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2.56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1.50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5463">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2"/>
                          </a:solidFill>
                          <a:effectLst/>
                          <a:latin typeface="Times New Roman" panose="02020603050405020304" pitchFamily="18"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smtClean="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anose="02020603050405020304" pitchFamily="18" charset="0"/>
                        </a:rPr>
                        <a:t>2.50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08631" name="Text Box 87"/>
          <p:cNvSpPr txBox="1">
            <a:spLocks noChangeArrowheads="1"/>
          </p:cNvSpPr>
          <p:nvPr/>
        </p:nvSpPr>
        <p:spPr bwMode="auto">
          <a:xfrm>
            <a:off x="609600" y="404813"/>
            <a:ext cx="7986713" cy="42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200"/>
              <a:t>Average number of table elements examined during successful search</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a:t>Summary</a:t>
            </a:r>
          </a:p>
        </p:txBody>
      </p:sp>
      <p:sp>
        <p:nvSpPr>
          <p:cNvPr id="109571" name="Rectangle 3"/>
          <p:cNvSpPr>
            <a:spLocks noGrp="1" noChangeArrowheads="1"/>
          </p:cNvSpPr>
          <p:nvPr>
            <p:ph type="body" idx="1"/>
          </p:nvPr>
        </p:nvSpPr>
        <p:spPr/>
        <p:txBody>
          <a:bodyPr/>
          <a:lstStyle/>
          <a:p>
            <a:r>
              <a:rPr lang="en-US" sz="2800"/>
              <a:t>Serial search: average case O(n)</a:t>
            </a:r>
          </a:p>
          <a:p>
            <a:r>
              <a:rPr lang="en-US" sz="2800"/>
              <a:t>Binary search: average case O(log</a:t>
            </a:r>
            <a:r>
              <a:rPr lang="en-US" sz="2800" baseline="-25000"/>
              <a:t>2</a:t>
            </a:r>
            <a:r>
              <a:rPr lang="en-US" sz="2800"/>
              <a:t>n)</a:t>
            </a:r>
          </a:p>
          <a:p>
            <a:r>
              <a:rPr lang="en-US" sz="2800"/>
              <a:t>Hashing</a:t>
            </a:r>
          </a:p>
          <a:p>
            <a:pPr lvl="1"/>
            <a:r>
              <a:rPr lang="en-US" sz="2400"/>
              <a:t>Open address hashing</a:t>
            </a:r>
          </a:p>
          <a:p>
            <a:pPr lvl="2"/>
            <a:r>
              <a:rPr lang="en-US" sz="2000"/>
              <a:t>Linear probing</a:t>
            </a:r>
          </a:p>
          <a:p>
            <a:pPr lvl="2"/>
            <a:r>
              <a:rPr lang="en-US" sz="2000"/>
              <a:t>Double hashing</a:t>
            </a:r>
          </a:p>
          <a:p>
            <a:pPr lvl="1"/>
            <a:r>
              <a:rPr lang="en-US" sz="2400"/>
              <a:t>Chained hashing</a:t>
            </a:r>
          </a:p>
          <a:p>
            <a:pPr lvl="1"/>
            <a:r>
              <a:rPr lang="en-US" sz="2400"/>
              <a:t>Average number of elements examined is function of load factor </a:t>
            </a:r>
            <a:r>
              <a:rPr lang="en-US" sz="2400">
                <a:latin typeface="Symbol" panose="05050102010706020507" pitchFamily="18" charset="2"/>
              </a:rPr>
              <a:t>a.</a:t>
            </a:r>
          </a:p>
          <a:p>
            <a:pPr lvl="1"/>
            <a:endParaRPr lang="en-US" sz="2400"/>
          </a:p>
        </p:txBody>
      </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4270</Words>
  <Application>Microsoft Office PowerPoint</Application>
  <PresentationFormat>On-screen Show (4:3)</PresentationFormat>
  <Paragraphs>1081</Paragraphs>
  <Slides>64</Slides>
  <Notes>24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Times New Roman</vt:lpstr>
      <vt:lpstr>Arial</vt:lpstr>
      <vt:lpstr>Monotype Corsiva</vt:lpstr>
      <vt:lpstr>Symbol</vt:lpstr>
      <vt:lpstr>Default Design</vt:lpstr>
      <vt:lpstr>Searching and Hashing Technique</vt:lpstr>
      <vt:lpstr>Problem: Search</vt:lpstr>
      <vt:lpstr>Search</vt:lpstr>
      <vt:lpstr>Serial Search</vt:lpstr>
      <vt:lpstr>Pseudocode for Serial Search </vt:lpstr>
      <vt:lpstr>Serial Search Analysis</vt:lpstr>
      <vt:lpstr>Worst Case Time for Serial Search</vt:lpstr>
      <vt:lpstr>Average Case for Serial Search</vt:lpstr>
      <vt:lpstr>Average Case Time for Serial Search</vt:lpstr>
      <vt:lpstr>Binary Search</vt:lpstr>
      <vt:lpstr>Binary Search Pseudocode</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 Implementation</vt:lpstr>
      <vt:lpstr>Relation to Binary Search Tree</vt:lpstr>
      <vt:lpstr>Search for target = 7</vt:lpstr>
      <vt:lpstr>Search for target = 7</vt:lpstr>
      <vt:lpstr>Search for target = 7</vt:lpstr>
      <vt:lpstr>Search for target = 7</vt:lpstr>
      <vt:lpstr>Binary Search: Analysis</vt:lpstr>
      <vt:lpstr>Can we do better than O(log2n)?</vt:lpstr>
      <vt:lpstr>What is a Hash Table ?</vt:lpstr>
      <vt:lpstr>What is a Hash Table ?</vt:lpstr>
      <vt:lpstr>What is a Hash Table ?</vt:lpstr>
      <vt:lpstr>What is a Hash Table ?</vt:lpstr>
      <vt:lpstr>Open Address Hashing</vt:lpstr>
      <vt:lpstr>Inserting a New Record</vt:lpstr>
      <vt:lpstr>PowerPoint Presentation</vt:lpstr>
      <vt:lpstr>PowerPoint Presentation</vt:lpstr>
      <vt:lpstr>Inserting a New Record</vt:lpstr>
      <vt:lpstr>Collisions</vt:lpstr>
      <vt:lpstr>Collisions</vt:lpstr>
      <vt:lpstr>Collisions</vt:lpstr>
      <vt:lpstr>Collisions</vt:lpstr>
      <vt:lpstr>Collisions</vt:lpstr>
      <vt:lpstr>Searching for a Key</vt:lpstr>
      <vt:lpstr>PowerPoint Presentation</vt:lpstr>
      <vt:lpstr>PowerPoint Presentation</vt:lpstr>
      <vt:lpstr>PowerPoint Presentation</vt:lpstr>
      <vt:lpstr>PowerPoint Presentation</vt:lpstr>
      <vt:lpstr>PowerPoint Presentation</vt:lpstr>
      <vt:lpstr>Deleting a Record</vt:lpstr>
      <vt:lpstr>Deleting a Record</vt:lpstr>
      <vt:lpstr>Deleting a Record</vt:lpstr>
      <vt:lpstr>Hashing</vt:lpstr>
      <vt:lpstr>Open Address Hashing</vt:lpstr>
      <vt:lpstr>Clustering</vt:lpstr>
      <vt:lpstr>Double Hashing</vt:lpstr>
      <vt:lpstr>Double Hashing</vt:lpstr>
      <vt:lpstr>Chained Hashing</vt:lpstr>
      <vt:lpstr>Chained Hashing</vt:lpstr>
      <vt:lpstr>Time Analysis of Hashing</vt:lpstr>
      <vt:lpstr>Average Search Times</vt:lpstr>
      <vt:lpstr>PowerPoint Presentation</vt:lpstr>
      <vt:lpstr>Summary</vt:lpstr>
    </vt:vector>
  </TitlesOfParts>
  <Company>Boston 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Searching</dc:title>
  <dc:creator>Stan Sclaroff</dc:creator>
  <cp:lastModifiedBy>Microsoft account</cp:lastModifiedBy>
  <cp:revision>26</cp:revision>
  <dcterms:created xsi:type="dcterms:W3CDTF">2000-04-11T12:01:56Z</dcterms:created>
  <dcterms:modified xsi:type="dcterms:W3CDTF">2022-10-31T14:35:47Z</dcterms:modified>
</cp:coreProperties>
</file>