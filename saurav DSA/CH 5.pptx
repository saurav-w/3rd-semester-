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404cdb084b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1404cdb084b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1404cdb084b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1404cdb084b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1404cdb084b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1404cdb084b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14051c229f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14051c229f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14051c229f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14051c229f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14051c229f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14051c229f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14051c229f1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14051c229f1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14051c229f1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14051c229f1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4051c229f1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14051c229f1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14051c229f1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14051c229f1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4051c229f1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4051c229f1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404074198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1404074198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4040741984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14040741984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14040741984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14040741984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4040741984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14040741984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404074198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1404074198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14040741984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1404074198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4220eba87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14220eba87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14220eba879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14220eba879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4220eba879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14220eba879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4220eba879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14220eba87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1437424287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1437424287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1437424287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1437424287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14374242873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1437424287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4374242873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4374242873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4374242873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4374242873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14374242873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14374242873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4374242873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14374242873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14374242873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14374242873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14374242873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14374242873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14374242873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14374242873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18d3b9fe04577af6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18d3b9fe04577af6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18d3b9fe04577af6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18d3b9fe04577af6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18d3b9fe04577af6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18d3b9fe04577af6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18d3b9fe04577af6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18d3b9fe04577af6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18d3b9fe04577af6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18d3b9fe04577af6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18d3b9fe04577af6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18d3b9fe04577af6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8d3b9fe04577af6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18d3b9fe04577af6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18d3b9fe04577af6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18d3b9fe04577af6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18d3b9fe04577af6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18d3b9fe04577af6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18d3b9fe04577af6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18d3b9fe04577af6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18d3b9fe04577af6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18d3b9fe04577af6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18d3b9fe04577af6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18d3b9fe04577af6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18d3b9fe04577af6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18d3b9fe04577af6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18d3b9fe04577af6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18d3b9fe04577af6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18d3b9fe04577af6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18d3b9fe04577af6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18d3b9fe04577af6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18d3b9fe04577af6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18d3b9fe04577af6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18d3b9fe04577af6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18d3b9fe04577af6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18d3b9fe04577af6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143cf6c96f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143cf6c96f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143cf6c96f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143cf6c96f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143cf6c96ff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143cf6c96ff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143cf6c96ff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143cf6c96ff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56929ab666d80d7d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56929ab666d80d7d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56929ab666d80d7d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56929ab666d80d7d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56929ab666d80d7d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56929ab666d80d7d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56929ab666d80d7d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56929ab666d80d7d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143cf6c96f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143cf6c96f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18d3b9fe04577af6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18d3b9fe04577af6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56929ab666d80d7d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56929ab666d80d7d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56929ab666d80d7d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56929ab666d80d7d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56929ab666d80d7d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56929ab666d80d7d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56929ab666d80d7d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56929ab666d80d7d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56929ab666d80d7d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56929ab666d80d7d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56929ab666d80d7d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56929ab666d80d7d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56929ab666d80d7d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56929ab666d80d7d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56929ab666d80d7d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56929ab666d80d7d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56929ab666d80d7d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56929ab666d80d7d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56929ab666d80d7d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56929ab666d80d7d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2.png"/><Relationship Id="rId4" Type="http://schemas.openxmlformats.org/officeDocument/2006/relationships/image" Target="../media/image2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2.png"/><Relationship Id="rId4" Type="http://schemas.openxmlformats.org/officeDocument/2006/relationships/image" Target="../media/image20.png"/><Relationship Id="rId5" Type="http://schemas.openxmlformats.org/officeDocument/2006/relationships/image" Target="../media/image2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29.png"/><Relationship Id="rId4" Type="http://schemas.openxmlformats.org/officeDocument/2006/relationships/image" Target="../media/image25.png"/><Relationship Id="rId5" Type="http://schemas.openxmlformats.org/officeDocument/2006/relationships/image" Target="../media/image3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29.png"/><Relationship Id="rId4" Type="http://schemas.openxmlformats.org/officeDocument/2006/relationships/image" Target="../media/image25.png"/><Relationship Id="rId5" Type="http://schemas.openxmlformats.org/officeDocument/2006/relationships/image" Target="../media/image3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32.png"/><Relationship Id="rId4" Type="http://schemas.openxmlformats.org/officeDocument/2006/relationships/image" Target="../media/image3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6.png"/><Relationship Id="rId6" Type="http://schemas.openxmlformats.org/officeDocument/2006/relationships/image" Target="../media/image3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3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3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3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3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3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3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40.png"/><Relationship Id="rId4" Type="http://schemas.openxmlformats.org/officeDocument/2006/relationships/image" Target="../media/image4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3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4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CH 5</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Lists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a:t>
            </a:r>
            <a:endParaRPr/>
          </a:p>
        </p:txBody>
      </p:sp>
      <p:sp>
        <p:nvSpPr>
          <p:cNvPr id="61" name="Google Shape;61;p14"/>
          <p:cNvSpPr txBox="1"/>
          <p:nvPr>
            <p:ph idx="1" type="body"/>
          </p:nvPr>
        </p:nvSpPr>
        <p:spPr>
          <a:xfrm>
            <a:off x="311700" y="1152475"/>
            <a:ext cx="8520600" cy="38379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n" sz="2000"/>
              <a:t>List is a sequential data structure in which addition and removal of data items can be done from any position. </a:t>
            </a:r>
            <a:endParaRPr sz="2000"/>
          </a:p>
          <a:p>
            <a:pPr indent="-355600" lvl="0" marL="457200" rtl="0" algn="l">
              <a:spcBef>
                <a:spcPts val="0"/>
              </a:spcBef>
              <a:spcAft>
                <a:spcPts val="0"/>
              </a:spcAft>
              <a:buSzPts val="2000"/>
              <a:buChar char="●"/>
            </a:pPr>
            <a:r>
              <a:rPr lang="en" sz="2000"/>
              <a:t>List is a collection of nodes. </a:t>
            </a:r>
            <a:endParaRPr sz="2000"/>
          </a:p>
          <a:p>
            <a:pPr indent="-355600" lvl="0" marL="457200" rtl="0" algn="l">
              <a:spcBef>
                <a:spcPts val="0"/>
              </a:spcBef>
              <a:spcAft>
                <a:spcPts val="0"/>
              </a:spcAft>
              <a:buSzPts val="2000"/>
              <a:buChar char="●"/>
            </a:pPr>
            <a:r>
              <a:rPr lang="en" sz="2000"/>
              <a:t>The List is an :</a:t>
            </a:r>
            <a:endParaRPr sz="2000"/>
          </a:p>
          <a:p>
            <a:pPr indent="-330200" lvl="1" marL="914400" rtl="0" algn="l">
              <a:spcBef>
                <a:spcPts val="0"/>
              </a:spcBef>
              <a:spcAft>
                <a:spcPts val="0"/>
              </a:spcAft>
              <a:buSzPts val="1600"/>
              <a:buChar char="○"/>
            </a:pPr>
            <a:r>
              <a:rPr lang="en" sz="1600"/>
              <a:t>Ordered sequence of data items called elements </a:t>
            </a:r>
            <a:endParaRPr sz="1600"/>
          </a:p>
          <a:p>
            <a:pPr indent="-330200" lvl="1" marL="914400" rtl="0" algn="l">
              <a:spcBef>
                <a:spcPts val="0"/>
              </a:spcBef>
              <a:spcAft>
                <a:spcPts val="0"/>
              </a:spcAft>
              <a:buSzPts val="1600"/>
              <a:buChar char="○"/>
            </a:pPr>
            <a:r>
              <a:rPr lang="en" sz="1600"/>
              <a:t>A1, A2, A3, ...,AN is a list of size N </a:t>
            </a:r>
            <a:endParaRPr sz="1600"/>
          </a:p>
          <a:p>
            <a:pPr indent="-330200" lvl="1" marL="914400" rtl="0" algn="l">
              <a:spcBef>
                <a:spcPts val="0"/>
              </a:spcBef>
              <a:spcAft>
                <a:spcPts val="0"/>
              </a:spcAft>
              <a:buSzPts val="1600"/>
              <a:buChar char="○"/>
            </a:pPr>
            <a:r>
              <a:rPr lang="en" sz="1600"/>
              <a:t>Size of an empty list is 0 </a:t>
            </a:r>
            <a:endParaRPr sz="1600"/>
          </a:p>
          <a:p>
            <a:pPr indent="-330200" lvl="1" marL="914400" rtl="0" algn="l">
              <a:spcBef>
                <a:spcPts val="0"/>
              </a:spcBef>
              <a:spcAft>
                <a:spcPts val="0"/>
              </a:spcAft>
              <a:buSzPts val="1600"/>
              <a:buChar char="○"/>
            </a:pPr>
            <a:r>
              <a:rPr lang="en" sz="1600"/>
              <a:t>A</a:t>
            </a:r>
            <a:r>
              <a:rPr baseline="-25000" lang="en" sz="1600"/>
              <a:t>i+i</a:t>
            </a:r>
            <a:r>
              <a:rPr lang="en" sz="1600"/>
              <a:t> succeeds A</a:t>
            </a:r>
            <a:r>
              <a:rPr baseline="-25000" lang="en" sz="1600"/>
              <a:t>i</a:t>
            </a:r>
            <a:r>
              <a:rPr lang="en" sz="1600"/>
              <a:t> </a:t>
            </a:r>
            <a:endParaRPr sz="1600"/>
          </a:p>
          <a:p>
            <a:pPr indent="-330200" lvl="1" marL="914400" rtl="0" algn="l">
              <a:spcBef>
                <a:spcPts val="0"/>
              </a:spcBef>
              <a:spcAft>
                <a:spcPts val="0"/>
              </a:spcAft>
              <a:buSzPts val="1600"/>
              <a:buChar char="○"/>
            </a:pPr>
            <a:r>
              <a:rPr lang="en" sz="1600"/>
              <a:t>A</a:t>
            </a:r>
            <a:r>
              <a:rPr baseline="-25000" lang="en" sz="1600"/>
              <a:t>i-1</a:t>
            </a:r>
            <a:r>
              <a:rPr lang="en" sz="1600"/>
              <a:t> </a:t>
            </a:r>
            <a:r>
              <a:rPr lang="en" sz="1600"/>
              <a:t>precedes</a:t>
            </a:r>
            <a:r>
              <a:rPr lang="en" sz="1600"/>
              <a:t> A</a:t>
            </a:r>
            <a:r>
              <a:rPr baseline="-25000" lang="en" sz="1600"/>
              <a:t>i</a:t>
            </a:r>
            <a:r>
              <a:rPr lang="en" sz="1600"/>
              <a:t> </a:t>
            </a:r>
            <a:endParaRPr sz="1600"/>
          </a:p>
          <a:p>
            <a:pPr indent="-330200" lvl="1" marL="914400" rtl="0" algn="l">
              <a:spcBef>
                <a:spcPts val="0"/>
              </a:spcBef>
              <a:spcAft>
                <a:spcPts val="0"/>
              </a:spcAft>
              <a:buSzPts val="1600"/>
              <a:buChar char="○"/>
            </a:pPr>
            <a:r>
              <a:rPr lang="en" sz="1600"/>
              <a:t>Position of A</a:t>
            </a:r>
            <a:r>
              <a:rPr baseline="-25000" lang="en" sz="1600"/>
              <a:t>i</a:t>
            </a:r>
            <a:r>
              <a:rPr lang="en" sz="1600"/>
              <a:t>, is i </a:t>
            </a:r>
            <a:endParaRPr sz="1600"/>
          </a:p>
          <a:p>
            <a:pPr indent="-330200" lvl="1" marL="914400" rtl="0" algn="l">
              <a:spcBef>
                <a:spcPts val="0"/>
              </a:spcBef>
              <a:spcAft>
                <a:spcPts val="0"/>
              </a:spcAft>
              <a:buSzPts val="1600"/>
              <a:buChar char="○"/>
            </a:pPr>
            <a:r>
              <a:rPr lang="en" sz="1600"/>
              <a:t>First element is A</a:t>
            </a:r>
            <a:r>
              <a:rPr baseline="-25000" lang="en" sz="1600"/>
              <a:t>1</a:t>
            </a:r>
            <a:r>
              <a:rPr lang="en" sz="1600"/>
              <a:t> called "head" </a:t>
            </a:r>
            <a:endParaRPr sz="1600"/>
          </a:p>
          <a:p>
            <a:pPr indent="-330200" lvl="1" marL="914400" rtl="0" algn="l">
              <a:spcBef>
                <a:spcPts val="0"/>
              </a:spcBef>
              <a:spcAft>
                <a:spcPts val="0"/>
              </a:spcAft>
              <a:buSzPts val="1600"/>
              <a:buChar char="○"/>
            </a:pPr>
            <a:r>
              <a:rPr lang="en" sz="1600"/>
              <a:t>Last element is A</a:t>
            </a:r>
            <a:r>
              <a:rPr baseline="-25000" lang="en" sz="1600"/>
              <a:t>N</a:t>
            </a:r>
            <a:r>
              <a:rPr lang="en" sz="1600"/>
              <a:t> called "tail" </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List as an ADT</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000"/>
              <a:t>A List L is defined as the collection of items of type T with the following operations:</a:t>
            </a:r>
            <a:endParaRPr b="1" sz="2000"/>
          </a:p>
          <a:p>
            <a:pPr indent="-355600" lvl="0" marL="457200" rtl="0" algn="l">
              <a:spcBef>
                <a:spcPts val="1200"/>
              </a:spcBef>
              <a:spcAft>
                <a:spcPts val="0"/>
              </a:spcAft>
              <a:buSzPts val="2000"/>
              <a:buChar char="●"/>
            </a:pPr>
            <a:r>
              <a:rPr b="1" lang="en" sz="2000"/>
              <a:t>Initialize: </a:t>
            </a:r>
            <a:r>
              <a:rPr lang="en" sz="2000"/>
              <a:t>Creates a new empty List</a:t>
            </a:r>
            <a:endParaRPr sz="2000"/>
          </a:p>
          <a:p>
            <a:pPr indent="-355600" lvl="0" marL="457200" rtl="0" algn="l">
              <a:spcBef>
                <a:spcPts val="0"/>
              </a:spcBef>
              <a:spcAft>
                <a:spcPts val="0"/>
              </a:spcAft>
              <a:buSzPts val="2000"/>
              <a:buChar char="●"/>
            </a:pPr>
            <a:r>
              <a:rPr b="1" lang="en" sz="2000"/>
              <a:t>Add</a:t>
            </a:r>
            <a:r>
              <a:rPr lang="en" sz="2000"/>
              <a:t> : adds a new node to the list</a:t>
            </a:r>
            <a:endParaRPr sz="2000"/>
          </a:p>
          <a:p>
            <a:pPr indent="-355600" lvl="0" marL="457200" rtl="0" algn="l">
              <a:spcBef>
                <a:spcPts val="0"/>
              </a:spcBef>
              <a:spcAft>
                <a:spcPts val="0"/>
              </a:spcAft>
              <a:buSzPts val="2000"/>
              <a:buChar char="●"/>
            </a:pPr>
            <a:r>
              <a:rPr b="1" lang="en" sz="2000"/>
              <a:t>Set</a:t>
            </a:r>
            <a:r>
              <a:rPr lang="en" sz="2000"/>
              <a:t> : update the contents of a node </a:t>
            </a:r>
            <a:endParaRPr sz="2000"/>
          </a:p>
          <a:p>
            <a:pPr indent="-355600" lvl="0" marL="457200" rtl="0" algn="l">
              <a:spcBef>
                <a:spcPts val="0"/>
              </a:spcBef>
              <a:spcAft>
                <a:spcPts val="0"/>
              </a:spcAft>
              <a:buSzPts val="2000"/>
              <a:buChar char="●"/>
            </a:pPr>
            <a:r>
              <a:rPr b="1" lang="en" sz="2000"/>
              <a:t>Remove</a:t>
            </a:r>
            <a:r>
              <a:rPr lang="en" sz="2000"/>
              <a:t> : removes a node </a:t>
            </a:r>
            <a:endParaRPr sz="2000"/>
          </a:p>
          <a:p>
            <a:pPr indent="-355600" lvl="0" marL="457200" rtl="0" algn="l">
              <a:spcBef>
                <a:spcPts val="0"/>
              </a:spcBef>
              <a:spcAft>
                <a:spcPts val="0"/>
              </a:spcAft>
              <a:buSzPts val="2000"/>
              <a:buChar char="●"/>
            </a:pPr>
            <a:r>
              <a:rPr b="1" lang="en" sz="2000"/>
              <a:t>IsEmpty</a:t>
            </a:r>
            <a:r>
              <a:rPr lang="en" sz="2000"/>
              <a:t> : reports whether the list is empty </a:t>
            </a:r>
            <a:endParaRPr sz="2000"/>
          </a:p>
          <a:p>
            <a:pPr indent="-355600" lvl="0" marL="457200" rtl="0" algn="l">
              <a:spcBef>
                <a:spcPts val="0"/>
              </a:spcBef>
              <a:spcAft>
                <a:spcPts val="0"/>
              </a:spcAft>
              <a:buSzPts val="2000"/>
              <a:buChar char="●"/>
            </a:pPr>
            <a:r>
              <a:rPr b="1" lang="en" sz="2000"/>
              <a:t>IsFull </a:t>
            </a:r>
            <a:r>
              <a:rPr lang="en" sz="2000"/>
              <a:t>: reports whether the list is full </a:t>
            </a:r>
            <a:endParaRPr sz="2000"/>
          </a:p>
          <a:p>
            <a:pPr indent="-355600" lvl="0" marL="457200" rtl="0" algn="l">
              <a:spcBef>
                <a:spcPts val="0"/>
              </a:spcBef>
              <a:spcAft>
                <a:spcPts val="0"/>
              </a:spcAft>
              <a:buSzPts val="2000"/>
              <a:buChar char="●"/>
            </a:pPr>
            <a:r>
              <a:rPr b="1" lang="en" sz="2000"/>
              <a:t>Destroy</a:t>
            </a:r>
            <a:r>
              <a:rPr lang="en" sz="2000"/>
              <a:t> : deletes the contents of the list</a:t>
            </a: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List operations</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b="1" lang="en" sz="2000"/>
              <a:t>Initialize(L) </a:t>
            </a:r>
            <a:r>
              <a:rPr lang="en" sz="2000"/>
              <a:t>- Create a new empty List named L </a:t>
            </a:r>
            <a:endParaRPr sz="2000"/>
          </a:p>
          <a:p>
            <a:pPr indent="-355600" lvl="0" marL="457200" rtl="0" algn="l">
              <a:spcBef>
                <a:spcPts val="0"/>
              </a:spcBef>
              <a:spcAft>
                <a:spcPts val="0"/>
              </a:spcAft>
              <a:buSzPts val="2000"/>
              <a:buChar char="●"/>
            </a:pPr>
            <a:r>
              <a:rPr b="1" lang="en" sz="2000"/>
              <a:t>Add( 1 ,X,L)</a:t>
            </a:r>
            <a:r>
              <a:rPr lang="en" sz="2000"/>
              <a:t> - Adds the value X to list L at position 1 (the start of the list is position 0), shifting subsequent elements up </a:t>
            </a:r>
            <a:endParaRPr sz="2000"/>
          </a:p>
          <a:p>
            <a:pPr indent="-355600" lvl="0" marL="457200" rtl="0" algn="l">
              <a:spcBef>
                <a:spcPts val="0"/>
              </a:spcBef>
              <a:spcAft>
                <a:spcPts val="0"/>
              </a:spcAft>
              <a:buSzPts val="2000"/>
              <a:buChar char="●"/>
            </a:pPr>
            <a:r>
              <a:rPr b="1" lang="en" sz="2000"/>
              <a:t>Set(2,Z,L)</a:t>
            </a:r>
            <a:r>
              <a:rPr lang="en" sz="2000"/>
              <a:t> -  Updates the values at position 2 to be Z </a:t>
            </a:r>
            <a:endParaRPr sz="2000"/>
          </a:p>
          <a:p>
            <a:pPr indent="-355600" lvl="0" marL="457200" rtl="0" algn="l">
              <a:spcBef>
                <a:spcPts val="0"/>
              </a:spcBef>
              <a:spcAft>
                <a:spcPts val="0"/>
              </a:spcAft>
              <a:buSzPts val="2000"/>
              <a:buChar char="●"/>
            </a:pPr>
            <a:r>
              <a:rPr b="1" lang="en" sz="2000"/>
              <a:t>Remove(Z,L) </a:t>
            </a:r>
            <a:r>
              <a:rPr lang="en" sz="2000"/>
              <a:t>- Removes the element with value Z </a:t>
            </a:r>
            <a:endParaRPr sz="2000"/>
          </a:p>
          <a:p>
            <a:pPr indent="-355600" lvl="0" marL="457200" rtl="0" algn="l">
              <a:spcBef>
                <a:spcPts val="0"/>
              </a:spcBef>
              <a:spcAft>
                <a:spcPts val="0"/>
              </a:spcAft>
              <a:buSzPts val="2000"/>
              <a:buChar char="●"/>
            </a:pPr>
            <a:r>
              <a:rPr b="1" lang="en" sz="2000"/>
              <a:t>Get(2,L)</a:t>
            </a:r>
            <a:r>
              <a:rPr lang="en" sz="2000"/>
              <a:t> - returns the value of the third node</a:t>
            </a:r>
            <a:endParaRPr sz="2000"/>
          </a:p>
          <a:p>
            <a:pPr indent="-355600" lvl="0" marL="457200" rtl="0" algn="l">
              <a:spcBef>
                <a:spcPts val="0"/>
              </a:spcBef>
              <a:spcAft>
                <a:spcPts val="0"/>
              </a:spcAft>
              <a:buSzPts val="2000"/>
              <a:buChar char="●"/>
            </a:pPr>
            <a:r>
              <a:rPr b="1" lang="en" sz="2000"/>
              <a:t>IndexOf(X,L)</a:t>
            </a:r>
            <a:r>
              <a:rPr lang="en" sz="2000"/>
              <a:t> - returns the index of the node with value X</a:t>
            </a:r>
            <a:endParaRPr sz="2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List operations[2]</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t/>
            </a:r>
            <a:endParaRPr sz="2000"/>
          </a:p>
          <a:p>
            <a:pPr indent="-355600" lvl="0" marL="457200" rtl="0" algn="l">
              <a:spcBef>
                <a:spcPts val="1200"/>
              </a:spcBef>
              <a:spcAft>
                <a:spcPts val="0"/>
              </a:spcAft>
              <a:buSzPts val="2000"/>
              <a:buChar char="●"/>
            </a:pPr>
            <a:r>
              <a:rPr b="1" lang="en" sz="2000"/>
              <a:t>Add( 1 ,X,L)</a:t>
            </a:r>
            <a:r>
              <a:rPr lang="en" sz="2000"/>
              <a:t> </a:t>
            </a:r>
            <a:endParaRPr sz="2000"/>
          </a:p>
          <a:p>
            <a:pPr indent="0" lvl="0" marL="457200" rtl="0" algn="l">
              <a:spcBef>
                <a:spcPts val="1200"/>
              </a:spcBef>
              <a:spcAft>
                <a:spcPts val="0"/>
              </a:spcAft>
              <a:buNone/>
            </a:pPr>
            <a:r>
              <a:t/>
            </a:r>
            <a:endParaRPr sz="2000"/>
          </a:p>
          <a:p>
            <a:pPr indent="-355600" lvl="0" marL="457200" rtl="0" algn="l">
              <a:spcBef>
                <a:spcPts val="1200"/>
              </a:spcBef>
              <a:spcAft>
                <a:spcPts val="0"/>
              </a:spcAft>
              <a:buSzPts val="2000"/>
              <a:buChar char="●"/>
            </a:pPr>
            <a:r>
              <a:rPr b="1" lang="en" sz="2000"/>
              <a:t>Set(2,Z,L)</a:t>
            </a:r>
            <a:r>
              <a:rPr lang="en" sz="2000"/>
              <a:t> -  </a:t>
            </a:r>
            <a:endParaRPr sz="2000"/>
          </a:p>
          <a:p>
            <a:pPr indent="0" lvl="0" marL="0" rtl="0" algn="l">
              <a:spcBef>
                <a:spcPts val="1200"/>
              </a:spcBef>
              <a:spcAft>
                <a:spcPts val="0"/>
              </a:spcAft>
              <a:buNone/>
            </a:pPr>
            <a:r>
              <a:t/>
            </a:r>
            <a:endParaRPr sz="2000"/>
          </a:p>
          <a:p>
            <a:pPr indent="-355600" lvl="0" marL="457200" rtl="0" algn="l">
              <a:spcBef>
                <a:spcPts val="1200"/>
              </a:spcBef>
              <a:spcAft>
                <a:spcPts val="0"/>
              </a:spcAft>
              <a:buSzPts val="2000"/>
              <a:buChar char="●"/>
            </a:pPr>
            <a:r>
              <a:rPr b="1" lang="en" sz="2000"/>
              <a:t>Remove(Z,L)</a:t>
            </a:r>
            <a:endParaRPr sz="2000"/>
          </a:p>
          <a:p>
            <a:pPr indent="-355600" lvl="0" marL="457200" rtl="0" algn="l">
              <a:spcBef>
                <a:spcPts val="0"/>
              </a:spcBef>
              <a:spcAft>
                <a:spcPts val="0"/>
              </a:spcAft>
              <a:buSzPts val="2000"/>
              <a:buChar char="●"/>
            </a:pPr>
            <a:r>
              <a:rPr b="1" lang="en" sz="2000"/>
              <a:t>Get(2,L)</a:t>
            </a:r>
            <a:r>
              <a:rPr lang="en" sz="2000"/>
              <a:t> = C</a:t>
            </a:r>
            <a:endParaRPr sz="2000"/>
          </a:p>
          <a:p>
            <a:pPr indent="-355600" lvl="0" marL="457200" rtl="0" algn="l">
              <a:spcBef>
                <a:spcPts val="0"/>
              </a:spcBef>
              <a:spcAft>
                <a:spcPts val="0"/>
              </a:spcAft>
              <a:buSzPts val="2000"/>
              <a:buChar char="●"/>
            </a:pPr>
            <a:r>
              <a:rPr b="1" lang="en" sz="2000"/>
              <a:t>IndexOf(X,L)</a:t>
            </a:r>
            <a:r>
              <a:rPr lang="en" sz="2000"/>
              <a:t> = 1</a:t>
            </a:r>
            <a:endParaRPr sz="2000"/>
          </a:p>
        </p:txBody>
      </p:sp>
      <p:pic>
        <p:nvPicPr>
          <p:cNvPr id="80" name="Google Shape;80;p17"/>
          <p:cNvPicPr preferRelativeResize="0"/>
          <p:nvPr/>
        </p:nvPicPr>
        <p:blipFill>
          <a:blip r:embed="rId3">
            <a:alphaModFix/>
          </a:blip>
          <a:stretch>
            <a:fillRect/>
          </a:stretch>
        </p:blipFill>
        <p:spPr>
          <a:xfrm>
            <a:off x="2652025" y="1608275"/>
            <a:ext cx="3352800" cy="628650"/>
          </a:xfrm>
          <a:prstGeom prst="rect">
            <a:avLst/>
          </a:prstGeom>
          <a:noFill/>
          <a:ln>
            <a:noFill/>
          </a:ln>
        </p:spPr>
      </p:pic>
      <p:pic>
        <p:nvPicPr>
          <p:cNvPr id="81" name="Google Shape;81;p17"/>
          <p:cNvPicPr preferRelativeResize="0"/>
          <p:nvPr/>
        </p:nvPicPr>
        <p:blipFill>
          <a:blip r:embed="rId4">
            <a:alphaModFix/>
          </a:blip>
          <a:stretch>
            <a:fillRect/>
          </a:stretch>
        </p:blipFill>
        <p:spPr>
          <a:xfrm>
            <a:off x="2702500" y="2370500"/>
            <a:ext cx="3620343" cy="572700"/>
          </a:xfrm>
          <a:prstGeom prst="rect">
            <a:avLst/>
          </a:prstGeom>
          <a:noFill/>
          <a:ln>
            <a:noFill/>
          </a:ln>
        </p:spPr>
      </p:pic>
      <p:pic>
        <p:nvPicPr>
          <p:cNvPr id="82" name="Google Shape;82;p17"/>
          <p:cNvPicPr preferRelativeResize="0"/>
          <p:nvPr/>
        </p:nvPicPr>
        <p:blipFill>
          <a:blip r:embed="rId5">
            <a:alphaModFix/>
          </a:blip>
          <a:stretch>
            <a:fillRect/>
          </a:stretch>
        </p:blipFill>
        <p:spPr>
          <a:xfrm>
            <a:off x="2702500" y="3239775"/>
            <a:ext cx="2978061" cy="572700"/>
          </a:xfrm>
          <a:prstGeom prst="rect">
            <a:avLst/>
          </a:prstGeom>
          <a:noFill/>
          <a:ln>
            <a:noFill/>
          </a:ln>
        </p:spPr>
      </p:pic>
      <p:pic>
        <p:nvPicPr>
          <p:cNvPr id="83" name="Google Shape;83;p17"/>
          <p:cNvPicPr preferRelativeResize="0"/>
          <p:nvPr/>
        </p:nvPicPr>
        <p:blipFill>
          <a:blip r:embed="rId6">
            <a:alphaModFix/>
          </a:blip>
          <a:stretch>
            <a:fillRect/>
          </a:stretch>
        </p:blipFill>
        <p:spPr>
          <a:xfrm>
            <a:off x="2652025" y="1090375"/>
            <a:ext cx="2728944" cy="517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 of operation</a:t>
            </a:r>
            <a:endParaRPr/>
          </a:p>
        </p:txBody>
      </p:sp>
      <p:sp>
        <p:nvSpPr>
          <p:cNvPr id="89" name="Google Shape;89;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0" name="Google Shape;90;p18"/>
          <p:cNvPicPr preferRelativeResize="0"/>
          <p:nvPr/>
        </p:nvPicPr>
        <p:blipFill>
          <a:blip r:embed="rId3">
            <a:alphaModFix/>
          </a:blip>
          <a:stretch>
            <a:fillRect/>
          </a:stretch>
        </p:blipFill>
        <p:spPr>
          <a:xfrm>
            <a:off x="311708" y="1017725"/>
            <a:ext cx="6783593" cy="4125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List Implementation</a:t>
            </a:r>
            <a:endParaRPr/>
          </a:p>
        </p:txBody>
      </p:sp>
      <p:sp>
        <p:nvSpPr>
          <p:cNvPr id="96" name="Google Shape;96;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Static List Implementation</a:t>
            </a:r>
            <a:endParaRPr/>
          </a:p>
          <a:p>
            <a:pPr indent="-342900" lvl="0" marL="457200" rtl="0" algn="l">
              <a:spcBef>
                <a:spcPts val="0"/>
              </a:spcBef>
              <a:spcAft>
                <a:spcPts val="0"/>
              </a:spcAft>
              <a:buSzPts val="1800"/>
              <a:buChar char="●"/>
            </a:pPr>
            <a:r>
              <a:rPr lang="en"/>
              <a:t>Dynamic List Implementation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Static List</a:t>
            </a:r>
            <a:endParaRPr/>
          </a:p>
        </p:txBody>
      </p:sp>
      <p:sp>
        <p:nvSpPr>
          <p:cNvPr id="102" name="Google Shape;102;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Static list implementation is done by storing the items in an array.</a:t>
            </a:r>
            <a:endParaRPr/>
          </a:p>
          <a:p>
            <a:pPr indent="-342900" lvl="0" marL="457200" rtl="0" algn="l">
              <a:spcBef>
                <a:spcPts val="0"/>
              </a:spcBef>
              <a:spcAft>
                <a:spcPts val="0"/>
              </a:spcAft>
              <a:buSzPts val="1800"/>
              <a:buChar char="●"/>
            </a:pPr>
            <a:r>
              <a:rPr lang="en"/>
              <a:t>The position of the element is given by an index starting with 0 to n-1, where n is the number of elements.</a:t>
            </a:r>
            <a:endParaRPr/>
          </a:p>
          <a:p>
            <a:pPr indent="-342900" lvl="0" marL="457200" rtl="0" algn="l">
              <a:spcBef>
                <a:spcPts val="0"/>
              </a:spcBef>
              <a:spcAft>
                <a:spcPts val="0"/>
              </a:spcAft>
              <a:buSzPts val="1800"/>
              <a:buChar char="●"/>
            </a:pPr>
            <a:r>
              <a:rPr lang="en"/>
              <a:t>Static list is of fixed size.</a:t>
            </a:r>
            <a:endParaRPr/>
          </a:p>
          <a:p>
            <a:pPr indent="-342900" lvl="0" marL="457200" rtl="0" algn="l">
              <a:spcBef>
                <a:spcPts val="0"/>
              </a:spcBef>
              <a:spcAft>
                <a:spcPts val="0"/>
              </a:spcAft>
              <a:buSzPts val="1800"/>
              <a:buChar char="●"/>
            </a:pPr>
            <a:r>
              <a:rPr lang="en"/>
              <a:t>Operations on static list are:</a:t>
            </a:r>
            <a:endParaRPr/>
          </a:p>
          <a:p>
            <a:pPr indent="-317500" lvl="1" marL="914400" rtl="0" algn="l">
              <a:spcBef>
                <a:spcPts val="0"/>
              </a:spcBef>
              <a:spcAft>
                <a:spcPts val="0"/>
              </a:spcAft>
              <a:buSzPts val="1400"/>
              <a:buChar char="○"/>
            </a:pPr>
            <a:r>
              <a:rPr lang="en"/>
              <a:t>Given an index, the element of that position can be accessed at constant time, without any relation with the size of the list.</a:t>
            </a:r>
            <a:endParaRPr/>
          </a:p>
          <a:p>
            <a:pPr indent="-317500" lvl="1" marL="914400" rtl="0" algn="l">
              <a:spcBef>
                <a:spcPts val="0"/>
              </a:spcBef>
              <a:spcAft>
                <a:spcPts val="0"/>
              </a:spcAft>
              <a:buSzPts val="1400"/>
              <a:buChar char="○"/>
            </a:pPr>
            <a:r>
              <a:rPr lang="en"/>
              <a:t>To add an element at the end of the list, it can also be done at constant time. Adding an element ar any other position involves shifting up one position of all the subsequent elements, so the time complexity depends on the size of the list.</a:t>
            </a:r>
            <a:endParaRPr/>
          </a:p>
          <a:p>
            <a:pPr indent="-317500" lvl="1" marL="914400" rtl="0" algn="l">
              <a:spcBef>
                <a:spcPts val="0"/>
              </a:spcBef>
              <a:spcAft>
                <a:spcPts val="0"/>
              </a:spcAft>
              <a:buSzPts val="1400"/>
              <a:buChar char="○"/>
            </a:pPr>
            <a:r>
              <a:rPr lang="en"/>
              <a:t>Removing an item from the list involves shifting all the elements down by one position, so the time complexity depends on the size of the list.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Dynamic List</a:t>
            </a:r>
            <a:endParaRPr/>
          </a:p>
        </p:txBody>
      </p:sp>
      <p:sp>
        <p:nvSpPr>
          <p:cNvPr id="108" name="Google Shape;108;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 dynamic list, the size of the list is not fixed and can be modified during the operations performed on it.</a:t>
            </a:r>
            <a:endParaRPr/>
          </a:p>
          <a:p>
            <a:pPr indent="-342900" lvl="0" marL="457200" rtl="0" algn="l">
              <a:spcBef>
                <a:spcPts val="0"/>
              </a:spcBef>
              <a:spcAft>
                <a:spcPts val="0"/>
              </a:spcAft>
              <a:buSzPts val="1800"/>
              <a:buChar char="●"/>
            </a:pPr>
            <a:r>
              <a:rPr lang="en"/>
              <a:t>Dynamic data structures are designate to facilitate the change of data structures in the run time.</a:t>
            </a:r>
            <a:endParaRPr/>
          </a:p>
          <a:p>
            <a:pPr indent="-342900" lvl="0" marL="457200" rtl="0" algn="l">
              <a:spcBef>
                <a:spcPts val="0"/>
              </a:spcBef>
              <a:spcAft>
                <a:spcPts val="0"/>
              </a:spcAft>
              <a:buSzPts val="1800"/>
              <a:buChar char="●"/>
            </a:pPr>
            <a:r>
              <a:rPr lang="en"/>
              <a:t>Example of dynamic list: Linked list.</a:t>
            </a:r>
            <a:endParaRPr/>
          </a:p>
        </p:txBody>
      </p:sp>
      <p:pic>
        <p:nvPicPr>
          <p:cNvPr id="109" name="Google Shape;109;p21"/>
          <p:cNvPicPr preferRelativeResize="0"/>
          <p:nvPr/>
        </p:nvPicPr>
        <p:blipFill>
          <a:blip r:embed="rId3">
            <a:alphaModFix/>
          </a:blip>
          <a:stretch>
            <a:fillRect/>
          </a:stretch>
        </p:blipFill>
        <p:spPr>
          <a:xfrm>
            <a:off x="529600" y="3235975"/>
            <a:ext cx="7696200" cy="1828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Array Implementation of list</a:t>
            </a:r>
            <a:endParaRPr/>
          </a:p>
        </p:txBody>
      </p:sp>
      <p:sp>
        <p:nvSpPr>
          <p:cNvPr id="115" name="Google Shape;115;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Supposing a list of fixed size N, ie, </a:t>
            </a:r>
            <a:br>
              <a:rPr lang="en"/>
            </a:br>
            <a:r>
              <a:rPr lang="en"/>
              <a:t>index ranges from 0 to N-1.</a:t>
            </a:r>
            <a:endParaRPr/>
          </a:p>
          <a:p>
            <a:pPr indent="0" lvl="0" marL="0" rtl="0" algn="l">
              <a:spcBef>
                <a:spcPts val="1200"/>
              </a:spcBef>
              <a:spcAft>
                <a:spcPts val="0"/>
              </a:spcAft>
              <a:buNone/>
            </a:pPr>
            <a:r>
              <a:rPr b="1" lang="en"/>
              <a:t>Insertion of Node at k</a:t>
            </a:r>
            <a:r>
              <a:rPr b="1" baseline="30000" lang="en"/>
              <a:t>th</a:t>
            </a:r>
            <a:r>
              <a:rPr b="1" lang="en"/>
              <a:t> Position.</a:t>
            </a:r>
            <a:endParaRPr b="1"/>
          </a:p>
          <a:p>
            <a:pPr indent="0" lvl="0" marL="0" rtl="0" algn="l">
              <a:spcBef>
                <a:spcPts val="1200"/>
              </a:spcBef>
              <a:spcAft>
                <a:spcPts val="1200"/>
              </a:spcAft>
              <a:buNone/>
            </a:pPr>
            <a:r>
              <a:t/>
            </a:r>
            <a:endParaRPr/>
          </a:p>
        </p:txBody>
      </p:sp>
      <p:pic>
        <p:nvPicPr>
          <p:cNvPr id="116" name="Google Shape;116;p22"/>
          <p:cNvPicPr preferRelativeResize="0"/>
          <p:nvPr/>
        </p:nvPicPr>
        <p:blipFill>
          <a:blip r:embed="rId3">
            <a:alphaModFix/>
          </a:blip>
          <a:stretch>
            <a:fillRect/>
          </a:stretch>
        </p:blipFill>
        <p:spPr>
          <a:xfrm>
            <a:off x="4819650" y="565150"/>
            <a:ext cx="4324350" cy="45910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Array Implementation of list [2]</a:t>
            </a:r>
            <a:endParaRPr/>
          </a:p>
        </p:txBody>
      </p:sp>
      <p:sp>
        <p:nvSpPr>
          <p:cNvPr id="122" name="Google Shape;122;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Supposing a list of fixed size N, ie, </a:t>
            </a:r>
            <a:br>
              <a:rPr lang="en"/>
            </a:br>
            <a:r>
              <a:rPr lang="en"/>
              <a:t>index ranges from 0 to N-1.</a:t>
            </a:r>
            <a:endParaRPr/>
          </a:p>
          <a:p>
            <a:pPr indent="0" lvl="0" marL="0" rtl="0" algn="l">
              <a:spcBef>
                <a:spcPts val="1200"/>
              </a:spcBef>
              <a:spcAft>
                <a:spcPts val="0"/>
              </a:spcAft>
              <a:buNone/>
            </a:pPr>
            <a:r>
              <a:rPr b="1" lang="en"/>
              <a:t>Deletion of Node at k</a:t>
            </a:r>
            <a:r>
              <a:rPr b="1" baseline="30000" lang="en"/>
              <a:t>th</a:t>
            </a:r>
            <a:r>
              <a:rPr b="1" lang="en"/>
              <a:t> Position.</a:t>
            </a:r>
            <a:endParaRPr b="1"/>
          </a:p>
          <a:p>
            <a:pPr indent="0" lvl="0" marL="0" rtl="0" algn="l">
              <a:spcBef>
                <a:spcPts val="1200"/>
              </a:spcBef>
              <a:spcAft>
                <a:spcPts val="1200"/>
              </a:spcAft>
              <a:buNone/>
            </a:pPr>
            <a:r>
              <a:t/>
            </a:r>
            <a:endParaRPr/>
          </a:p>
        </p:txBody>
      </p:sp>
      <p:pic>
        <p:nvPicPr>
          <p:cNvPr id="123" name="Google Shape;123;p23"/>
          <p:cNvPicPr preferRelativeResize="0"/>
          <p:nvPr/>
        </p:nvPicPr>
        <p:blipFill>
          <a:blip r:embed="rId3">
            <a:alphaModFix/>
          </a:blip>
          <a:stretch>
            <a:fillRect/>
          </a:stretch>
        </p:blipFill>
        <p:spPr>
          <a:xfrm>
            <a:off x="4397393" y="1152475"/>
            <a:ext cx="4746608" cy="39910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Array Implementation of list [3]</a:t>
            </a:r>
            <a:endParaRPr/>
          </a:p>
        </p:txBody>
      </p:sp>
      <p:sp>
        <p:nvSpPr>
          <p:cNvPr id="129" name="Google Shape;129;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Advantages of </a:t>
            </a:r>
            <a:r>
              <a:rPr b="1" lang="en"/>
              <a:t>array</a:t>
            </a:r>
            <a:r>
              <a:rPr b="1" lang="en"/>
              <a:t> implementation</a:t>
            </a:r>
            <a:endParaRPr b="1"/>
          </a:p>
          <a:p>
            <a:pPr indent="-342900" lvl="0" marL="457200" rtl="0" algn="l">
              <a:spcBef>
                <a:spcPts val="1200"/>
              </a:spcBef>
              <a:spcAft>
                <a:spcPts val="0"/>
              </a:spcAft>
              <a:buSzPts val="1800"/>
              <a:buChar char="●"/>
            </a:pPr>
            <a:r>
              <a:rPr lang="en"/>
              <a:t>Variables are stored in contiguous memory locations</a:t>
            </a:r>
            <a:endParaRPr/>
          </a:p>
          <a:p>
            <a:pPr indent="-342900" lvl="0" marL="457200" rtl="0" algn="l">
              <a:spcBef>
                <a:spcPts val="0"/>
              </a:spcBef>
              <a:spcAft>
                <a:spcPts val="0"/>
              </a:spcAft>
              <a:buSzPts val="1800"/>
              <a:buChar char="●"/>
            </a:pPr>
            <a:r>
              <a:rPr lang="en"/>
              <a:t>Easy to handle data</a:t>
            </a:r>
            <a:endParaRPr/>
          </a:p>
          <a:p>
            <a:pPr indent="0" lvl="0" marL="0" rtl="0" algn="l">
              <a:spcBef>
                <a:spcPts val="1200"/>
              </a:spcBef>
              <a:spcAft>
                <a:spcPts val="0"/>
              </a:spcAft>
              <a:buNone/>
            </a:pPr>
            <a:r>
              <a:t/>
            </a:r>
            <a:endParaRPr/>
          </a:p>
          <a:p>
            <a:pPr indent="0" lvl="0" marL="0" rtl="0" algn="l">
              <a:spcBef>
                <a:spcPts val="1200"/>
              </a:spcBef>
              <a:spcAft>
                <a:spcPts val="0"/>
              </a:spcAft>
              <a:buNone/>
            </a:pPr>
            <a:r>
              <a:rPr b="1" lang="en"/>
              <a:t>Limitations</a:t>
            </a:r>
            <a:endParaRPr b="1"/>
          </a:p>
          <a:p>
            <a:pPr indent="-342900" lvl="0" marL="457200" rtl="0" algn="l">
              <a:spcBef>
                <a:spcPts val="1200"/>
              </a:spcBef>
              <a:spcAft>
                <a:spcPts val="0"/>
              </a:spcAft>
              <a:buSzPts val="1800"/>
              <a:buChar char="●"/>
            </a:pPr>
            <a:r>
              <a:rPr lang="en"/>
              <a:t>Hard to add/remove elements in place.</a:t>
            </a:r>
            <a:endParaRPr/>
          </a:p>
          <a:p>
            <a:pPr indent="-342900" lvl="0" marL="457200" rtl="0" algn="l">
              <a:spcBef>
                <a:spcPts val="0"/>
              </a:spcBef>
              <a:spcAft>
                <a:spcPts val="0"/>
              </a:spcAft>
              <a:buSzPts val="1800"/>
              <a:buChar char="●"/>
            </a:pPr>
            <a:r>
              <a:rPr lang="en"/>
              <a:t>Cannot be dynamically resized</a:t>
            </a:r>
            <a:endParaRPr/>
          </a:p>
          <a:p>
            <a:pPr indent="-342900" lvl="0" marL="457200" rtl="0" algn="l">
              <a:spcBef>
                <a:spcPts val="0"/>
              </a:spcBef>
              <a:spcAft>
                <a:spcPts val="0"/>
              </a:spcAft>
              <a:buSzPts val="1800"/>
              <a:buChar char="●"/>
            </a:pPr>
            <a:r>
              <a:rPr lang="en"/>
              <a:t>Memory loss might be a problem.</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Linked List</a:t>
            </a:r>
            <a:endParaRPr/>
          </a:p>
        </p:txBody>
      </p:sp>
      <p:sp>
        <p:nvSpPr>
          <p:cNvPr id="135" name="Google Shape;135;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linked list is a linear collection of data elements, called nodes, where the linear order is given by means of pointers.</a:t>
            </a:r>
            <a:endParaRPr/>
          </a:p>
          <a:p>
            <a:pPr indent="-342900" lvl="0" marL="457200" rtl="0" algn="l">
              <a:spcBef>
                <a:spcPts val="0"/>
              </a:spcBef>
              <a:spcAft>
                <a:spcPts val="0"/>
              </a:spcAft>
              <a:buSzPts val="1800"/>
              <a:buChar char="●"/>
            </a:pPr>
            <a:r>
              <a:rPr lang="en"/>
              <a:t>Each node contains two parts:</a:t>
            </a:r>
            <a:endParaRPr/>
          </a:p>
          <a:p>
            <a:pPr indent="-317500" lvl="1" marL="914400" rtl="0" algn="l">
              <a:spcBef>
                <a:spcPts val="0"/>
              </a:spcBef>
              <a:spcAft>
                <a:spcPts val="0"/>
              </a:spcAft>
              <a:buSzPts val="1400"/>
              <a:buChar char="○"/>
            </a:pPr>
            <a:r>
              <a:rPr lang="en"/>
              <a:t>The first part contains the information of the element, and</a:t>
            </a:r>
            <a:endParaRPr/>
          </a:p>
          <a:p>
            <a:pPr indent="-317500" lvl="1" marL="914400" rtl="0" algn="l">
              <a:spcBef>
                <a:spcPts val="0"/>
              </a:spcBef>
              <a:spcAft>
                <a:spcPts val="0"/>
              </a:spcAft>
              <a:buSzPts val="1400"/>
              <a:buChar char="○"/>
            </a:pPr>
            <a:r>
              <a:rPr lang="en"/>
              <a:t>The second part contains the address of the next node in the list.</a:t>
            </a:r>
            <a:endParaRPr/>
          </a:p>
          <a:p>
            <a:pPr indent="0" lvl="0" marL="0" rtl="0" algn="l">
              <a:spcBef>
                <a:spcPts val="1200"/>
              </a:spcBef>
              <a:spcAft>
                <a:spcPts val="1200"/>
              </a:spcAft>
              <a:buNone/>
            </a:pPr>
            <a:r>
              <a:t/>
            </a:r>
            <a:endParaRPr/>
          </a:p>
        </p:txBody>
      </p:sp>
      <p:pic>
        <p:nvPicPr>
          <p:cNvPr id="136" name="Google Shape;136;p25"/>
          <p:cNvPicPr preferRelativeResize="0"/>
          <p:nvPr/>
        </p:nvPicPr>
        <p:blipFill>
          <a:blip r:embed="rId3">
            <a:alphaModFix/>
          </a:blip>
          <a:stretch>
            <a:fillRect/>
          </a:stretch>
        </p:blipFill>
        <p:spPr>
          <a:xfrm>
            <a:off x="1450525" y="2901025"/>
            <a:ext cx="3238500" cy="11049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Advantages / disadvantages of Linked List</a:t>
            </a:r>
            <a:endParaRPr/>
          </a:p>
        </p:txBody>
      </p:sp>
      <p:sp>
        <p:nvSpPr>
          <p:cNvPr id="142" name="Google Shape;142;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Advantages</a:t>
            </a:r>
            <a:endParaRPr/>
          </a:p>
          <a:p>
            <a:pPr indent="-342900" lvl="0" marL="457200" rtl="0" algn="l">
              <a:spcBef>
                <a:spcPts val="1200"/>
              </a:spcBef>
              <a:spcAft>
                <a:spcPts val="0"/>
              </a:spcAft>
              <a:buSzPts val="1800"/>
              <a:buChar char="●"/>
            </a:pPr>
            <a:r>
              <a:rPr lang="en"/>
              <a:t>Dynamic Size</a:t>
            </a:r>
            <a:endParaRPr/>
          </a:p>
          <a:p>
            <a:pPr indent="-342900" lvl="0" marL="457200" rtl="0" algn="l">
              <a:spcBef>
                <a:spcPts val="0"/>
              </a:spcBef>
              <a:spcAft>
                <a:spcPts val="0"/>
              </a:spcAft>
              <a:buSzPts val="1800"/>
              <a:buChar char="●"/>
            </a:pPr>
            <a:r>
              <a:rPr lang="en"/>
              <a:t>Ease of insertion/deletion.</a:t>
            </a:r>
            <a:endParaRPr/>
          </a:p>
          <a:p>
            <a:pPr indent="0" lvl="0" marL="0" rtl="0" algn="l">
              <a:spcBef>
                <a:spcPts val="1200"/>
              </a:spcBef>
              <a:spcAft>
                <a:spcPts val="0"/>
              </a:spcAft>
              <a:buNone/>
            </a:pPr>
            <a:r>
              <a:rPr lang="en"/>
              <a:t>Disadvantages</a:t>
            </a:r>
            <a:endParaRPr/>
          </a:p>
          <a:p>
            <a:pPr indent="-342900" lvl="0" marL="457200" rtl="0" algn="l">
              <a:spcBef>
                <a:spcPts val="1200"/>
              </a:spcBef>
              <a:spcAft>
                <a:spcPts val="0"/>
              </a:spcAft>
              <a:buSzPts val="1800"/>
              <a:buChar char="●"/>
            </a:pPr>
            <a:r>
              <a:rPr lang="en"/>
              <a:t>Random access is not allowed. Elements need to be accessed sequentially starting from the first node.</a:t>
            </a:r>
            <a:endParaRPr/>
          </a:p>
          <a:p>
            <a:pPr indent="-342900" lvl="0" marL="457200" rtl="0" algn="l">
              <a:spcBef>
                <a:spcPts val="0"/>
              </a:spcBef>
              <a:spcAft>
                <a:spcPts val="0"/>
              </a:spcAft>
              <a:buSzPts val="1800"/>
              <a:buChar char="●"/>
            </a:pPr>
            <a:r>
              <a:rPr lang="en"/>
              <a:t>Extra memory space for next pointer is required.</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Array vs Linked List</a:t>
            </a:r>
            <a:endParaRPr/>
          </a:p>
        </p:txBody>
      </p:sp>
      <p:sp>
        <p:nvSpPr>
          <p:cNvPr id="148" name="Google Shape;148;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9" name="Google Shape;149;p27"/>
          <p:cNvPicPr preferRelativeResize="0"/>
          <p:nvPr/>
        </p:nvPicPr>
        <p:blipFill>
          <a:blip r:embed="rId3">
            <a:alphaModFix/>
          </a:blip>
          <a:stretch>
            <a:fillRect/>
          </a:stretch>
        </p:blipFill>
        <p:spPr>
          <a:xfrm>
            <a:off x="43550" y="1274074"/>
            <a:ext cx="9143999" cy="329480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Array vs Linked List[2]</a:t>
            </a:r>
            <a:endParaRPr/>
          </a:p>
        </p:txBody>
      </p:sp>
      <p:sp>
        <p:nvSpPr>
          <p:cNvPr id="155" name="Google Shape;155;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6" name="Google Shape;156;p28"/>
          <p:cNvPicPr preferRelativeResize="0"/>
          <p:nvPr/>
        </p:nvPicPr>
        <p:blipFill>
          <a:blip r:embed="rId3">
            <a:alphaModFix/>
          </a:blip>
          <a:stretch>
            <a:fillRect/>
          </a:stretch>
        </p:blipFill>
        <p:spPr>
          <a:xfrm>
            <a:off x="0" y="1212053"/>
            <a:ext cx="9143999" cy="629344"/>
          </a:xfrm>
          <a:prstGeom prst="rect">
            <a:avLst/>
          </a:prstGeom>
          <a:noFill/>
          <a:ln>
            <a:noFill/>
          </a:ln>
        </p:spPr>
      </p:pic>
      <p:pic>
        <p:nvPicPr>
          <p:cNvPr id="157" name="Google Shape;157;p28"/>
          <p:cNvPicPr preferRelativeResize="0"/>
          <p:nvPr/>
        </p:nvPicPr>
        <p:blipFill>
          <a:blip r:embed="rId4">
            <a:alphaModFix/>
          </a:blip>
          <a:stretch>
            <a:fillRect/>
          </a:stretch>
        </p:blipFill>
        <p:spPr>
          <a:xfrm>
            <a:off x="-10879" y="1765202"/>
            <a:ext cx="9143999" cy="281924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Representation of Linked list</a:t>
            </a:r>
            <a:endParaRPr/>
          </a:p>
        </p:txBody>
      </p:sp>
      <p:sp>
        <p:nvSpPr>
          <p:cNvPr id="163" name="Google Shape;163;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Linked list can be visualized as a chain of nodes, where every node in the list points to the next node.</a:t>
            </a:r>
            <a:endParaRPr/>
          </a:p>
          <a:p>
            <a:pPr indent="-342900" lvl="0" marL="457200" rtl="0" algn="l">
              <a:spcBef>
                <a:spcPts val="0"/>
              </a:spcBef>
              <a:spcAft>
                <a:spcPts val="0"/>
              </a:spcAft>
              <a:buSzPts val="1800"/>
              <a:buChar char="●"/>
            </a:pPr>
            <a:r>
              <a:rPr lang="en"/>
              <a:t>The first node is called </a:t>
            </a:r>
            <a:r>
              <a:rPr b="1" lang="en"/>
              <a:t>head</a:t>
            </a:r>
            <a:r>
              <a:rPr lang="en"/>
              <a:t>. If the linked list is </a:t>
            </a:r>
            <a:r>
              <a:rPr b="1" lang="en"/>
              <a:t>empty</a:t>
            </a:r>
            <a:r>
              <a:rPr lang="en"/>
              <a:t>, then the value of head is </a:t>
            </a:r>
            <a:r>
              <a:rPr b="1" lang="en"/>
              <a:t>NULL</a:t>
            </a:r>
            <a:r>
              <a:rPr lang="en"/>
              <a:t>.</a:t>
            </a:r>
            <a:endParaRPr/>
          </a:p>
          <a:p>
            <a:pPr indent="-342900" lvl="0" marL="457200" rtl="0" algn="l">
              <a:spcBef>
                <a:spcPts val="0"/>
              </a:spcBef>
              <a:spcAft>
                <a:spcPts val="0"/>
              </a:spcAft>
              <a:buSzPts val="1800"/>
              <a:buChar char="●"/>
            </a:pPr>
            <a:r>
              <a:rPr lang="en"/>
              <a:t>To represent a linked list, we require a link element called first.</a:t>
            </a:r>
            <a:endParaRPr/>
          </a:p>
          <a:p>
            <a:pPr indent="-342900" lvl="0" marL="457200" rtl="0" algn="l">
              <a:spcBef>
                <a:spcPts val="0"/>
              </a:spcBef>
              <a:spcAft>
                <a:spcPts val="0"/>
              </a:spcAft>
              <a:buSzPts val="1800"/>
              <a:buChar char="●"/>
            </a:pPr>
            <a:r>
              <a:rPr lang="en"/>
              <a:t>Each node includes a data field and a link field called next.</a:t>
            </a:r>
            <a:endParaRPr/>
          </a:p>
          <a:p>
            <a:pPr indent="-342900" lvl="0" marL="457200" rtl="0" algn="l">
              <a:spcBef>
                <a:spcPts val="0"/>
              </a:spcBef>
              <a:spcAft>
                <a:spcPts val="0"/>
              </a:spcAft>
              <a:buSzPts val="1800"/>
              <a:buChar char="●"/>
            </a:pPr>
            <a:r>
              <a:rPr lang="en"/>
              <a:t>Each node is linked with its next node using the next field.</a:t>
            </a:r>
            <a:endParaRPr/>
          </a:p>
          <a:p>
            <a:pPr indent="-342900" lvl="0" marL="457200" rtl="0" algn="l">
              <a:spcBef>
                <a:spcPts val="0"/>
              </a:spcBef>
              <a:spcAft>
                <a:spcPts val="0"/>
              </a:spcAft>
              <a:buSzPts val="1800"/>
              <a:buChar char="●"/>
            </a:pPr>
            <a:r>
              <a:rPr lang="en"/>
              <a:t>The last node has NULL in its next field to mark the end of the list.</a:t>
            </a:r>
            <a:endParaRPr/>
          </a:p>
        </p:txBody>
      </p:sp>
      <p:pic>
        <p:nvPicPr>
          <p:cNvPr id="164" name="Google Shape;164;p29"/>
          <p:cNvPicPr preferRelativeResize="0"/>
          <p:nvPr/>
        </p:nvPicPr>
        <p:blipFill>
          <a:blip r:embed="rId3">
            <a:alphaModFix/>
          </a:blip>
          <a:stretch>
            <a:fillRect/>
          </a:stretch>
        </p:blipFill>
        <p:spPr>
          <a:xfrm>
            <a:off x="737500" y="3810000"/>
            <a:ext cx="7429500" cy="1333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Linked list as an ADT</a:t>
            </a:r>
            <a:endParaRPr/>
          </a:p>
        </p:txBody>
      </p:sp>
      <p:sp>
        <p:nvSpPr>
          <p:cNvPr id="170" name="Google Shape;170;p30"/>
          <p:cNvSpPr txBox="1"/>
          <p:nvPr>
            <p:ph idx="1" type="body"/>
          </p:nvPr>
        </p:nvSpPr>
        <p:spPr>
          <a:xfrm>
            <a:off x="831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 linked list L is a collection of nodes which has a link to the next node in the list and having the following operations:</a:t>
            </a:r>
            <a:endParaRPr/>
          </a:p>
          <a:p>
            <a:pPr indent="0" lvl="0" marL="0" rtl="0" algn="l">
              <a:spcBef>
                <a:spcPts val="1200"/>
              </a:spcBef>
              <a:spcAft>
                <a:spcPts val="0"/>
              </a:spcAft>
              <a:buNone/>
            </a:pPr>
            <a:r>
              <a:rPr b="1" lang="en"/>
              <a:t>INITIALIZE</a:t>
            </a:r>
            <a:r>
              <a:rPr lang="en"/>
              <a:t> - initialize an empty linked list</a:t>
            </a:r>
            <a:endParaRPr/>
          </a:p>
          <a:p>
            <a:pPr indent="0" lvl="0" marL="0" rtl="0" algn="l">
              <a:spcBef>
                <a:spcPts val="1200"/>
              </a:spcBef>
              <a:spcAft>
                <a:spcPts val="0"/>
              </a:spcAft>
              <a:buNone/>
            </a:pPr>
            <a:r>
              <a:rPr b="1" lang="en"/>
              <a:t>TRAVERSE</a:t>
            </a:r>
            <a:r>
              <a:rPr lang="en"/>
              <a:t> - traverse the linked list</a:t>
            </a:r>
            <a:endParaRPr/>
          </a:p>
          <a:p>
            <a:pPr indent="0" lvl="0" marL="0" rtl="0" algn="l">
              <a:spcBef>
                <a:spcPts val="1200"/>
              </a:spcBef>
              <a:spcAft>
                <a:spcPts val="0"/>
              </a:spcAft>
              <a:buNone/>
            </a:pPr>
            <a:r>
              <a:rPr b="1" lang="en"/>
              <a:t>SEARCH</a:t>
            </a:r>
            <a:r>
              <a:rPr lang="en"/>
              <a:t> - search for an item in linked list</a:t>
            </a:r>
            <a:endParaRPr/>
          </a:p>
          <a:p>
            <a:pPr indent="0" lvl="0" marL="0" rtl="0" algn="l">
              <a:spcBef>
                <a:spcPts val="1200"/>
              </a:spcBef>
              <a:spcAft>
                <a:spcPts val="1200"/>
              </a:spcAft>
              <a:buNone/>
            </a:pPr>
            <a:r>
              <a:rPr b="1" lang="en"/>
              <a:t>COUNT</a:t>
            </a:r>
            <a:r>
              <a:rPr lang="en"/>
              <a:t> - count the number of items in linked list</a:t>
            </a:r>
            <a:endParaRPr/>
          </a:p>
        </p:txBody>
      </p:sp>
      <p:sp>
        <p:nvSpPr>
          <p:cNvPr id="171" name="Google Shape;171;p30"/>
          <p:cNvSpPr txBox="1"/>
          <p:nvPr/>
        </p:nvSpPr>
        <p:spPr>
          <a:xfrm>
            <a:off x="5208050" y="1975475"/>
            <a:ext cx="3936000" cy="324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n" sz="1800">
                <a:solidFill>
                  <a:schemeClr val="dk2"/>
                </a:solidFill>
              </a:rPr>
              <a:t>CONCAT</a:t>
            </a:r>
            <a:r>
              <a:rPr lang="en" sz="1800">
                <a:solidFill>
                  <a:schemeClr val="dk2"/>
                </a:solidFill>
              </a:rPr>
              <a:t> - concatenation of two linked lists</a:t>
            </a:r>
            <a:endParaRPr sz="1800">
              <a:solidFill>
                <a:schemeClr val="dk2"/>
              </a:solidFill>
            </a:endParaRPr>
          </a:p>
          <a:p>
            <a:pPr indent="0" lvl="0" marL="0" rtl="0" algn="l">
              <a:lnSpc>
                <a:spcPct val="115000"/>
              </a:lnSpc>
              <a:spcBef>
                <a:spcPts val="1200"/>
              </a:spcBef>
              <a:spcAft>
                <a:spcPts val="0"/>
              </a:spcAft>
              <a:buClr>
                <a:schemeClr val="dk1"/>
              </a:buClr>
              <a:buSzPts val="1100"/>
              <a:buFont typeface="Arial"/>
              <a:buNone/>
            </a:pPr>
            <a:r>
              <a:rPr b="1" lang="en" sz="1800">
                <a:solidFill>
                  <a:schemeClr val="dk2"/>
                </a:solidFill>
              </a:rPr>
              <a:t>ADD</a:t>
            </a:r>
            <a:r>
              <a:rPr lang="en" sz="1800">
                <a:solidFill>
                  <a:schemeClr val="dk2"/>
                </a:solidFill>
              </a:rPr>
              <a:t> - add element into linked list ( start, end or specific position)</a:t>
            </a:r>
            <a:endParaRPr sz="1800">
              <a:solidFill>
                <a:schemeClr val="dk2"/>
              </a:solidFill>
            </a:endParaRPr>
          </a:p>
          <a:p>
            <a:pPr indent="0" lvl="0" marL="0" rtl="0" algn="l">
              <a:lnSpc>
                <a:spcPct val="115000"/>
              </a:lnSpc>
              <a:spcBef>
                <a:spcPts val="1200"/>
              </a:spcBef>
              <a:spcAft>
                <a:spcPts val="0"/>
              </a:spcAft>
              <a:buClr>
                <a:schemeClr val="dk1"/>
              </a:buClr>
              <a:buSzPts val="1100"/>
              <a:buFont typeface="Arial"/>
              <a:buNone/>
            </a:pPr>
            <a:r>
              <a:rPr b="1" lang="en" sz="1800">
                <a:solidFill>
                  <a:schemeClr val="dk2"/>
                </a:solidFill>
              </a:rPr>
              <a:t>DELETE</a:t>
            </a:r>
            <a:r>
              <a:rPr lang="en" sz="1800">
                <a:solidFill>
                  <a:schemeClr val="dk2"/>
                </a:solidFill>
              </a:rPr>
              <a:t> - remove item from linked list (start, end or specific position)</a:t>
            </a:r>
            <a:endParaRPr sz="1800">
              <a:solidFill>
                <a:schemeClr val="dk2"/>
              </a:solidFill>
            </a:endParaRPr>
          </a:p>
          <a:p>
            <a:pPr indent="0" lvl="0" marL="0" rtl="0" algn="l">
              <a:lnSpc>
                <a:spcPct val="115000"/>
              </a:lnSpc>
              <a:spcBef>
                <a:spcPts val="1200"/>
              </a:spcBef>
              <a:spcAft>
                <a:spcPts val="0"/>
              </a:spcAft>
              <a:buClr>
                <a:schemeClr val="dk1"/>
              </a:buClr>
              <a:buSzPts val="1100"/>
              <a:buFont typeface="Arial"/>
              <a:buNone/>
            </a:pPr>
            <a:r>
              <a:rPr b="1" lang="en" sz="1800">
                <a:solidFill>
                  <a:schemeClr val="dk2"/>
                </a:solidFill>
              </a:rPr>
              <a:t>UPDATE</a:t>
            </a:r>
            <a:r>
              <a:rPr lang="en" sz="1800">
                <a:solidFill>
                  <a:schemeClr val="dk2"/>
                </a:solidFill>
              </a:rPr>
              <a:t> - update specific element</a:t>
            </a:r>
            <a:endParaRPr sz="1800">
              <a:solidFill>
                <a:schemeClr val="dk2"/>
              </a:solidFill>
            </a:endParaRPr>
          </a:p>
          <a:p>
            <a:pPr indent="0" lvl="0" marL="0" rtl="0" algn="l">
              <a:spcBef>
                <a:spcPts val="120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Creating linked list</a:t>
            </a:r>
            <a:endParaRPr/>
          </a:p>
        </p:txBody>
      </p:sp>
      <p:sp>
        <p:nvSpPr>
          <p:cNvPr id="177" name="Google Shape;177;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Linked list is created using Dynamic Memory Allocation</a:t>
            </a:r>
            <a:endParaRPr/>
          </a:p>
          <a:p>
            <a:pPr indent="-342900" lvl="0" marL="457200" rtl="0" algn="l">
              <a:spcBef>
                <a:spcPts val="0"/>
              </a:spcBef>
              <a:spcAft>
                <a:spcPts val="0"/>
              </a:spcAft>
              <a:buSzPts val="1800"/>
              <a:buChar char="●"/>
            </a:pPr>
            <a:r>
              <a:rPr lang="en"/>
              <a:t>First define linked list node as a structure:</a:t>
            </a:r>
            <a:endParaRPr/>
          </a:p>
          <a:p>
            <a:pPr indent="0" lvl="0" marL="0" rtl="0" algn="l">
              <a:spcBef>
                <a:spcPts val="1200"/>
              </a:spcBef>
              <a:spcAft>
                <a:spcPts val="1200"/>
              </a:spcAft>
              <a:buNone/>
            </a:pPr>
            <a:r>
              <a:t/>
            </a:r>
            <a:endParaRPr/>
          </a:p>
        </p:txBody>
      </p:sp>
      <p:pic>
        <p:nvPicPr>
          <p:cNvPr id="178" name="Google Shape;178;p31"/>
          <p:cNvPicPr preferRelativeResize="0"/>
          <p:nvPr/>
        </p:nvPicPr>
        <p:blipFill>
          <a:blip r:embed="rId3">
            <a:alphaModFix/>
          </a:blip>
          <a:stretch>
            <a:fillRect/>
          </a:stretch>
        </p:blipFill>
        <p:spPr>
          <a:xfrm>
            <a:off x="980100" y="2065500"/>
            <a:ext cx="2095500" cy="17907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Creating linked list[2]</a:t>
            </a:r>
            <a:endParaRPr/>
          </a:p>
        </p:txBody>
      </p:sp>
      <p:sp>
        <p:nvSpPr>
          <p:cNvPr id="184" name="Google Shape;184;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Then create function is defined as:</a:t>
            </a:r>
            <a:endParaRPr/>
          </a:p>
        </p:txBody>
      </p:sp>
      <p:pic>
        <p:nvPicPr>
          <p:cNvPr id="185" name="Google Shape;185;p32"/>
          <p:cNvPicPr preferRelativeResize="0"/>
          <p:nvPr/>
        </p:nvPicPr>
        <p:blipFill>
          <a:blip r:embed="rId3">
            <a:alphaModFix/>
          </a:blip>
          <a:stretch>
            <a:fillRect/>
          </a:stretch>
        </p:blipFill>
        <p:spPr>
          <a:xfrm>
            <a:off x="5488553" y="0"/>
            <a:ext cx="3655444" cy="514350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Traversing linked list</a:t>
            </a:r>
            <a:endParaRPr/>
          </a:p>
        </p:txBody>
      </p:sp>
      <p:sp>
        <p:nvSpPr>
          <p:cNvPr id="191" name="Google Shape;191;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Traversing of linked list always starts with first node.</a:t>
            </a:r>
            <a:endParaRPr/>
          </a:p>
          <a:p>
            <a:pPr indent="-342900" lvl="0" marL="457200" rtl="0" algn="l">
              <a:spcBef>
                <a:spcPts val="0"/>
              </a:spcBef>
              <a:spcAft>
                <a:spcPts val="0"/>
              </a:spcAft>
              <a:buSzPts val="1800"/>
              <a:buChar char="●"/>
            </a:pPr>
            <a:r>
              <a:rPr lang="en"/>
              <a:t>Initially pointer type variable is assigned to first node ie, HEAD.</a:t>
            </a:r>
            <a:br>
              <a:rPr lang="en"/>
            </a:br>
            <a:r>
              <a:rPr lang="en"/>
              <a:t>P = HEAD;</a:t>
            </a:r>
            <a:endParaRPr/>
          </a:p>
          <a:p>
            <a:pPr indent="-342900" lvl="0" marL="457200" rtl="0" algn="l">
              <a:spcBef>
                <a:spcPts val="0"/>
              </a:spcBef>
              <a:spcAft>
                <a:spcPts val="0"/>
              </a:spcAft>
              <a:buSzPts val="1800"/>
              <a:buChar char="●"/>
            </a:pPr>
            <a:r>
              <a:rPr lang="en"/>
              <a:t>To travel the list in the forward direction, pointer is travelled through all the nodes.</a:t>
            </a:r>
            <a:endParaRPr/>
          </a:p>
          <a:p>
            <a:pPr indent="-342900" lvl="0" marL="457200" rtl="0" algn="l">
              <a:spcBef>
                <a:spcPts val="0"/>
              </a:spcBef>
              <a:spcAft>
                <a:spcPts val="0"/>
              </a:spcAft>
              <a:buSzPts val="1800"/>
              <a:buChar char="●"/>
            </a:pPr>
            <a:r>
              <a:rPr lang="en"/>
              <a:t>Stop at the node where the value of next is NULL.</a:t>
            </a:r>
            <a:endParaRPr/>
          </a:p>
          <a:p>
            <a:pPr indent="0" lvl="0" marL="457200" rtl="0" algn="l">
              <a:spcBef>
                <a:spcPts val="1200"/>
              </a:spcBef>
              <a:spcAft>
                <a:spcPts val="1200"/>
              </a:spcAft>
              <a:buNone/>
            </a:pPr>
            <a:r>
              <a:rPr lang="en"/>
              <a:t>P = HEAD</a:t>
            </a:r>
            <a:br>
              <a:rPr lang="en"/>
            </a:br>
            <a:r>
              <a:rPr lang="en"/>
              <a:t>while(p!=NULL)</a:t>
            </a:r>
            <a:br>
              <a:rPr lang="en"/>
            </a:br>
            <a:r>
              <a:rPr lang="en"/>
              <a:t>	P = p-&gt;next;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Counting the number of nodes</a:t>
            </a:r>
            <a:endParaRPr/>
          </a:p>
        </p:txBody>
      </p:sp>
      <p:sp>
        <p:nvSpPr>
          <p:cNvPr id="197" name="Google Shape;197;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Start by taking a variable count and initialize to 0.</a:t>
            </a:r>
            <a:endParaRPr/>
          </a:p>
          <a:p>
            <a:pPr indent="-342900" lvl="0" marL="457200" rtl="0" algn="l">
              <a:spcBef>
                <a:spcPts val="0"/>
              </a:spcBef>
              <a:spcAft>
                <a:spcPts val="0"/>
              </a:spcAft>
              <a:buSzPts val="1800"/>
              <a:buChar char="●"/>
            </a:pPr>
            <a:r>
              <a:rPr lang="en"/>
              <a:t>Traverse the linked list from strat node to last node and for each node, increment count.</a:t>
            </a:r>
            <a:endParaRPr/>
          </a:p>
        </p:txBody>
      </p:sp>
      <p:pic>
        <p:nvPicPr>
          <p:cNvPr id="198" name="Google Shape;198;p34"/>
          <p:cNvPicPr preferRelativeResize="0"/>
          <p:nvPr/>
        </p:nvPicPr>
        <p:blipFill>
          <a:blip r:embed="rId3">
            <a:alphaModFix/>
          </a:blip>
          <a:stretch>
            <a:fillRect/>
          </a:stretch>
        </p:blipFill>
        <p:spPr>
          <a:xfrm>
            <a:off x="2826275" y="2095500"/>
            <a:ext cx="2533650" cy="3048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Printing all nodes</a:t>
            </a:r>
            <a:endParaRPr/>
          </a:p>
        </p:txBody>
      </p:sp>
      <p:sp>
        <p:nvSpPr>
          <p:cNvPr id="204" name="Google Shape;204;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Traverse the linked list from start to last node and print each node.</a:t>
            </a:r>
            <a:endParaRPr/>
          </a:p>
          <a:p>
            <a:pPr indent="0" lvl="0" marL="0" rtl="0" algn="l">
              <a:spcBef>
                <a:spcPts val="1200"/>
              </a:spcBef>
              <a:spcAft>
                <a:spcPts val="0"/>
              </a:spcAft>
              <a:buNone/>
            </a:pPr>
            <a:r>
              <a:rPr lang="en"/>
              <a:t>Void print(node *p)</a:t>
            </a:r>
            <a:br>
              <a:rPr lang="en"/>
            </a:br>
            <a:r>
              <a:rPr lang="en"/>
              <a:t>{</a:t>
            </a:r>
            <a:br>
              <a:rPr lang="en"/>
            </a:br>
            <a:r>
              <a:rPr lang="en"/>
              <a:t>	while(p!=NULL)</a:t>
            </a:r>
            <a:br>
              <a:rPr lang="en"/>
            </a:br>
            <a:r>
              <a:rPr lang="en"/>
              <a:t>	{</a:t>
            </a:r>
            <a:br>
              <a:rPr lang="en"/>
            </a:br>
            <a:r>
              <a:rPr lang="en"/>
              <a:t>		printf(“%d”,p-&gt;data);</a:t>
            </a:r>
            <a:br>
              <a:rPr lang="en"/>
            </a:br>
            <a:r>
              <a:rPr lang="en"/>
              <a:t>		p=p-&gt;next;</a:t>
            </a:r>
            <a:br>
              <a:rPr lang="en"/>
            </a:br>
            <a:r>
              <a:rPr lang="en"/>
              <a:t>	}</a:t>
            </a:r>
            <a:endParaRPr/>
          </a:p>
          <a:p>
            <a:pPr indent="0" lvl="0" marL="0" rtl="0" algn="l">
              <a:spcBef>
                <a:spcPts val="1200"/>
              </a:spcBef>
              <a:spcAft>
                <a:spcPts val="1200"/>
              </a:spcAft>
              <a:buNone/>
            </a:pPr>
            <a:r>
              <a:rPr lang="en"/>
              <a: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Search element</a:t>
            </a:r>
            <a:endParaRPr/>
          </a:p>
        </p:txBody>
      </p:sp>
      <p:sp>
        <p:nvSpPr>
          <p:cNvPr id="210" name="Google Shape;210;p36"/>
          <p:cNvSpPr txBox="1"/>
          <p:nvPr>
            <p:ph idx="1" type="body"/>
          </p:nvPr>
        </p:nvSpPr>
        <p:spPr>
          <a:xfrm>
            <a:off x="311700" y="1152475"/>
            <a:ext cx="56454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 order to search an element in linked list, we start traversing from the first node.</a:t>
            </a:r>
            <a:endParaRPr/>
          </a:p>
          <a:p>
            <a:pPr indent="-342900" lvl="0" marL="457200" rtl="0" algn="l">
              <a:spcBef>
                <a:spcPts val="0"/>
              </a:spcBef>
              <a:spcAft>
                <a:spcPts val="0"/>
              </a:spcAft>
              <a:buSzPts val="1800"/>
              <a:buChar char="●"/>
            </a:pPr>
            <a:r>
              <a:rPr lang="en"/>
              <a:t>Traversal ends with success if element is found, if not it ends with failure.</a:t>
            </a:r>
            <a:endParaRPr/>
          </a:p>
          <a:p>
            <a:pPr indent="0" lvl="0" marL="0" rtl="0" algn="l">
              <a:spcBef>
                <a:spcPts val="1200"/>
              </a:spcBef>
              <a:spcAft>
                <a:spcPts val="1200"/>
              </a:spcAft>
              <a:buNone/>
            </a:pPr>
            <a:r>
              <a:t/>
            </a:r>
            <a:endParaRPr/>
          </a:p>
        </p:txBody>
      </p:sp>
      <p:pic>
        <p:nvPicPr>
          <p:cNvPr id="211" name="Google Shape;211;p36"/>
          <p:cNvPicPr preferRelativeResize="0"/>
          <p:nvPr/>
        </p:nvPicPr>
        <p:blipFill>
          <a:blip r:embed="rId3">
            <a:alphaModFix/>
          </a:blip>
          <a:stretch>
            <a:fillRect/>
          </a:stretch>
        </p:blipFill>
        <p:spPr>
          <a:xfrm>
            <a:off x="5957050" y="879275"/>
            <a:ext cx="3186950" cy="42642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Concatenating two linked lists</a:t>
            </a:r>
            <a:endParaRPr/>
          </a:p>
        </p:txBody>
      </p:sp>
      <p:sp>
        <p:nvSpPr>
          <p:cNvPr id="217" name="Google Shape;217;p3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1018"/>
              <a:buNone/>
            </a:pPr>
            <a:r>
              <a:rPr lang="en" sz="1965"/>
              <a:t>Step1: Start</a:t>
            </a:r>
            <a:br>
              <a:rPr lang="en" sz="1965"/>
            </a:br>
            <a:r>
              <a:rPr lang="en" sz="1965"/>
              <a:t>Step2: Assume that the two linked list has two different heads as- HEAD1 &amp; HEAD2</a:t>
            </a:r>
            <a:endParaRPr sz="1965"/>
          </a:p>
          <a:p>
            <a:pPr indent="0" lvl="0" marL="0" rtl="0" algn="l">
              <a:lnSpc>
                <a:spcPct val="105000"/>
              </a:lnSpc>
              <a:spcBef>
                <a:spcPts val="1200"/>
              </a:spcBef>
              <a:spcAft>
                <a:spcPts val="0"/>
              </a:spcAft>
              <a:buSzPts val="1018"/>
              <a:buNone/>
            </a:pPr>
            <a:r>
              <a:rPr lang="en" sz="1965"/>
              <a:t>Step 3: If the first linked list is empty, return HEAD2,</a:t>
            </a:r>
            <a:br>
              <a:rPr lang="en" sz="1965"/>
            </a:br>
            <a:r>
              <a:rPr lang="en" sz="1965"/>
              <a:t>Step 4: If the second linked list is empty, return HEAD1</a:t>
            </a:r>
            <a:endParaRPr sz="1965"/>
          </a:p>
          <a:p>
            <a:pPr indent="0" lvl="0" marL="0" rtl="0" algn="l">
              <a:lnSpc>
                <a:spcPct val="105000"/>
              </a:lnSpc>
              <a:spcBef>
                <a:spcPts val="1200"/>
              </a:spcBef>
              <a:spcAft>
                <a:spcPts val="0"/>
              </a:spcAft>
              <a:buSzPts val="1018"/>
              <a:buNone/>
            </a:pPr>
            <a:r>
              <a:rPr lang="en" sz="1965"/>
              <a:t>Step 5: Store the address of HEAD1 in pointer variable say P.</a:t>
            </a:r>
            <a:endParaRPr sz="1965"/>
          </a:p>
          <a:p>
            <a:pPr indent="0" lvl="0" marL="0" rtl="0" algn="l">
              <a:lnSpc>
                <a:spcPct val="105000"/>
              </a:lnSpc>
              <a:spcBef>
                <a:spcPts val="1200"/>
              </a:spcBef>
              <a:spcAft>
                <a:spcPts val="0"/>
              </a:spcAft>
              <a:buSzPts val="1018"/>
              <a:buNone/>
            </a:pPr>
            <a:r>
              <a:rPr lang="en" sz="1965"/>
              <a:t>Step 6: Start traversing first linked list using HEAD1 and go to the last node whose next field is NULL and replace that NULL with HEAD2.</a:t>
            </a:r>
            <a:endParaRPr sz="1965"/>
          </a:p>
          <a:p>
            <a:pPr indent="0" lvl="0" marL="0" rtl="0" algn="l">
              <a:lnSpc>
                <a:spcPct val="105000"/>
              </a:lnSpc>
              <a:spcBef>
                <a:spcPts val="1200"/>
              </a:spcBef>
              <a:spcAft>
                <a:spcPts val="0"/>
              </a:spcAft>
              <a:buSzPts val="1018"/>
              <a:buNone/>
            </a:pPr>
            <a:r>
              <a:rPr lang="en" sz="1965"/>
              <a:t>Step 7: Return HEAD1.</a:t>
            </a:r>
            <a:endParaRPr sz="1965"/>
          </a:p>
          <a:p>
            <a:pPr indent="0" lvl="0" marL="0" rtl="0" algn="l">
              <a:lnSpc>
                <a:spcPct val="105000"/>
              </a:lnSpc>
              <a:spcBef>
                <a:spcPts val="1200"/>
              </a:spcBef>
              <a:spcAft>
                <a:spcPts val="1200"/>
              </a:spcAft>
              <a:buSzPts val="1018"/>
              <a:buNone/>
            </a:pPr>
            <a:r>
              <a:rPr lang="en" sz="1965"/>
              <a:t>Step 8: Stop</a:t>
            </a:r>
            <a:endParaRPr sz="1965"/>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a:t>
            </a:r>
            <a:r>
              <a:rPr lang="en"/>
              <a:t> of Linked List</a:t>
            </a:r>
            <a:endParaRPr/>
          </a:p>
        </p:txBody>
      </p:sp>
      <p:sp>
        <p:nvSpPr>
          <p:cNvPr id="223" name="Google Shape;223;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Singly Linked list</a:t>
            </a:r>
            <a:endParaRPr/>
          </a:p>
          <a:p>
            <a:pPr indent="-342900" lvl="0" marL="457200" rtl="0" algn="l">
              <a:spcBef>
                <a:spcPts val="0"/>
              </a:spcBef>
              <a:spcAft>
                <a:spcPts val="0"/>
              </a:spcAft>
              <a:buSzPts val="1800"/>
              <a:buAutoNum type="arabicPeriod"/>
            </a:pPr>
            <a:r>
              <a:rPr lang="en"/>
              <a:t>Doubly linked list</a:t>
            </a:r>
            <a:endParaRPr/>
          </a:p>
          <a:p>
            <a:pPr indent="-342900" lvl="0" marL="457200" rtl="0" algn="l">
              <a:spcBef>
                <a:spcPts val="0"/>
              </a:spcBef>
              <a:spcAft>
                <a:spcPts val="0"/>
              </a:spcAft>
              <a:buSzPts val="1800"/>
              <a:buAutoNum type="arabicPeriod"/>
            </a:pPr>
            <a:r>
              <a:rPr lang="en"/>
              <a:t>Circular Linked list</a:t>
            </a:r>
            <a:endParaRPr/>
          </a:p>
          <a:p>
            <a:pPr indent="-317500" lvl="1" marL="914400" rtl="0" algn="l">
              <a:spcBef>
                <a:spcPts val="0"/>
              </a:spcBef>
              <a:spcAft>
                <a:spcPts val="0"/>
              </a:spcAft>
              <a:buSzPts val="1400"/>
              <a:buAutoNum type="alphaLcPeriod"/>
            </a:pPr>
            <a:r>
              <a:rPr lang="en"/>
              <a:t>Singly </a:t>
            </a:r>
            <a:r>
              <a:rPr lang="en"/>
              <a:t>circular</a:t>
            </a:r>
            <a:r>
              <a:rPr lang="en"/>
              <a:t> linked list</a:t>
            </a:r>
            <a:endParaRPr/>
          </a:p>
          <a:p>
            <a:pPr indent="-317500" lvl="1" marL="914400" rtl="0" algn="l">
              <a:spcBef>
                <a:spcPts val="0"/>
              </a:spcBef>
              <a:spcAft>
                <a:spcPts val="0"/>
              </a:spcAft>
              <a:buSzPts val="1400"/>
              <a:buAutoNum type="alphaLcPeriod"/>
            </a:pPr>
            <a:r>
              <a:rPr lang="en"/>
              <a:t>Doubly circular linked list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Singly Linked list</a:t>
            </a:r>
            <a:endParaRPr/>
          </a:p>
        </p:txBody>
      </p:sp>
      <p:sp>
        <p:nvSpPr>
          <p:cNvPr id="229" name="Google Shape;229;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a:t>
            </a:r>
            <a:r>
              <a:rPr lang="en"/>
              <a:t>individual</a:t>
            </a:r>
            <a:r>
              <a:rPr lang="en"/>
              <a:t> element is termed “Node”.</a:t>
            </a:r>
            <a:endParaRPr/>
          </a:p>
          <a:p>
            <a:pPr indent="-342900" lvl="0" marL="457200" rtl="0" algn="l">
              <a:spcBef>
                <a:spcPts val="0"/>
              </a:spcBef>
              <a:spcAft>
                <a:spcPts val="0"/>
              </a:spcAft>
              <a:buSzPts val="1800"/>
              <a:buChar char="●"/>
            </a:pPr>
            <a:r>
              <a:rPr lang="en"/>
              <a:t>Every Node consists of two fields, data &amp; next.</a:t>
            </a:r>
            <a:endParaRPr/>
          </a:p>
          <a:p>
            <a:pPr indent="-342900" lvl="0" marL="457200" rtl="0" algn="l">
              <a:spcBef>
                <a:spcPts val="0"/>
              </a:spcBef>
              <a:spcAft>
                <a:spcPts val="0"/>
              </a:spcAft>
              <a:buSzPts val="1800"/>
              <a:buChar char="●"/>
            </a:pPr>
            <a:r>
              <a:rPr lang="en"/>
              <a:t>The data field is used to store actual value of that node while the next field is used to store the address of the next node in the sequence.</a:t>
            </a:r>
            <a:endParaRPr/>
          </a:p>
          <a:p>
            <a:pPr indent="-342900" lvl="0" marL="457200" rtl="0" algn="l">
              <a:spcBef>
                <a:spcPts val="0"/>
              </a:spcBef>
              <a:spcAft>
                <a:spcPts val="0"/>
              </a:spcAft>
              <a:buSzPts val="1800"/>
              <a:buChar char="●"/>
            </a:pPr>
            <a:r>
              <a:rPr lang="en"/>
              <a:t>Only one link is present in each node. The link of the last node has a NULL pointer.</a:t>
            </a:r>
            <a:endParaRPr/>
          </a:p>
          <a:p>
            <a:pPr indent="0" lvl="0" marL="0" rtl="0" algn="l">
              <a:spcBef>
                <a:spcPts val="1200"/>
              </a:spcBef>
              <a:spcAft>
                <a:spcPts val="1200"/>
              </a:spcAft>
              <a:buNone/>
            </a:pPr>
            <a:r>
              <a:t/>
            </a:r>
            <a:endParaRPr/>
          </a:p>
        </p:txBody>
      </p:sp>
      <p:pic>
        <p:nvPicPr>
          <p:cNvPr id="230" name="Google Shape;230;p39"/>
          <p:cNvPicPr preferRelativeResize="0"/>
          <p:nvPr/>
        </p:nvPicPr>
        <p:blipFill>
          <a:blip r:embed="rId3">
            <a:alphaModFix/>
          </a:blip>
          <a:stretch>
            <a:fillRect/>
          </a:stretch>
        </p:blipFill>
        <p:spPr>
          <a:xfrm>
            <a:off x="0" y="4078909"/>
            <a:ext cx="9144000" cy="106458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Representation of Singly linked list</a:t>
            </a:r>
            <a:endParaRPr/>
          </a:p>
        </p:txBody>
      </p:sp>
      <p:sp>
        <p:nvSpPr>
          <p:cNvPr id="236" name="Google Shape;236;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We can create a structure for the representation of singly linked list where each node has two members - the data item and the address of next node.</a:t>
            </a:r>
            <a:endParaRPr/>
          </a:p>
        </p:txBody>
      </p:sp>
      <p:pic>
        <p:nvPicPr>
          <p:cNvPr id="237" name="Google Shape;237;p40"/>
          <p:cNvPicPr preferRelativeResize="0"/>
          <p:nvPr/>
        </p:nvPicPr>
        <p:blipFill>
          <a:blip r:embed="rId3">
            <a:alphaModFix/>
          </a:blip>
          <a:stretch>
            <a:fillRect/>
          </a:stretch>
        </p:blipFill>
        <p:spPr>
          <a:xfrm>
            <a:off x="634250" y="2031050"/>
            <a:ext cx="7696200" cy="29908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Operation of Singly linked list</a:t>
            </a:r>
            <a:endParaRPr/>
          </a:p>
        </p:txBody>
      </p:sp>
      <p:sp>
        <p:nvSpPr>
          <p:cNvPr id="243" name="Google Shape;243;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Creation of singly linked list - Use malloc</a:t>
            </a:r>
            <a:endParaRPr/>
          </a:p>
          <a:p>
            <a:pPr indent="-342900" lvl="0" marL="457200" rtl="0" algn="l">
              <a:spcBef>
                <a:spcPts val="0"/>
              </a:spcBef>
              <a:spcAft>
                <a:spcPts val="0"/>
              </a:spcAft>
              <a:buSzPts val="1800"/>
              <a:buChar char="●"/>
            </a:pPr>
            <a:r>
              <a:rPr lang="en"/>
              <a:t>After creation of the node, store the new item in the node using pointer.</a:t>
            </a:r>
            <a:br>
              <a:rPr lang="en"/>
            </a:br>
            <a:r>
              <a:rPr lang="en"/>
              <a:t>Node *p</a:t>
            </a:r>
            <a:endParaRPr/>
          </a:p>
          <a:p>
            <a:pPr indent="0" lvl="0" marL="457200" rtl="0" algn="l">
              <a:spcBef>
                <a:spcPts val="1200"/>
              </a:spcBef>
              <a:spcAft>
                <a:spcPts val="0"/>
              </a:spcAft>
              <a:buNone/>
            </a:pPr>
            <a:r>
              <a:rPr lang="en"/>
              <a:t>P = (Node*)malloc(sizeof(Node));</a:t>
            </a:r>
            <a:endParaRPr/>
          </a:p>
          <a:p>
            <a:pPr indent="0" lvl="0" marL="457200" rtl="0" algn="l">
              <a:spcBef>
                <a:spcPts val="1200"/>
              </a:spcBef>
              <a:spcAft>
                <a:spcPts val="0"/>
              </a:spcAft>
              <a:buNone/>
            </a:pPr>
            <a:r>
              <a:rPr lang="en"/>
              <a:t>P-&gt;data = 501;</a:t>
            </a:r>
            <a:endParaRPr/>
          </a:p>
          <a:p>
            <a:pPr indent="0" lvl="0" marL="457200" rtl="0" algn="l">
              <a:spcBef>
                <a:spcPts val="1200"/>
              </a:spcBef>
              <a:spcAft>
                <a:spcPts val="1200"/>
              </a:spcAft>
              <a:buNone/>
            </a:pPr>
            <a:r>
              <a:rPr lang="en"/>
              <a:t>p-&gt;next = NULL;</a:t>
            </a:r>
            <a:endParaRPr/>
          </a:p>
        </p:txBody>
      </p:sp>
      <p:pic>
        <p:nvPicPr>
          <p:cNvPr id="244" name="Google Shape;244;p41"/>
          <p:cNvPicPr preferRelativeResize="0"/>
          <p:nvPr/>
        </p:nvPicPr>
        <p:blipFill>
          <a:blip r:embed="rId3">
            <a:alphaModFix/>
          </a:blip>
          <a:stretch>
            <a:fillRect/>
          </a:stretch>
        </p:blipFill>
        <p:spPr>
          <a:xfrm>
            <a:off x="4239200" y="1849550"/>
            <a:ext cx="1879200" cy="19946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Operation of Singly linked list[2]</a:t>
            </a:r>
            <a:endParaRPr/>
          </a:p>
        </p:txBody>
      </p:sp>
      <p:sp>
        <p:nvSpPr>
          <p:cNvPr id="250" name="Google Shape;250;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Inserting nodes</a:t>
            </a:r>
            <a:endParaRPr/>
          </a:p>
          <a:p>
            <a:pPr indent="-342900" lvl="0" marL="457200" rtl="0" algn="l">
              <a:spcBef>
                <a:spcPts val="1200"/>
              </a:spcBef>
              <a:spcAft>
                <a:spcPts val="0"/>
              </a:spcAft>
              <a:buSzPts val="1800"/>
              <a:buChar char="●"/>
            </a:pPr>
            <a:r>
              <a:rPr lang="en"/>
              <a:t>To insert an element or a node in a linked list, the following steps are done:</a:t>
            </a:r>
            <a:endParaRPr/>
          </a:p>
          <a:p>
            <a:pPr indent="-317500" lvl="1" marL="1371600" rtl="0" algn="l">
              <a:spcBef>
                <a:spcPts val="0"/>
              </a:spcBef>
              <a:spcAft>
                <a:spcPts val="0"/>
              </a:spcAft>
              <a:buSzPts val="1400"/>
              <a:buChar char="○"/>
            </a:pPr>
            <a:r>
              <a:rPr lang="en"/>
              <a:t>Allocate a node</a:t>
            </a:r>
            <a:endParaRPr/>
          </a:p>
          <a:p>
            <a:pPr indent="-317500" lvl="1" marL="1371600" rtl="0" algn="l">
              <a:spcBef>
                <a:spcPts val="0"/>
              </a:spcBef>
              <a:spcAft>
                <a:spcPts val="0"/>
              </a:spcAft>
              <a:buSzPts val="1400"/>
              <a:buChar char="○"/>
            </a:pPr>
            <a:r>
              <a:rPr lang="en"/>
              <a:t>Assign a data into the data field of the node</a:t>
            </a:r>
            <a:endParaRPr/>
          </a:p>
          <a:p>
            <a:pPr indent="-317500" lvl="1" marL="1371600" rtl="0" algn="l">
              <a:spcBef>
                <a:spcPts val="0"/>
              </a:spcBef>
              <a:spcAft>
                <a:spcPts val="0"/>
              </a:spcAft>
              <a:buSzPts val="1400"/>
              <a:buChar char="○"/>
            </a:pPr>
            <a:r>
              <a:rPr lang="en"/>
              <a:t>Adjust the pointer</a:t>
            </a:r>
            <a:endParaRPr/>
          </a:p>
          <a:p>
            <a:pPr indent="-342900" lvl="0" marL="914400" rtl="0" algn="l">
              <a:spcBef>
                <a:spcPts val="0"/>
              </a:spcBef>
              <a:spcAft>
                <a:spcPts val="0"/>
              </a:spcAft>
              <a:buSzPts val="1800"/>
              <a:buChar char="●"/>
            </a:pPr>
            <a:r>
              <a:rPr lang="en"/>
              <a:t>Insertion can be done in 3 ways:</a:t>
            </a:r>
            <a:endParaRPr/>
          </a:p>
          <a:p>
            <a:pPr indent="-317500" lvl="1" marL="1371600" rtl="0" algn="l">
              <a:spcBef>
                <a:spcPts val="0"/>
              </a:spcBef>
              <a:spcAft>
                <a:spcPts val="0"/>
              </a:spcAft>
              <a:buSzPts val="1400"/>
              <a:buChar char="○"/>
            </a:pPr>
            <a:r>
              <a:rPr lang="en"/>
              <a:t>Inserting at </a:t>
            </a:r>
            <a:r>
              <a:rPr lang="en"/>
              <a:t>beginning</a:t>
            </a:r>
            <a:r>
              <a:rPr lang="en"/>
              <a:t> of the list</a:t>
            </a:r>
            <a:endParaRPr/>
          </a:p>
          <a:p>
            <a:pPr indent="-317500" lvl="1" marL="1371600" rtl="0" algn="l">
              <a:spcBef>
                <a:spcPts val="0"/>
              </a:spcBef>
              <a:spcAft>
                <a:spcPts val="0"/>
              </a:spcAft>
              <a:buSzPts val="1400"/>
              <a:buChar char="○"/>
            </a:pPr>
            <a:r>
              <a:rPr lang="en"/>
              <a:t>Inserting at the end of the list</a:t>
            </a:r>
            <a:endParaRPr/>
          </a:p>
          <a:p>
            <a:pPr indent="-317500" lvl="1" marL="1371600" rtl="0" algn="l">
              <a:spcBef>
                <a:spcPts val="0"/>
              </a:spcBef>
              <a:spcAft>
                <a:spcPts val="0"/>
              </a:spcAft>
              <a:buSzPts val="1400"/>
              <a:buChar char="○"/>
            </a:pPr>
            <a:r>
              <a:rPr lang="en"/>
              <a:t>Inserting at specific position in the list.</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Operation of Singly linked list[2]</a:t>
            </a:r>
            <a:endParaRPr/>
          </a:p>
        </p:txBody>
      </p:sp>
      <p:sp>
        <p:nvSpPr>
          <p:cNvPr id="256" name="Google Shape;256;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Inserting nodes at beginning of the linked list</a:t>
            </a:r>
            <a:endParaRPr/>
          </a:p>
          <a:p>
            <a:pPr indent="-342900" lvl="0" marL="457200" rtl="0" algn="l">
              <a:spcBef>
                <a:spcPts val="1200"/>
              </a:spcBef>
              <a:spcAft>
                <a:spcPts val="0"/>
              </a:spcAft>
              <a:buSzPts val="1800"/>
              <a:buChar char="●"/>
            </a:pPr>
            <a:r>
              <a:rPr lang="en"/>
              <a:t>To insert an element or a node at the </a:t>
            </a:r>
            <a:r>
              <a:rPr lang="en"/>
              <a:t>beginning</a:t>
            </a:r>
            <a:r>
              <a:rPr lang="en"/>
              <a:t> of the linked list, the following steps are done:</a:t>
            </a:r>
            <a:endParaRPr/>
          </a:p>
          <a:p>
            <a:pPr indent="-317500" lvl="1" marL="1371600" rtl="0" algn="l">
              <a:spcBef>
                <a:spcPts val="0"/>
              </a:spcBef>
              <a:spcAft>
                <a:spcPts val="0"/>
              </a:spcAft>
              <a:buSzPts val="1400"/>
              <a:buChar char="○"/>
            </a:pPr>
            <a:r>
              <a:rPr lang="en"/>
              <a:t>Create a new node (newNode) with given value</a:t>
            </a:r>
            <a:endParaRPr/>
          </a:p>
          <a:p>
            <a:pPr indent="-317500" lvl="1" marL="1371600" rtl="0" algn="l">
              <a:spcBef>
                <a:spcPts val="0"/>
              </a:spcBef>
              <a:spcAft>
                <a:spcPts val="0"/>
              </a:spcAft>
              <a:buSzPts val="1400"/>
              <a:buChar char="○"/>
            </a:pPr>
            <a:r>
              <a:rPr lang="en"/>
              <a:t>Check whether the list is empty (HEAD == NULL)</a:t>
            </a:r>
            <a:endParaRPr/>
          </a:p>
          <a:p>
            <a:pPr indent="-317500" lvl="1" marL="1371600" rtl="0" algn="l">
              <a:spcBef>
                <a:spcPts val="0"/>
              </a:spcBef>
              <a:spcAft>
                <a:spcPts val="0"/>
              </a:spcAft>
              <a:buSzPts val="1400"/>
              <a:buChar char="○"/>
            </a:pPr>
            <a:r>
              <a:rPr lang="en"/>
              <a:t>If it is empty then, set newNode-&gt;next = NULL and HEAD = newNode.</a:t>
            </a:r>
            <a:endParaRPr/>
          </a:p>
          <a:p>
            <a:pPr indent="-317500" lvl="1" marL="1371600" rtl="0" algn="l">
              <a:spcBef>
                <a:spcPts val="0"/>
              </a:spcBef>
              <a:spcAft>
                <a:spcPts val="0"/>
              </a:spcAft>
              <a:buSzPts val="1400"/>
              <a:buChar char="○"/>
            </a:pPr>
            <a:r>
              <a:rPr lang="en"/>
              <a:t>If it is not empty then, set newNode-&gt;next = HEAD and head = newNode.</a:t>
            </a:r>
            <a:endParaRPr/>
          </a:p>
        </p:txBody>
      </p:sp>
      <p:pic>
        <p:nvPicPr>
          <p:cNvPr id="257" name="Google Shape;257;p43"/>
          <p:cNvPicPr preferRelativeResize="0"/>
          <p:nvPr/>
        </p:nvPicPr>
        <p:blipFill>
          <a:blip r:embed="rId3">
            <a:alphaModFix/>
          </a:blip>
          <a:stretch>
            <a:fillRect/>
          </a:stretch>
        </p:blipFill>
        <p:spPr>
          <a:xfrm>
            <a:off x="1021975" y="3303550"/>
            <a:ext cx="6601376" cy="18399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Operation of Singly linked list[3]</a:t>
            </a:r>
            <a:endParaRPr/>
          </a:p>
        </p:txBody>
      </p:sp>
      <p:sp>
        <p:nvSpPr>
          <p:cNvPr id="263" name="Google Shape;263;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Inserting nodes at last of the linked list</a:t>
            </a:r>
            <a:endParaRPr/>
          </a:p>
          <a:p>
            <a:pPr indent="-342900" lvl="0" marL="457200" rtl="0" algn="l">
              <a:spcBef>
                <a:spcPts val="1200"/>
              </a:spcBef>
              <a:spcAft>
                <a:spcPts val="0"/>
              </a:spcAft>
              <a:buSzPts val="1800"/>
              <a:buChar char="●"/>
            </a:pPr>
            <a:r>
              <a:rPr lang="en"/>
              <a:t>To insert an element or a node at the end of the linked list, the following steps are done:</a:t>
            </a:r>
            <a:endParaRPr/>
          </a:p>
          <a:p>
            <a:pPr indent="-317500" lvl="1" marL="1371600" rtl="0" algn="l">
              <a:spcBef>
                <a:spcPts val="0"/>
              </a:spcBef>
              <a:spcAft>
                <a:spcPts val="0"/>
              </a:spcAft>
              <a:buSzPts val="1400"/>
              <a:buChar char="○"/>
            </a:pPr>
            <a:r>
              <a:rPr lang="en"/>
              <a:t>Create a new node (newNode) with given value and newNode-&gt;next = NULL</a:t>
            </a:r>
            <a:endParaRPr/>
          </a:p>
          <a:p>
            <a:pPr indent="-317500" lvl="1" marL="1371600" rtl="0" algn="l">
              <a:spcBef>
                <a:spcPts val="0"/>
              </a:spcBef>
              <a:spcAft>
                <a:spcPts val="0"/>
              </a:spcAft>
              <a:buSzPts val="1400"/>
              <a:buChar char="○"/>
            </a:pPr>
            <a:r>
              <a:rPr lang="en"/>
              <a:t>Check whether the list is empty (HEAD == NULL)</a:t>
            </a:r>
            <a:endParaRPr/>
          </a:p>
          <a:p>
            <a:pPr indent="-317500" lvl="1" marL="1371600" rtl="0" algn="l">
              <a:spcBef>
                <a:spcPts val="0"/>
              </a:spcBef>
              <a:spcAft>
                <a:spcPts val="0"/>
              </a:spcAft>
              <a:buSzPts val="1400"/>
              <a:buChar char="○"/>
            </a:pPr>
            <a:r>
              <a:rPr lang="en"/>
              <a:t>If it is empty then, set newNode-&gt;next = NULL and HEAD = newNode.</a:t>
            </a:r>
            <a:endParaRPr/>
          </a:p>
          <a:p>
            <a:pPr indent="-317500" lvl="1" marL="1371600" rtl="0" algn="l">
              <a:spcBef>
                <a:spcPts val="0"/>
              </a:spcBef>
              <a:spcAft>
                <a:spcPts val="0"/>
              </a:spcAft>
              <a:buSzPts val="1400"/>
              <a:buChar char="○"/>
            </a:pPr>
            <a:r>
              <a:rPr lang="en"/>
              <a:t>If it is not empty then, go to the last node of the linked list and set p-&gt;next= newNode.</a:t>
            </a:r>
            <a:endParaRPr/>
          </a:p>
        </p:txBody>
      </p:sp>
      <p:pic>
        <p:nvPicPr>
          <p:cNvPr id="264" name="Google Shape;264;p44"/>
          <p:cNvPicPr preferRelativeResize="0"/>
          <p:nvPr/>
        </p:nvPicPr>
        <p:blipFill>
          <a:blip r:embed="rId3">
            <a:alphaModFix/>
          </a:blip>
          <a:stretch>
            <a:fillRect/>
          </a:stretch>
        </p:blipFill>
        <p:spPr>
          <a:xfrm>
            <a:off x="1342150" y="3388225"/>
            <a:ext cx="3846861" cy="17552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Operation of Singly linked list[4]</a:t>
            </a:r>
            <a:endParaRPr/>
          </a:p>
        </p:txBody>
      </p:sp>
      <p:sp>
        <p:nvSpPr>
          <p:cNvPr id="270" name="Google Shape;270;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Inserting nodes in place after a node</a:t>
            </a:r>
            <a:endParaRPr/>
          </a:p>
          <a:p>
            <a:pPr indent="-342900" lvl="0" marL="457200" rtl="0" algn="l">
              <a:spcBef>
                <a:spcPts val="1200"/>
              </a:spcBef>
              <a:spcAft>
                <a:spcPts val="0"/>
              </a:spcAft>
              <a:buSzPts val="1800"/>
              <a:buChar char="●"/>
            </a:pPr>
            <a:r>
              <a:rPr lang="en"/>
              <a:t>To insert an element or a node at a position of the linked list, the following steps are done:</a:t>
            </a:r>
            <a:endParaRPr/>
          </a:p>
          <a:p>
            <a:pPr indent="-317500" lvl="1" marL="1371600" rtl="0" algn="l">
              <a:spcBef>
                <a:spcPts val="0"/>
              </a:spcBef>
              <a:spcAft>
                <a:spcPts val="0"/>
              </a:spcAft>
              <a:buSzPts val="1400"/>
              <a:buChar char="○"/>
            </a:pPr>
            <a:r>
              <a:rPr lang="en"/>
              <a:t>Create a new node (newNode) with given value and newNode-&gt;next = NULL</a:t>
            </a:r>
            <a:endParaRPr/>
          </a:p>
          <a:p>
            <a:pPr indent="-317500" lvl="1" marL="1371600" rtl="0" algn="l">
              <a:spcBef>
                <a:spcPts val="0"/>
              </a:spcBef>
              <a:spcAft>
                <a:spcPts val="0"/>
              </a:spcAft>
              <a:buSzPts val="1400"/>
              <a:buChar char="○"/>
            </a:pPr>
            <a:r>
              <a:rPr lang="en"/>
              <a:t>Check whether the list is empty (HEAD == NULL)</a:t>
            </a:r>
            <a:endParaRPr/>
          </a:p>
          <a:p>
            <a:pPr indent="-317500" lvl="1" marL="1371600" rtl="0" algn="l">
              <a:spcBef>
                <a:spcPts val="0"/>
              </a:spcBef>
              <a:spcAft>
                <a:spcPts val="0"/>
              </a:spcAft>
              <a:buSzPts val="1400"/>
              <a:buChar char="○"/>
            </a:pPr>
            <a:r>
              <a:rPr lang="en"/>
              <a:t>If it is empty then, set newNode-&gt;next = NULL and HEAD = newNode.</a:t>
            </a:r>
            <a:endParaRPr/>
          </a:p>
          <a:p>
            <a:pPr indent="-317500" lvl="1" marL="1371600" rtl="0" algn="l">
              <a:spcBef>
                <a:spcPts val="0"/>
              </a:spcBef>
              <a:spcAft>
                <a:spcPts val="0"/>
              </a:spcAft>
              <a:buSzPts val="1400"/>
              <a:buChar char="○"/>
            </a:pPr>
            <a:r>
              <a:rPr lang="en"/>
              <a:t>If it is not empty then, go to the specific node after which we want to insert the newNode of the linked list.</a:t>
            </a:r>
            <a:endParaRPr/>
          </a:p>
          <a:p>
            <a:pPr indent="-317500" lvl="1" marL="1371600" rtl="0" algn="l">
              <a:spcBef>
                <a:spcPts val="0"/>
              </a:spcBef>
              <a:spcAft>
                <a:spcPts val="0"/>
              </a:spcAft>
              <a:buSzPts val="1400"/>
              <a:buChar char="○"/>
            </a:pPr>
            <a:r>
              <a:rPr lang="en"/>
              <a:t>Everytime check whether p has reached to the last node or not. If the last node is reached display ‘Given node is not found in the list’ and exit.</a:t>
            </a:r>
            <a:endParaRPr/>
          </a:p>
          <a:p>
            <a:pPr indent="-317500" lvl="1" marL="1371600" rtl="0" algn="l">
              <a:spcBef>
                <a:spcPts val="0"/>
              </a:spcBef>
              <a:spcAft>
                <a:spcPts val="0"/>
              </a:spcAft>
              <a:buSzPts val="1400"/>
              <a:buChar char="○"/>
            </a:pPr>
            <a:r>
              <a:rPr lang="en"/>
              <a:t>Finally set </a:t>
            </a:r>
            <a:r>
              <a:rPr lang="en"/>
              <a:t>newNode-&gt;next = p-&gt;next and p-&gt;next= newNode</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Operation of Singly linked list[5]</a:t>
            </a:r>
            <a:endParaRPr/>
          </a:p>
        </p:txBody>
      </p:sp>
      <p:sp>
        <p:nvSpPr>
          <p:cNvPr id="276" name="Google Shape;276;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Deleting a</a:t>
            </a:r>
            <a:r>
              <a:rPr lang="en"/>
              <a:t> node</a:t>
            </a:r>
            <a:endParaRPr/>
          </a:p>
          <a:p>
            <a:pPr indent="-342900" lvl="0" marL="457200" rtl="0" algn="l">
              <a:spcBef>
                <a:spcPts val="1200"/>
              </a:spcBef>
              <a:spcAft>
                <a:spcPts val="0"/>
              </a:spcAft>
              <a:buSzPts val="1800"/>
              <a:buChar char="●"/>
            </a:pPr>
            <a:r>
              <a:rPr lang="en"/>
              <a:t>To delete a node from the linked list, the following steps are done:</a:t>
            </a:r>
            <a:endParaRPr/>
          </a:p>
          <a:p>
            <a:pPr indent="-317500" lvl="1" marL="1371600" rtl="0" algn="l">
              <a:spcBef>
                <a:spcPts val="0"/>
              </a:spcBef>
              <a:spcAft>
                <a:spcPts val="0"/>
              </a:spcAft>
              <a:buSzPts val="1400"/>
              <a:buChar char="○"/>
            </a:pPr>
            <a:r>
              <a:rPr lang="en"/>
              <a:t>Find the previous node of the node to be deleted</a:t>
            </a:r>
            <a:endParaRPr/>
          </a:p>
          <a:p>
            <a:pPr indent="-317500" lvl="1" marL="1371600" rtl="0" algn="l">
              <a:spcBef>
                <a:spcPts val="0"/>
              </a:spcBef>
              <a:spcAft>
                <a:spcPts val="0"/>
              </a:spcAft>
              <a:buSzPts val="1400"/>
              <a:buChar char="○"/>
            </a:pPr>
            <a:r>
              <a:rPr lang="en"/>
              <a:t>Change the next of previous node</a:t>
            </a:r>
            <a:endParaRPr/>
          </a:p>
          <a:p>
            <a:pPr indent="-317500" lvl="1" marL="1371600" rtl="0" algn="l">
              <a:spcBef>
                <a:spcPts val="0"/>
              </a:spcBef>
              <a:spcAft>
                <a:spcPts val="0"/>
              </a:spcAft>
              <a:buSzPts val="1400"/>
              <a:buChar char="○"/>
            </a:pPr>
            <a:r>
              <a:rPr lang="en"/>
              <a:t>Free the memory for the node to be deleted.</a:t>
            </a:r>
            <a:endParaRPr/>
          </a:p>
          <a:p>
            <a:pPr indent="-342900" lvl="0" marL="914400" rtl="0" algn="l">
              <a:spcBef>
                <a:spcPts val="0"/>
              </a:spcBef>
              <a:spcAft>
                <a:spcPts val="0"/>
              </a:spcAft>
              <a:buSzPts val="1800"/>
              <a:buChar char="●"/>
            </a:pPr>
            <a:r>
              <a:rPr lang="en"/>
              <a:t>Deletion can be performed in 3 ways:</a:t>
            </a:r>
            <a:endParaRPr/>
          </a:p>
          <a:p>
            <a:pPr indent="-317500" lvl="1" marL="1371600" rtl="0" algn="l">
              <a:spcBef>
                <a:spcPts val="0"/>
              </a:spcBef>
              <a:spcAft>
                <a:spcPts val="0"/>
              </a:spcAft>
              <a:buSzPts val="1400"/>
              <a:buChar char="○"/>
            </a:pPr>
            <a:r>
              <a:rPr lang="en"/>
              <a:t>Deleting from beginning of the list</a:t>
            </a:r>
            <a:endParaRPr/>
          </a:p>
          <a:p>
            <a:pPr indent="-317500" lvl="1" marL="1371600" rtl="0" algn="l">
              <a:spcBef>
                <a:spcPts val="0"/>
              </a:spcBef>
              <a:spcAft>
                <a:spcPts val="0"/>
              </a:spcAft>
              <a:buSzPts val="1400"/>
              <a:buChar char="○"/>
            </a:pPr>
            <a:r>
              <a:rPr lang="en"/>
              <a:t>Deleting from the end of the list</a:t>
            </a:r>
            <a:endParaRPr/>
          </a:p>
          <a:p>
            <a:pPr indent="-317500" lvl="1" marL="1371600" rtl="0" algn="l">
              <a:spcBef>
                <a:spcPts val="0"/>
              </a:spcBef>
              <a:spcAft>
                <a:spcPts val="0"/>
              </a:spcAft>
              <a:buSzPts val="1400"/>
              <a:buChar char="○"/>
            </a:pPr>
            <a:r>
              <a:rPr lang="en"/>
              <a:t>Deleting a specific node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Operation of Singly linked list[6]</a:t>
            </a:r>
            <a:endParaRPr/>
          </a:p>
        </p:txBody>
      </p:sp>
      <p:sp>
        <p:nvSpPr>
          <p:cNvPr id="282" name="Google Shape;282;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Deleting a node from beginning of the linked list:-</a:t>
            </a:r>
            <a:endParaRPr/>
          </a:p>
          <a:p>
            <a:pPr indent="-342900" lvl="0" marL="457200" rtl="0" algn="l">
              <a:spcBef>
                <a:spcPts val="1200"/>
              </a:spcBef>
              <a:spcAft>
                <a:spcPts val="0"/>
              </a:spcAft>
              <a:buSzPts val="1800"/>
              <a:buChar char="●"/>
            </a:pPr>
            <a:r>
              <a:rPr lang="en"/>
              <a:t>To delete a node from the begining of the linked list, the following steps are done:</a:t>
            </a:r>
            <a:endParaRPr/>
          </a:p>
          <a:p>
            <a:pPr indent="-317500" lvl="1" marL="1371600" rtl="0" algn="l">
              <a:spcBef>
                <a:spcPts val="0"/>
              </a:spcBef>
              <a:spcAft>
                <a:spcPts val="0"/>
              </a:spcAft>
              <a:buSzPts val="1400"/>
              <a:buChar char="○"/>
            </a:pPr>
            <a:r>
              <a:rPr lang="en"/>
              <a:t>Check whether the linked list is empty</a:t>
            </a:r>
            <a:endParaRPr/>
          </a:p>
          <a:p>
            <a:pPr indent="-317500" lvl="1" marL="1371600" rtl="0" algn="l">
              <a:spcBef>
                <a:spcPts val="0"/>
              </a:spcBef>
              <a:spcAft>
                <a:spcPts val="0"/>
              </a:spcAft>
              <a:buSzPts val="1400"/>
              <a:buChar char="○"/>
            </a:pPr>
            <a:r>
              <a:rPr lang="en"/>
              <a:t>If it is empty then, display ‘List is empty, delete is not possible’ and exit</a:t>
            </a:r>
            <a:endParaRPr/>
          </a:p>
          <a:p>
            <a:pPr indent="-317500" lvl="1" marL="1371600" rtl="0" algn="l">
              <a:spcBef>
                <a:spcPts val="0"/>
              </a:spcBef>
              <a:spcAft>
                <a:spcPts val="0"/>
              </a:spcAft>
              <a:buSzPts val="1400"/>
              <a:buChar char="○"/>
            </a:pPr>
            <a:r>
              <a:rPr lang="en"/>
              <a:t>If it  is not empty then define a node pointer ‘p’ and initialize it with HEAD.</a:t>
            </a:r>
            <a:endParaRPr/>
          </a:p>
          <a:p>
            <a:pPr indent="-317500" lvl="1" marL="1371600" rtl="0" algn="l">
              <a:spcBef>
                <a:spcPts val="0"/>
              </a:spcBef>
              <a:spcAft>
                <a:spcPts val="0"/>
              </a:spcAft>
              <a:buSzPts val="1400"/>
              <a:buChar char="○"/>
            </a:pPr>
            <a:r>
              <a:rPr lang="en"/>
              <a:t>Check whether the list is having only one node (p-&gt;next == NULL)</a:t>
            </a:r>
            <a:endParaRPr/>
          </a:p>
          <a:p>
            <a:pPr indent="-317500" lvl="1" marL="1371600" rtl="0" algn="l">
              <a:spcBef>
                <a:spcPts val="0"/>
              </a:spcBef>
              <a:spcAft>
                <a:spcPts val="0"/>
              </a:spcAft>
              <a:buSzPts val="1400"/>
              <a:buChar char="○"/>
            </a:pPr>
            <a:r>
              <a:rPr lang="en"/>
              <a:t>If so, then set HEAD = NULL and delete p ( free )</a:t>
            </a:r>
            <a:endParaRPr/>
          </a:p>
          <a:p>
            <a:pPr indent="-317500" lvl="1" marL="1371600" rtl="0" algn="l">
              <a:spcBef>
                <a:spcPts val="0"/>
              </a:spcBef>
              <a:spcAft>
                <a:spcPts val="0"/>
              </a:spcAft>
              <a:buSzPts val="1400"/>
              <a:buChar char="○"/>
            </a:pPr>
            <a:r>
              <a:rPr lang="en"/>
              <a:t>If not, then set HEAD = p-&gt;next and delete p.</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Operation of Singly linked list[7]</a:t>
            </a:r>
            <a:endParaRPr/>
          </a:p>
        </p:txBody>
      </p:sp>
      <p:sp>
        <p:nvSpPr>
          <p:cNvPr id="288" name="Google Shape;288;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Deleting a node from beginning of the linked list:-</a:t>
            </a:r>
            <a:endParaRPr/>
          </a:p>
          <a:p>
            <a:pPr indent="-342900" lvl="0" marL="457200" rtl="0" algn="l">
              <a:spcBef>
                <a:spcPts val="1200"/>
              </a:spcBef>
              <a:spcAft>
                <a:spcPts val="0"/>
              </a:spcAft>
              <a:buSzPts val="1800"/>
              <a:buChar char="●"/>
            </a:pPr>
            <a:r>
              <a:rPr lang="en"/>
              <a:t>To delete a node from the begining of the linked list, the following steps are done:</a:t>
            </a:r>
            <a:endParaRPr/>
          </a:p>
          <a:p>
            <a:pPr indent="0" lvl="0" marL="0" rtl="0" algn="l">
              <a:spcBef>
                <a:spcPts val="1200"/>
              </a:spcBef>
              <a:spcAft>
                <a:spcPts val="1200"/>
              </a:spcAft>
              <a:buNone/>
            </a:pPr>
            <a:r>
              <a:t/>
            </a:r>
            <a:endParaRPr/>
          </a:p>
        </p:txBody>
      </p:sp>
      <p:pic>
        <p:nvPicPr>
          <p:cNvPr id="289" name="Google Shape;289;p48"/>
          <p:cNvPicPr preferRelativeResize="0"/>
          <p:nvPr/>
        </p:nvPicPr>
        <p:blipFill>
          <a:blip r:embed="rId3">
            <a:alphaModFix/>
          </a:blip>
          <a:stretch>
            <a:fillRect/>
          </a:stretch>
        </p:blipFill>
        <p:spPr>
          <a:xfrm>
            <a:off x="0" y="2571744"/>
            <a:ext cx="9144000" cy="2490362"/>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Operation of Singly linked list[8]</a:t>
            </a:r>
            <a:endParaRPr/>
          </a:p>
        </p:txBody>
      </p:sp>
      <p:sp>
        <p:nvSpPr>
          <p:cNvPr id="295" name="Google Shape;295;p49"/>
          <p:cNvSpPr txBox="1"/>
          <p:nvPr>
            <p:ph idx="1" type="body"/>
          </p:nvPr>
        </p:nvSpPr>
        <p:spPr>
          <a:xfrm>
            <a:off x="311700" y="1152475"/>
            <a:ext cx="8520600" cy="399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Deleting a node from end of the linked list:-</a:t>
            </a:r>
            <a:endParaRPr/>
          </a:p>
          <a:p>
            <a:pPr indent="-355085" lvl="0" marL="457200" rtl="0" algn="l">
              <a:spcBef>
                <a:spcPts val="1200"/>
              </a:spcBef>
              <a:spcAft>
                <a:spcPts val="0"/>
              </a:spcAft>
              <a:buSzPts val="1992"/>
              <a:buChar char="●"/>
            </a:pPr>
            <a:r>
              <a:rPr lang="en" sz="1991"/>
              <a:t>To delete a node from the begining of the linked list, the following steps are done:</a:t>
            </a:r>
            <a:endParaRPr sz="1991"/>
          </a:p>
          <a:p>
            <a:pPr indent="-329685" lvl="1" marL="1371600" rtl="0" algn="l">
              <a:spcBef>
                <a:spcPts val="0"/>
              </a:spcBef>
              <a:spcAft>
                <a:spcPts val="0"/>
              </a:spcAft>
              <a:buSzPts val="1592"/>
              <a:buChar char="○"/>
            </a:pPr>
            <a:r>
              <a:rPr lang="en" sz="1591"/>
              <a:t>Check whether the linked list is empty</a:t>
            </a:r>
            <a:endParaRPr sz="1591"/>
          </a:p>
          <a:p>
            <a:pPr indent="-329685" lvl="1" marL="1371600" rtl="0" algn="l">
              <a:spcBef>
                <a:spcPts val="0"/>
              </a:spcBef>
              <a:spcAft>
                <a:spcPts val="0"/>
              </a:spcAft>
              <a:buSzPts val="1592"/>
              <a:buChar char="○"/>
            </a:pPr>
            <a:r>
              <a:rPr lang="en" sz="1591"/>
              <a:t>If it is empty then, display ‘List is empty, delete is not possible’ and exit</a:t>
            </a:r>
            <a:endParaRPr sz="1591"/>
          </a:p>
          <a:p>
            <a:pPr indent="-329685" lvl="1" marL="1371600" rtl="0" algn="l">
              <a:spcBef>
                <a:spcPts val="0"/>
              </a:spcBef>
              <a:spcAft>
                <a:spcPts val="0"/>
              </a:spcAft>
              <a:buSzPts val="1592"/>
              <a:buChar char="○"/>
            </a:pPr>
            <a:r>
              <a:rPr lang="en" sz="1591"/>
              <a:t>If it  is not empty then define two node pointers ‘p’ and ‘q’ and and initialize p with HEAD.</a:t>
            </a:r>
            <a:endParaRPr sz="1591"/>
          </a:p>
          <a:p>
            <a:pPr indent="-329685" lvl="1" marL="1371600" rtl="0" algn="l">
              <a:spcBef>
                <a:spcPts val="0"/>
              </a:spcBef>
              <a:spcAft>
                <a:spcPts val="0"/>
              </a:spcAft>
              <a:buSzPts val="1592"/>
              <a:buChar char="○"/>
            </a:pPr>
            <a:r>
              <a:rPr lang="en" sz="1591"/>
              <a:t>Check whether the list is having only one node (p-&gt;next == NULL)</a:t>
            </a:r>
            <a:endParaRPr sz="1591"/>
          </a:p>
          <a:p>
            <a:pPr indent="-329685" lvl="1" marL="1371600" rtl="0" algn="l">
              <a:spcBef>
                <a:spcPts val="0"/>
              </a:spcBef>
              <a:spcAft>
                <a:spcPts val="0"/>
              </a:spcAft>
              <a:buSzPts val="1592"/>
              <a:buChar char="○"/>
            </a:pPr>
            <a:r>
              <a:rPr lang="en" sz="1591"/>
              <a:t>If so, then set HEAD = NULL and delete p ( free )</a:t>
            </a:r>
            <a:endParaRPr sz="1591"/>
          </a:p>
          <a:p>
            <a:pPr indent="-329685" lvl="1" marL="1371600" rtl="0" algn="l">
              <a:spcBef>
                <a:spcPts val="0"/>
              </a:spcBef>
              <a:spcAft>
                <a:spcPts val="0"/>
              </a:spcAft>
              <a:buSzPts val="1592"/>
              <a:buChar char="○"/>
            </a:pPr>
            <a:r>
              <a:rPr lang="en" sz="1591"/>
              <a:t>If not, then set q=p and move p to its next node. Repeat the same until it reaches to the last node in the list ie,  p-&gt;next == NULL.</a:t>
            </a:r>
            <a:endParaRPr sz="1591"/>
          </a:p>
          <a:p>
            <a:pPr indent="-329685" lvl="1" marL="1371600" rtl="0" algn="l">
              <a:spcBef>
                <a:spcPts val="0"/>
              </a:spcBef>
              <a:spcAft>
                <a:spcPts val="0"/>
              </a:spcAft>
              <a:buSzPts val="1592"/>
              <a:buChar char="○"/>
            </a:pPr>
            <a:r>
              <a:rPr lang="en" sz="1591"/>
              <a:t>Finally, set q-&gt;next = NULL and delete p.</a:t>
            </a:r>
            <a:endParaRPr sz="1591"/>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Operation of Singly linked list[8]</a:t>
            </a:r>
            <a:endParaRPr/>
          </a:p>
        </p:txBody>
      </p:sp>
      <p:sp>
        <p:nvSpPr>
          <p:cNvPr id="301" name="Google Shape;301;p50"/>
          <p:cNvSpPr txBox="1"/>
          <p:nvPr>
            <p:ph idx="1" type="body"/>
          </p:nvPr>
        </p:nvSpPr>
        <p:spPr>
          <a:xfrm>
            <a:off x="311700" y="1152475"/>
            <a:ext cx="8520600" cy="399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Deleting a node from end of the linked list:-</a:t>
            </a:r>
            <a:endParaRPr/>
          </a:p>
          <a:p>
            <a:pPr indent="-355085" lvl="0" marL="457200" rtl="0" algn="l">
              <a:spcBef>
                <a:spcPts val="1200"/>
              </a:spcBef>
              <a:spcAft>
                <a:spcPts val="0"/>
              </a:spcAft>
              <a:buSzPts val="1992"/>
              <a:buChar char="●"/>
            </a:pPr>
            <a:r>
              <a:rPr lang="en" sz="1991"/>
              <a:t>To delete a node from the begining of the linked list, the following steps are done:</a:t>
            </a:r>
            <a:endParaRPr sz="1991"/>
          </a:p>
          <a:p>
            <a:pPr indent="-329685" lvl="1" marL="1371600" rtl="0" algn="l">
              <a:spcBef>
                <a:spcPts val="0"/>
              </a:spcBef>
              <a:spcAft>
                <a:spcPts val="0"/>
              </a:spcAft>
              <a:buSzPts val="1592"/>
              <a:buChar char="○"/>
            </a:pPr>
            <a:r>
              <a:t/>
            </a:r>
            <a:endParaRPr sz="1591"/>
          </a:p>
        </p:txBody>
      </p:sp>
      <p:pic>
        <p:nvPicPr>
          <p:cNvPr id="302" name="Google Shape;302;p50"/>
          <p:cNvPicPr preferRelativeResize="0"/>
          <p:nvPr/>
        </p:nvPicPr>
        <p:blipFill>
          <a:blip r:embed="rId3">
            <a:alphaModFix/>
          </a:blip>
          <a:stretch>
            <a:fillRect/>
          </a:stretch>
        </p:blipFill>
        <p:spPr>
          <a:xfrm>
            <a:off x="85725" y="2571750"/>
            <a:ext cx="8972550" cy="25527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Operation of Singly linked list[8]</a:t>
            </a:r>
            <a:endParaRPr/>
          </a:p>
        </p:txBody>
      </p:sp>
      <p:sp>
        <p:nvSpPr>
          <p:cNvPr id="308" name="Google Shape;308;p51"/>
          <p:cNvSpPr txBox="1"/>
          <p:nvPr>
            <p:ph idx="1" type="body"/>
          </p:nvPr>
        </p:nvSpPr>
        <p:spPr>
          <a:xfrm>
            <a:off x="311700" y="1152475"/>
            <a:ext cx="8520600" cy="3990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Deleting a specific node of the linked list:-</a:t>
            </a:r>
            <a:endParaRPr/>
          </a:p>
          <a:p>
            <a:pPr indent="-345598" lvl="0" marL="457200" rtl="0" algn="l">
              <a:spcBef>
                <a:spcPts val="1200"/>
              </a:spcBef>
              <a:spcAft>
                <a:spcPts val="0"/>
              </a:spcAft>
              <a:buSzPct val="100000"/>
              <a:buChar char="●"/>
            </a:pPr>
            <a:r>
              <a:rPr lang="en" sz="1991"/>
              <a:t>To delete a specific node of the linked list, the following steps are done:</a:t>
            </a:r>
            <a:endParaRPr sz="1991"/>
          </a:p>
          <a:p>
            <a:pPr indent="-322103" lvl="1" marL="1371600" rtl="0" algn="l">
              <a:spcBef>
                <a:spcPts val="0"/>
              </a:spcBef>
              <a:spcAft>
                <a:spcPts val="0"/>
              </a:spcAft>
              <a:buSzPct val="100000"/>
              <a:buChar char="○"/>
            </a:pPr>
            <a:r>
              <a:rPr lang="en" sz="1591"/>
              <a:t>Check whether the linked list is empty</a:t>
            </a:r>
            <a:endParaRPr sz="1591"/>
          </a:p>
          <a:p>
            <a:pPr indent="-322103" lvl="1" marL="1371600" rtl="0" algn="l">
              <a:spcBef>
                <a:spcPts val="0"/>
              </a:spcBef>
              <a:spcAft>
                <a:spcPts val="0"/>
              </a:spcAft>
              <a:buSzPct val="100000"/>
              <a:buChar char="○"/>
            </a:pPr>
            <a:r>
              <a:rPr lang="en" sz="1591"/>
              <a:t>If it is empty then, display ‘List is empty, delete is not possible’ and exit</a:t>
            </a:r>
            <a:endParaRPr sz="1591"/>
          </a:p>
          <a:p>
            <a:pPr indent="-322103" lvl="1" marL="1371600" rtl="0" algn="l">
              <a:spcBef>
                <a:spcPts val="0"/>
              </a:spcBef>
              <a:spcAft>
                <a:spcPts val="0"/>
              </a:spcAft>
              <a:buSzPct val="100000"/>
              <a:buChar char="○"/>
            </a:pPr>
            <a:r>
              <a:rPr lang="en" sz="1591"/>
              <a:t>If it  is not empty then define two node pointers ‘p’ and ‘q’ and and initialize p with HEAD.</a:t>
            </a:r>
            <a:endParaRPr sz="1591"/>
          </a:p>
          <a:p>
            <a:pPr indent="-322103" lvl="1" marL="1371600" rtl="0" algn="l">
              <a:spcBef>
                <a:spcPts val="0"/>
              </a:spcBef>
              <a:spcAft>
                <a:spcPts val="0"/>
              </a:spcAft>
              <a:buSzPct val="100000"/>
              <a:buChar char="○"/>
            </a:pPr>
            <a:r>
              <a:rPr lang="en" sz="1591"/>
              <a:t>Keep moving the p until it reaches the exact node to be deleted or to the last node. At every loop, set q=p before moving p to its next node.</a:t>
            </a:r>
            <a:endParaRPr sz="1591"/>
          </a:p>
          <a:p>
            <a:pPr indent="-322103" lvl="1" marL="1371600" rtl="0" algn="l">
              <a:spcBef>
                <a:spcPts val="0"/>
              </a:spcBef>
              <a:spcAft>
                <a:spcPts val="0"/>
              </a:spcAft>
              <a:buSzPct val="100000"/>
              <a:buChar char="○"/>
            </a:pPr>
            <a:r>
              <a:rPr lang="en" sz="1591"/>
              <a:t>If it reached to the exact node, which we want to delete, then check whether list is having only one node or not</a:t>
            </a:r>
            <a:endParaRPr sz="1591"/>
          </a:p>
          <a:p>
            <a:pPr indent="-322103" lvl="1" marL="1371600" rtl="0" algn="l">
              <a:spcBef>
                <a:spcPts val="0"/>
              </a:spcBef>
              <a:spcAft>
                <a:spcPts val="0"/>
              </a:spcAft>
              <a:buSzPct val="100000"/>
              <a:buChar char="○"/>
            </a:pPr>
            <a:r>
              <a:rPr lang="en" sz="1591"/>
              <a:t>If the list has only one node and that is the node to be deleted, then set HEAD = NULL and delete p.</a:t>
            </a:r>
            <a:endParaRPr sz="1591"/>
          </a:p>
          <a:p>
            <a:pPr indent="-322103" lvl="1" marL="1371600" rtl="0" algn="l">
              <a:spcBef>
                <a:spcPts val="0"/>
              </a:spcBef>
              <a:spcAft>
                <a:spcPts val="0"/>
              </a:spcAft>
              <a:buSzPct val="100000"/>
              <a:buChar char="○"/>
            </a:pPr>
            <a:r>
              <a:rPr lang="en" sz="1591"/>
              <a:t>If the list contains multiple nodes, then check whether p is the first node in the list, if so then move the head to the next node</a:t>
            </a:r>
            <a:endParaRPr sz="1591"/>
          </a:p>
          <a:p>
            <a:pPr indent="-322103" lvl="1" marL="1371600" rtl="0" algn="l">
              <a:spcBef>
                <a:spcPts val="0"/>
              </a:spcBef>
              <a:spcAft>
                <a:spcPts val="0"/>
              </a:spcAft>
              <a:buSzPct val="100000"/>
              <a:buChar char="○"/>
            </a:pPr>
            <a:r>
              <a:rPr lang="en" sz="1591"/>
              <a:t>If p is not the first node then check whether it is last node in the list</a:t>
            </a:r>
            <a:endParaRPr sz="1591"/>
          </a:p>
          <a:p>
            <a:pPr indent="-322103" lvl="1" marL="1371600" rtl="0" algn="l">
              <a:spcBef>
                <a:spcPts val="0"/>
              </a:spcBef>
              <a:spcAft>
                <a:spcPts val="0"/>
              </a:spcAft>
              <a:buSzPct val="100000"/>
              <a:buChar char="○"/>
            </a:pPr>
            <a:r>
              <a:rPr lang="en" sz="1591"/>
              <a:t>If p is not first and not last node then set q-&gt;next = p-&gt;next and delete p.</a:t>
            </a:r>
            <a:endParaRPr sz="1591"/>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Operation of Singly linked list[8]</a:t>
            </a:r>
            <a:endParaRPr/>
          </a:p>
        </p:txBody>
      </p:sp>
      <p:sp>
        <p:nvSpPr>
          <p:cNvPr id="314" name="Google Shape;314;p52"/>
          <p:cNvSpPr txBox="1"/>
          <p:nvPr>
            <p:ph idx="1" type="body"/>
          </p:nvPr>
        </p:nvSpPr>
        <p:spPr>
          <a:xfrm>
            <a:off x="311700" y="1152475"/>
            <a:ext cx="8520600" cy="399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Deleting a specific node of the linked list:-</a:t>
            </a:r>
            <a:endParaRPr/>
          </a:p>
          <a:p>
            <a:pPr indent="-355085" lvl="0" marL="457200" rtl="0" algn="l">
              <a:spcBef>
                <a:spcPts val="1200"/>
              </a:spcBef>
              <a:spcAft>
                <a:spcPts val="0"/>
              </a:spcAft>
              <a:buSzPts val="1992"/>
              <a:buChar char="●"/>
            </a:pPr>
            <a:r>
              <a:rPr lang="en" sz="1991"/>
              <a:t>To delete a specific node of the linked list, the following steps are done:</a:t>
            </a:r>
            <a:endParaRPr sz="1591"/>
          </a:p>
        </p:txBody>
      </p:sp>
      <p:pic>
        <p:nvPicPr>
          <p:cNvPr id="315" name="Google Shape;315;p52"/>
          <p:cNvPicPr preferRelativeResize="0"/>
          <p:nvPr/>
        </p:nvPicPr>
        <p:blipFill>
          <a:blip r:embed="rId3">
            <a:alphaModFix/>
          </a:blip>
          <a:stretch>
            <a:fillRect/>
          </a:stretch>
        </p:blipFill>
        <p:spPr>
          <a:xfrm>
            <a:off x="114300" y="3409825"/>
            <a:ext cx="8915400" cy="17335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Doubly linked list</a:t>
            </a:r>
            <a:endParaRPr/>
          </a:p>
        </p:txBody>
      </p:sp>
      <p:sp>
        <p:nvSpPr>
          <p:cNvPr id="321" name="Google Shape;321;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Doubly linked list is a complex type of linked list in which a node contains a pointer to the previous as well as the next node in the sequence.</a:t>
            </a:r>
            <a:endParaRPr/>
          </a:p>
          <a:p>
            <a:pPr indent="-342900" lvl="0" marL="457200" rtl="0" algn="l">
              <a:spcBef>
                <a:spcPts val="0"/>
              </a:spcBef>
              <a:spcAft>
                <a:spcPts val="0"/>
              </a:spcAft>
              <a:buSzPts val="1800"/>
              <a:buChar char="●"/>
            </a:pPr>
            <a:r>
              <a:rPr lang="en"/>
              <a:t>Therefore, in a doubly linked list, a node consists of three parts: </a:t>
            </a:r>
            <a:endParaRPr/>
          </a:p>
          <a:p>
            <a:pPr indent="-317500" lvl="1" marL="914400" rtl="0" algn="l">
              <a:spcBef>
                <a:spcPts val="0"/>
              </a:spcBef>
              <a:spcAft>
                <a:spcPts val="0"/>
              </a:spcAft>
              <a:buSzPts val="1400"/>
              <a:buChar char="○"/>
            </a:pPr>
            <a:r>
              <a:rPr lang="en"/>
              <a:t>node data </a:t>
            </a:r>
            <a:endParaRPr/>
          </a:p>
          <a:p>
            <a:pPr indent="-317500" lvl="1" marL="914400" rtl="0" algn="l">
              <a:spcBef>
                <a:spcPts val="0"/>
              </a:spcBef>
              <a:spcAft>
                <a:spcPts val="0"/>
              </a:spcAft>
              <a:buSzPts val="1400"/>
              <a:buChar char="○"/>
            </a:pPr>
            <a:r>
              <a:rPr lang="en"/>
              <a:t>pointer to the next node in sequence (next pointer) </a:t>
            </a:r>
            <a:endParaRPr/>
          </a:p>
          <a:p>
            <a:pPr indent="-317500" lvl="1" marL="914400" rtl="0" algn="l">
              <a:spcBef>
                <a:spcPts val="0"/>
              </a:spcBef>
              <a:spcAft>
                <a:spcPts val="0"/>
              </a:spcAft>
              <a:buSzPts val="1400"/>
              <a:buChar char="○"/>
            </a:pPr>
            <a:r>
              <a:rPr lang="en"/>
              <a:t>pointer to the previous node (previous pointer). </a:t>
            </a:r>
            <a:endParaRPr/>
          </a:p>
          <a:p>
            <a:pPr indent="-342900" lvl="0" marL="457200" rtl="0" algn="l">
              <a:spcBef>
                <a:spcPts val="0"/>
              </a:spcBef>
              <a:spcAft>
                <a:spcPts val="0"/>
              </a:spcAft>
              <a:buSzPts val="1800"/>
              <a:buChar char="●"/>
            </a:pPr>
            <a:r>
              <a:rPr lang="en"/>
              <a:t>Pointers exist between adjacent nodes in both directions.The list can be traversed either forward or backward. </a:t>
            </a:r>
            <a:endParaRPr/>
          </a:p>
          <a:p>
            <a:pPr indent="-342900" lvl="0" marL="457200" rtl="0" algn="l">
              <a:spcBef>
                <a:spcPts val="0"/>
              </a:spcBef>
              <a:spcAft>
                <a:spcPts val="0"/>
              </a:spcAft>
              <a:buSzPts val="1800"/>
              <a:buChar char="●"/>
            </a:pPr>
            <a:r>
              <a:rPr lang="en"/>
              <a:t>Usually two pointers are maintained to keep track of the list, head and tail. </a:t>
            </a:r>
            <a:endParaRPr/>
          </a:p>
        </p:txBody>
      </p:sp>
      <p:pic>
        <p:nvPicPr>
          <p:cNvPr id="322" name="Google Shape;322;p53"/>
          <p:cNvPicPr preferRelativeResize="0"/>
          <p:nvPr/>
        </p:nvPicPr>
        <p:blipFill>
          <a:blip r:embed="rId3">
            <a:alphaModFix/>
          </a:blip>
          <a:stretch>
            <a:fillRect/>
          </a:stretch>
        </p:blipFill>
        <p:spPr>
          <a:xfrm>
            <a:off x="539850" y="4057650"/>
            <a:ext cx="4133850" cy="1085850"/>
          </a:xfrm>
          <a:prstGeom prst="rect">
            <a:avLst/>
          </a:prstGeom>
          <a:noFill/>
          <a:ln>
            <a:noFill/>
          </a:ln>
        </p:spPr>
      </p:pic>
      <p:pic>
        <p:nvPicPr>
          <p:cNvPr id="323" name="Google Shape;323;p53"/>
          <p:cNvPicPr preferRelativeResize="0"/>
          <p:nvPr/>
        </p:nvPicPr>
        <p:blipFill>
          <a:blip r:embed="rId4">
            <a:alphaModFix/>
          </a:blip>
          <a:stretch>
            <a:fillRect/>
          </a:stretch>
        </p:blipFill>
        <p:spPr>
          <a:xfrm>
            <a:off x="7467600" y="3333750"/>
            <a:ext cx="1676400" cy="18097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Doubly linked list - Representation</a:t>
            </a:r>
            <a:endParaRPr/>
          </a:p>
        </p:txBody>
      </p:sp>
      <p:sp>
        <p:nvSpPr>
          <p:cNvPr id="329" name="Google Shape;329;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t/>
            </a:r>
            <a:endParaRPr/>
          </a:p>
        </p:txBody>
      </p:sp>
      <p:pic>
        <p:nvPicPr>
          <p:cNvPr id="330" name="Google Shape;330;p54"/>
          <p:cNvPicPr preferRelativeResize="0"/>
          <p:nvPr/>
        </p:nvPicPr>
        <p:blipFill>
          <a:blip r:embed="rId3">
            <a:alphaModFix/>
          </a:blip>
          <a:stretch>
            <a:fillRect/>
          </a:stretch>
        </p:blipFill>
        <p:spPr>
          <a:xfrm>
            <a:off x="438150" y="1231625"/>
            <a:ext cx="4133850" cy="1085850"/>
          </a:xfrm>
          <a:prstGeom prst="rect">
            <a:avLst/>
          </a:prstGeom>
          <a:noFill/>
          <a:ln>
            <a:noFill/>
          </a:ln>
        </p:spPr>
      </p:pic>
      <p:pic>
        <p:nvPicPr>
          <p:cNvPr id="331" name="Google Shape;331;p54"/>
          <p:cNvPicPr preferRelativeResize="0"/>
          <p:nvPr/>
        </p:nvPicPr>
        <p:blipFill>
          <a:blip r:embed="rId4">
            <a:alphaModFix/>
          </a:blip>
          <a:stretch>
            <a:fillRect/>
          </a:stretch>
        </p:blipFill>
        <p:spPr>
          <a:xfrm>
            <a:off x="6017600" y="1152475"/>
            <a:ext cx="2814700" cy="3038600"/>
          </a:xfrm>
          <a:prstGeom prst="rect">
            <a:avLst/>
          </a:prstGeom>
          <a:noFill/>
          <a:ln>
            <a:noFill/>
          </a:ln>
        </p:spPr>
      </p:pic>
      <p:pic>
        <p:nvPicPr>
          <p:cNvPr id="332" name="Google Shape;332;p54"/>
          <p:cNvPicPr preferRelativeResize="0"/>
          <p:nvPr/>
        </p:nvPicPr>
        <p:blipFill>
          <a:blip r:embed="rId5">
            <a:alphaModFix/>
          </a:blip>
          <a:stretch>
            <a:fillRect/>
          </a:stretch>
        </p:blipFill>
        <p:spPr>
          <a:xfrm>
            <a:off x="438150" y="3292525"/>
            <a:ext cx="5143500" cy="127635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Advantages of DLL over SLL</a:t>
            </a:r>
            <a:endParaRPr/>
          </a:p>
        </p:txBody>
      </p:sp>
      <p:sp>
        <p:nvSpPr>
          <p:cNvPr id="338" name="Google Shape;338;p5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 sz="2200"/>
              <a:t>A DLL can be traversed in both forward and backward direction. </a:t>
            </a:r>
            <a:endParaRPr sz="2200"/>
          </a:p>
          <a:p>
            <a:pPr indent="-368300" lvl="0" marL="457200" rtl="0" algn="l">
              <a:spcBef>
                <a:spcPts val="0"/>
              </a:spcBef>
              <a:spcAft>
                <a:spcPts val="0"/>
              </a:spcAft>
              <a:buSzPts val="2200"/>
              <a:buChar char="●"/>
            </a:pPr>
            <a:r>
              <a:rPr lang="en" sz="2200"/>
              <a:t>The delete operation in DLL is more efficient if pointer to the node to be deleted is given. </a:t>
            </a:r>
            <a:endParaRPr sz="2200"/>
          </a:p>
          <a:p>
            <a:pPr indent="-342900" lvl="1" marL="914400" rtl="0" algn="l">
              <a:spcBef>
                <a:spcPts val="0"/>
              </a:spcBef>
              <a:spcAft>
                <a:spcPts val="0"/>
              </a:spcAft>
              <a:buSzPts val="1800"/>
              <a:buChar char="○"/>
            </a:pPr>
            <a:r>
              <a:rPr lang="en" sz="1800"/>
              <a:t>In DLL, to delete a node, pointer to the previous node is needed. </a:t>
            </a:r>
            <a:endParaRPr sz="1800"/>
          </a:p>
          <a:p>
            <a:pPr indent="-342900" lvl="1" marL="914400" rtl="0" algn="l">
              <a:spcBef>
                <a:spcPts val="0"/>
              </a:spcBef>
              <a:spcAft>
                <a:spcPts val="0"/>
              </a:spcAft>
              <a:buSzPts val="1800"/>
              <a:buChar char="○"/>
            </a:pPr>
            <a:r>
              <a:rPr lang="en" sz="1800"/>
              <a:t>To get this previous node, sometimes the list is traversed. In DLL, we can get the previous node using previous pointer. </a:t>
            </a:r>
            <a:endParaRPr sz="1800"/>
          </a:p>
          <a:p>
            <a:pPr indent="0" lvl="0" marL="0" rtl="0" algn="l">
              <a:spcBef>
                <a:spcPts val="1200"/>
              </a:spcBef>
              <a:spcAft>
                <a:spcPts val="0"/>
              </a:spcAft>
              <a:buClr>
                <a:schemeClr val="dk1"/>
              </a:buClr>
              <a:buSzPts val="1100"/>
              <a:buFont typeface="Arial"/>
              <a:buNone/>
            </a:pPr>
            <a:r>
              <a:t/>
            </a:r>
            <a:endParaRPr sz="2200"/>
          </a:p>
          <a:p>
            <a:pPr indent="0" lvl="0" marL="0" rtl="0" algn="l">
              <a:spcBef>
                <a:spcPts val="1200"/>
              </a:spcBef>
              <a:spcAft>
                <a:spcPts val="1200"/>
              </a:spcAft>
              <a:buNone/>
            </a:pPr>
            <a:r>
              <a:t/>
            </a:r>
            <a:endParaRPr sz="22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Disa</a:t>
            </a:r>
            <a:r>
              <a:rPr lang="en"/>
              <a:t>dvantages of DLL over SLL</a:t>
            </a:r>
            <a:endParaRPr/>
          </a:p>
        </p:txBody>
      </p:sp>
      <p:sp>
        <p:nvSpPr>
          <p:cNvPr id="344" name="Google Shape;344;p5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 sz="2200"/>
              <a:t>Every node of DLL Require extra space for an previous pointer.</a:t>
            </a:r>
            <a:endParaRPr sz="2200"/>
          </a:p>
          <a:p>
            <a:pPr indent="-368300" lvl="0" marL="457200" rtl="0" algn="l">
              <a:spcBef>
                <a:spcPts val="0"/>
              </a:spcBef>
              <a:spcAft>
                <a:spcPts val="0"/>
              </a:spcAft>
              <a:buSzPts val="2200"/>
              <a:buChar char="●"/>
            </a:pPr>
            <a:r>
              <a:rPr lang="en" sz="2200"/>
              <a:t>All operations require an extra pointer </a:t>
            </a:r>
            <a:r>
              <a:rPr b="1" i="1" lang="en" sz="2200"/>
              <a:t>previous</a:t>
            </a:r>
            <a:r>
              <a:rPr lang="en" sz="2200"/>
              <a:t> to be maintained. </a:t>
            </a:r>
            <a:endParaRPr sz="2200"/>
          </a:p>
          <a:p>
            <a:pPr indent="-368300" lvl="0" marL="457200" rtl="0" algn="l">
              <a:spcBef>
                <a:spcPts val="0"/>
              </a:spcBef>
              <a:spcAft>
                <a:spcPts val="0"/>
              </a:spcAft>
              <a:buSzPts val="2200"/>
              <a:buChar char="●"/>
            </a:pPr>
            <a:r>
              <a:rPr lang="en" sz="2200"/>
              <a:t>For example, in insertion, we need to modify previous pointers together with next pointers. </a:t>
            </a:r>
            <a:endParaRPr sz="22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Operation on DLL</a:t>
            </a:r>
            <a:endParaRPr/>
          </a:p>
        </p:txBody>
      </p:sp>
      <p:sp>
        <p:nvSpPr>
          <p:cNvPr id="350" name="Google Shape;350;p5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000" u="sng"/>
              <a:t>Insertion of a new node at beginning of DLL</a:t>
            </a:r>
            <a:endParaRPr b="1" sz="2000" u="sng"/>
          </a:p>
          <a:p>
            <a:pPr indent="-355600" lvl="0" marL="457200" rtl="0" algn="l">
              <a:spcBef>
                <a:spcPts val="1200"/>
              </a:spcBef>
              <a:spcAft>
                <a:spcPts val="0"/>
              </a:spcAft>
              <a:buSzPts val="2000"/>
              <a:buAutoNum type="arabicPeriod"/>
            </a:pPr>
            <a:r>
              <a:rPr lang="en" sz="2000"/>
              <a:t>Create a newNode with given value and newNode —&gt; previous as NULL.</a:t>
            </a:r>
            <a:endParaRPr sz="2000"/>
          </a:p>
          <a:p>
            <a:pPr indent="-355600" lvl="0" marL="457200" rtl="0" algn="l">
              <a:spcBef>
                <a:spcPts val="0"/>
              </a:spcBef>
              <a:spcAft>
                <a:spcPts val="0"/>
              </a:spcAft>
              <a:buSzPts val="2000"/>
              <a:buAutoNum type="arabicPeriod"/>
            </a:pPr>
            <a:r>
              <a:rPr lang="en" sz="2000"/>
              <a:t>Check whether list is Empty (head = NULL) </a:t>
            </a:r>
            <a:endParaRPr sz="2000"/>
          </a:p>
          <a:p>
            <a:pPr indent="-355600" lvl="0" marL="457200" rtl="0" algn="l">
              <a:spcBef>
                <a:spcPts val="0"/>
              </a:spcBef>
              <a:spcAft>
                <a:spcPts val="0"/>
              </a:spcAft>
              <a:buSzPts val="2000"/>
              <a:buAutoNum type="arabicPeriod"/>
            </a:pPr>
            <a:r>
              <a:rPr lang="en" sz="2000"/>
              <a:t>If it is Empty then, assign NULL to newNode —&gt; next and newNode to head.</a:t>
            </a:r>
            <a:endParaRPr sz="2000"/>
          </a:p>
          <a:p>
            <a:pPr indent="-355600" lvl="0" marL="457200" rtl="0" algn="l">
              <a:spcBef>
                <a:spcPts val="0"/>
              </a:spcBef>
              <a:spcAft>
                <a:spcPts val="0"/>
              </a:spcAft>
              <a:buSzPts val="2000"/>
              <a:buAutoNum type="arabicPeriod"/>
            </a:pPr>
            <a:r>
              <a:rPr lang="en" sz="2000"/>
              <a:t> If it is not Empty then, assign head to newNode —&gt; next and newNode to head. </a:t>
            </a:r>
            <a:endParaRPr sz="20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Operation on DLL[2]</a:t>
            </a:r>
            <a:endParaRPr/>
          </a:p>
        </p:txBody>
      </p:sp>
      <p:sp>
        <p:nvSpPr>
          <p:cNvPr id="356" name="Google Shape;356;p5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000" u="sng"/>
              <a:t>Insertion of a new node at beginning of DLL</a:t>
            </a:r>
            <a:endParaRPr b="1" sz="2000" u="sng"/>
          </a:p>
          <a:p>
            <a:pPr indent="0" lvl="0" marL="0" rtl="0" algn="l">
              <a:spcBef>
                <a:spcPts val="1200"/>
              </a:spcBef>
              <a:spcAft>
                <a:spcPts val="1200"/>
              </a:spcAft>
              <a:buNone/>
            </a:pPr>
            <a:r>
              <a:rPr lang="en" sz="2000"/>
              <a:t>Adding a node with value 6 at the begining of a DLL:</a:t>
            </a:r>
            <a:endParaRPr sz="2000"/>
          </a:p>
        </p:txBody>
      </p:sp>
      <p:pic>
        <p:nvPicPr>
          <p:cNvPr id="357" name="Google Shape;357;p58"/>
          <p:cNvPicPr preferRelativeResize="0"/>
          <p:nvPr/>
        </p:nvPicPr>
        <p:blipFill>
          <a:blip r:embed="rId3">
            <a:alphaModFix/>
          </a:blip>
          <a:stretch>
            <a:fillRect/>
          </a:stretch>
        </p:blipFill>
        <p:spPr>
          <a:xfrm>
            <a:off x="311700" y="2057400"/>
            <a:ext cx="8743950" cy="1028700"/>
          </a:xfrm>
          <a:prstGeom prst="rect">
            <a:avLst/>
          </a:prstGeom>
          <a:noFill/>
          <a:ln>
            <a:noFill/>
          </a:ln>
        </p:spPr>
      </p:pic>
      <p:pic>
        <p:nvPicPr>
          <p:cNvPr id="358" name="Google Shape;358;p58"/>
          <p:cNvPicPr preferRelativeResize="0"/>
          <p:nvPr/>
        </p:nvPicPr>
        <p:blipFill>
          <a:blip r:embed="rId4">
            <a:alphaModFix/>
          </a:blip>
          <a:stretch>
            <a:fillRect/>
          </a:stretch>
        </p:blipFill>
        <p:spPr>
          <a:xfrm>
            <a:off x="68075" y="3262225"/>
            <a:ext cx="2266950" cy="742950"/>
          </a:xfrm>
          <a:prstGeom prst="rect">
            <a:avLst/>
          </a:prstGeom>
          <a:noFill/>
          <a:ln>
            <a:noFill/>
          </a:ln>
        </p:spPr>
      </p:pic>
      <p:pic>
        <p:nvPicPr>
          <p:cNvPr id="359" name="Google Shape;359;p58"/>
          <p:cNvPicPr preferRelativeResize="0"/>
          <p:nvPr/>
        </p:nvPicPr>
        <p:blipFill>
          <a:blip r:embed="rId5">
            <a:alphaModFix/>
          </a:blip>
          <a:stretch>
            <a:fillRect/>
          </a:stretch>
        </p:blipFill>
        <p:spPr>
          <a:xfrm>
            <a:off x="4743450" y="3467100"/>
            <a:ext cx="4400550" cy="16764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Operation on DLL[3]</a:t>
            </a:r>
            <a:endParaRPr/>
          </a:p>
        </p:txBody>
      </p:sp>
      <p:sp>
        <p:nvSpPr>
          <p:cNvPr id="365" name="Google Shape;365;p5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000" u="sng"/>
              <a:t>Insertion of a new node at beginning of DLL</a:t>
            </a:r>
            <a:endParaRPr b="1" sz="2000" u="sng"/>
          </a:p>
          <a:p>
            <a:pPr indent="0" lvl="0" marL="0" rtl="0" algn="l">
              <a:spcBef>
                <a:spcPts val="1200"/>
              </a:spcBef>
              <a:spcAft>
                <a:spcPts val="0"/>
              </a:spcAft>
              <a:buNone/>
            </a:pPr>
            <a:r>
              <a:rPr lang="en" sz="2000"/>
              <a:t>Adding a node with value 6 at the begining of a DLL:</a:t>
            </a:r>
            <a:endParaRPr sz="2000"/>
          </a:p>
          <a:p>
            <a:pPr indent="-355600" lvl="0" marL="457200" rtl="0" algn="l">
              <a:spcBef>
                <a:spcPts val="1200"/>
              </a:spcBef>
              <a:spcAft>
                <a:spcPts val="0"/>
              </a:spcAft>
              <a:buSzPts val="2000"/>
              <a:buAutoNum type="arabicPeriod"/>
            </a:pPr>
            <a:r>
              <a:rPr lang="en" sz="2000"/>
              <a:t>Create a new node</a:t>
            </a:r>
            <a:endParaRPr sz="2000"/>
          </a:p>
          <a:p>
            <a:pPr indent="-355600" lvl="0" marL="457200" rtl="0" algn="l">
              <a:spcBef>
                <a:spcPts val="0"/>
              </a:spcBef>
              <a:spcAft>
                <a:spcPts val="0"/>
              </a:spcAft>
              <a:buSzPts val="2000"/>
              <a:buAutoNum type="arabicPeriod"/>
            </a:pPr>
            <a:r>
              <a:rPr lang="en" sz="2000"/>
              <a:t>Set prev and next pointers</a:t>
            </a:r>
            <a:endParaRPr sz="2000"/>
          </a:p>
          <a:p>
            <a:pPr indent="-355600" lvl="0" marL="457200" rtl="0" algn="l">
              <a:spcBef>
                <a:spcPts val="0"/>
              </a:spcBef>
              <a:spcAft>
                <a:spcPts val="0"/>
              </a:spcAft>
              <a:buSzPts val="2000"/>
              <a:buAutoNum type="arabicPeriod"/>
            </a:pPr>
            <a:r>
              <a:rPr lang="en" sz="2000"/>
              <a:t>Make new node as head node</a:t>
            </a:r>
            <a:endParaRPr sz="2000"/>
          </a:p>
        </p:txBody>
      </p:sp>
      <p:pic>
        <p:nvPicPr>
          <p:cNvPr id="366" name="Google Shape;366;p59"/>
          <p:cNvPicPr preferRelativeResize="0"/>
          <p:nvPr/>
        </p:nvPicPr>
        <p:blipFill>
          <a:blip r:embed="rId3">
            <a:alphaModFix/>
          </a:blip>
          <a:stretch>
            <a:fillRect/>
          </a:stretch>
        </p:blipFill>
        <p:spPr>
          <a:xfrm>
            <a:off x="4261775" y="2057400"/>
            <a:ext cx="4867950" cy="572700"/>
          </a:xfrm>
          <a:prstGeom prst="rect">
            <a:avLst/>
          </a:prstGeom>
          <a:noFill/>
          <a:ln>
            <a:noFill/>
          </a:ln>
        </p:spPr>
      </p:pic>
      <p:pic>
        <p:nvPicPr>
          <p:cNvPr id="367" name="Google Shape;367;p59"/>
          <p:cNvPicPr preferRelativeResize="0"/>
          <p:nvPr/>
        </p:nvPicPr>
        <p:blipFill>
          <a:blip r:embed="rId4">
            <a:alphaModFix/>
          </a:blip>
          <a:stretch>
            <a:fillRect/>
          </a:stretch>
        </p:blipFill>
        <p:spPr>
          <a:xfrm>
            <a:off x="4351475" y="2724150"/>
            <a:ext cx="2266950" cy="742950"/>
          </a:xfrm>
          <a:prstGeom prst="rect">
            <a:avLst/>
          </a:prstGeom>
          <a:noFill/>
          <a:ln>
            <a:noFill/>
          </a:ln>
        </p:spPr>
      </p:pic>
      <p:pic>
        <p:nvPicPr>
          <p:cNvPr id="368" name="Google Shape;368;p59"/>
          <p:cNvPicPr preferRelativeResize="0"/>
          <p:nvPr/>
        </p:nvPicPr>
        <p:blipFill>
          <a:blip r:embed="rId5">
            <a:alphaModFix/>
          </a:blip>
          <a:stretch>
            <a:fillRect/>
          </a:stretch>
        </p:blipFill>
        <p:spPr>
          <a:xfrm>
            <a:off x="4743450" y="3467100"/>
            <a:ext cx="4400550" cy="16764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Operation on DLL[4]</a:t>
            </a:r>
            <a:endParaRPr/>
          </a:p>
        </p:txBody>
      </p:sp>
      <p:sp>
        <p:nvSpPr>
          <p:cNvPr id="374" name="Google Shape;374;p6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770"/>
              <a:buNone/>
            </a:pPr>
            <a:r>
              <a:rPr b="1" lang="en" sz="1600" u="sng"/>
              <a:t>Insertion of a new node after a node in DLL</a:t>
            </a:r>
            <a:endParaRPr b="1" sz="1600" u="sng"/>
          </a:p>
          <a:p>
            <a:pPr indent="-330200" lvl="0" marL="457200" rtl="0" algn="l">
              <a:lnSpc>
                <a:spcPct val="105000"/>
              </a:lnSpc>
              <a:spcBef>
                <a:spcPts val="1200"/>
              </a:spcBef>
              <a:spcAft>
                <a:spcPts val="0"/>
              </a:spcAft>
              <a:buSzPts val="1600"/>
              <a:buAutoNum type="arabicPeriod"/>
            </a:pPr>
            <a:r>
              <a:rPr lang="en" sz="1600"/>
              <a:t>Create a </a:t>
            </a:r>
            <a:r>
              <a:rPr b="1" lang="en" sz="1600"/>
              <a:t>newNode</a:t>
            </a:r>
            <a:r>
              <a:rPr lang="en" sz="1600"/>
              <a:t> with given value. </a:t>
            </a:r>
            <a:endParaRPr sz="1600"/>
          </a:p>
          <a:p>
            <a:pPr indent="-330200" lvl="0" marL="457200" rtl="0" algn="l">
              <a:lnSpc>
                <a:spcPct val="105000"/>
              </a:lnSpc>
              <a:spcBef>
                <a:spcPts val="0"/>
              </a:spcBef>
              <a:spcAft>
                <a:spcPts val="0"/>
              </a:spcAft>
              <a:buSzPts val="1600"/>
              <a:buAutoNum type="arabicPeriod"/>
            </a:pPr>
            <a:r>
              <a:rPr lang="en" sz="1600"/>
              <a:t>Check whether list is Empty (head = NULL) </a:t>
            </a:r>
            <a:endParaRPr sz="1600"/>
          </a:p>
          <a:p>
            <a:pPr indent="-330200" lvl="0" marL="457200" rtl="0" algn="l">
              <a:lnSpc>
                <a:spcPct val="105000"/>
              </a:lnSpc>
              <a:spcBef>
                <a:spcPts val="0"/>
              </a:spcBef>
              <a:spcAft>
                <a:spcPts val="0"/>
              </a:spcAft>
              <a:buSzPts val="1600"/>
              <a:buAutoNum type="arabicPeriod"/>
            </a:pPr>
            <a:r>
              <a:rPr lang="en" sz="1600"/>
              <a:t>If it is Empty then, assign NULL to newNode previous &amp; newNode —&gt; next and newNode to head. </a:t>
            </a:r>
            <a:endParaRPr sz="1600"/>
          </a:p>
          <a:p>
            <a:pPr indent="-330200" lvl="0" marL="457200" rtl="0" algn="l">
              <a:lnSpc>
                <a:spcPct val="105000"/>
              </a:lnSpc>
              <a:spcBef>
                <a:spcPts val="0"/>
              </a:spcBef>
              <a:spcAft>
                <a:spcPts val="0"/>
              </a:spcAft>
              <a:buSzPts val="1600"/>
              <a:buAutoNum type="arabicPeriod"/>
            </a:pPr>
            <a:r>
              <a:rPr lang="en" sz="1600"/>
              <a:t>If it is not Empty then, define two node pointers tempi &amp; temp2 and initialize tempi with head. </a:t>
            </a:r>
            <a:endParaRPr sz="1600"/>
          </a:p>
          <a:p>
            <a:pPr indent="-330200" lvl="0" marL="457200" rtl="0" algn="l">
              <a:lnSpc>
                <a:spcPct val="105000"/>
              </a:lnSpc>
              <a:spcBef>
                <a:spcPts val="0"/>
              </a:spcBef>
              <a:spcAft>
                <a:spcPts val="0"/>
              </a:spcAft>
              <a:buSzPts val="1600"/>
              <a:buAutoNum type="arabicPeriod"/>
            </a:pPr>
            <a:r>
              <a:rPr lang="en" sz="1600"/>
              <a:t>Keep moving the tempt to its next node until it reaches to the node after which we want to insert the newNode (until tempi-&gt;data is equal to location, here location is the node value after which we want to insert the newNode). </a:t>
            </a:r>
            <a:endParaRPr sz="1600"/>
          </a:p>
          <a:p>
            <a:pPr indent="-330200" lvl="0" marL="457200" rtl="0" algn="l">
              <a:lnSpc>
                <a:spcPct val="105000"/>
              </a:lnSpc>
              <a:spcBef>
                <a:spcPts val="0"/>
              </a:spcBef>
              <a:spcAft>
                <a:spcPts val="0"/>
              </a:spcAft>
              <a:buSzPts val="1600"/>
              <a:buAutoNum type="arabicPeriod"/>
            </a:pPr>
            <a:r>
              <a:rPr lang="en" sz="1600"/>
              <a:t>Every time check whether tempi is reached to the last node. If it is reached to the last node then display 'Given node not found!!! Insertion not possible!!!' and exit. Otherwise move the temp1 to next node. </a:t>
            </a:r>
            <a:endParaRPr sz="1600"/>
          </a:p>
          <a:p>
            <a:pPr indent="-330200" lvl="0" marL="457200" rtl="0" algn="l">
              <a:lnSpc>
                <a:spcPct val="105000"/>
              </a:lnSpc>
              <a:spcBef>
                <a:spcPts val="0"/>
              </a:spcBef>
              <a:spcAft>
                <a:spcPts val="0"/>
              </a:spcAft>
              <a:buSzPts val="1600"/>
              <a:buAutoNum type="arabicPeriod"/>
            </a:pPr>
            <a:r>
              <a:rPr lang="en" sz="1600"/>
              <a:t>Assign tempi —+ next to temp2, newNode to tempi —* next, tempi to newNode previous, temp2 to newNode --+ next and newNode to temp2 —4 previous. </a:t>
            </a:r>
            <a:endParaRPr sz="16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Operation on DLL[5]</a:t>
            </a:r>
            <a:endParaRPr/>
          </a:p>
        </p:txBody>
      </p:sp>
      <p:sp>
        <p:nvSpPr>
          <p:cNvPr id="380" name="Google Shape;380;p6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0"/>
              </a:spcAft>
              <a:buClr>
                <a:schemeClr val="dk1"/>
              </a:buClr>
              <a:buSzPts val="770"/>
              <a:buFont typeface="Arial"/>
              <a:buNone/>
            </a:pPr>
            <a:r>
              <a:rPr b="1" lang="en" sz="1600" u="sng"/>
              <a:t>Insertion of a new node after a node in DLL</a:t>
            </a:r>
            <a:endParaRPr b="1" sz="1600" u="sng"/>
          </a:p>
          <a:p>
            <a:pPr indent="-355600" lvl="0" marL="457200" rtl="0" algn="l">
              <a:spcBef>
                <a:spcPts val="1200"/>
              </a:spcBef>
              <a:spcAft>
                <a:spcPts val="0"/>
              </a:spcAft>
              <a:buSzPts val="2000"/>
              <a:buAutoNum type="arabicPeriod"/>
            </a:pPr>
            <a:r>
              <a:rPr lang="en" sz="2000"/>
              <a:t>Create a new node</a:t>
            </a:r>
            <a:endParaRPr sz="2000"/>
          </a:p>
          <a:p>
            <a:pPr indent="-355600" lvl="0" marL="457200" rtl="0" algn="l">
              <a:spcBef>
                <a:spcPts val="0"/>
              </a:spcBef>
              <a:spcAft>
                <a:spcPts val="0"/>
              </a:spcAft>
              <a:buSzPts val="2000"/>
              <a:buAutoNum type="arabicPeriod"/>
            </a:pPr>
            <a:r>
              <a:rPr lang="en" sz="2000"/>
              <a:t>Set the next pointer of new node and previous node</a:t>
            </a:r>
            <a:endParaRPr sz="2000"/>
          </a:p>
          <a:p>
            <a:pPr indent="-355600" lvl="0" marL="457200" rtl="0" algn="l">
              <a:spcBef>
                <a:spcPts val="0"/>
              </a:spcBef>
              <a:spcAft>
                <a:spcPts val="0"/>
              </a:spcAft>
              <a:buSzPts val="2000"/>
              <a:buAutoNum type="arabicPeriod"/>
            </a:pPr>
            <a:r>
              <a:rPr lang="en" sz="2000"/>
              <a:t>Set the previous pointer of new node and the next node</a:t>
            </a:r>
            <a:endParaRPr sz="2000"/>
          </a:p>
        </p:txBody>
      </p:sp>
      <p:pic>
        <p:nvPicPr>
          <p:cNvPr id="381" name="Google Shape;381;p61"/>
          <p:cNvPicPr preferRelativeResize="0"/>
          <p:nvPr/>
        </p:nvPicPr>
        <p:blipFill>
          <a:blip r:embed="rId3">
            <a:alphaModFix/>
          </a:blip>
          <a:stretch>
            <a:fillRect/>
          </a:stretch>
        </p:blipFill>
        <p:spPr>
          <a:xfrm>
            <a:off x="247650" y="2806225"/>
            <a:ext cx="8648700" cy="895350"/>
          </a:xfrm>
          <a:prstGeom prst="rect">
            <a:avLst/>
          </a:prstGeom>
          <a:noFill/>
          <a:ln>
            <a:noFill/>
          </a:ln>
        </p:spPr>
      </p:pic>
      <p:pic>
        <p:nvPicPr>
          <p:cNvPr id="382" name="Google Shape;382;p61"/>
          <p:cNvPicPr preferRelativeResize="0"/>
          <p:nvPr/>
        </p:nvPicPr>
        <p:blipFill>
          <a:blip r:embed="rId4">
            <a:alphaModFix/>
          </a:blip>
          <a:stretch>
            <a:fillRect/>
          </a:stretch>
        </p:blipFill>
        <p:spPr>
          <a:xfrm>
            <a:off x="406975" y="3890025"/>
            <a:ext cx="2495550" cy="81915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Operation on DLL[6]</a:t>
            </a:r>
            <a:endParaRPr/>
          </a:p>
        </p:txBody>
      </p:sp>
      <p:sp>
        <p:nvSpPr>
          <p:cNvPr id="388" name="Google Shape;388;p6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1200"/>
              </a:spcAft>
              <a:buNone/>
            </a:pPr>
            <a:r>
              <a:rPr b="1" lang="en" sz="1600" u="sng"/>
              <a:t>Insertion of a new node after a node in DLL</a:t>
            </a:r>
            <a:endParaRPr sz="2000"/>
          </a:p>
        </p:txBody>
      </p:sp>
      <p:pic>
        <p:nvPicPr>
          <p:cNvPr id="389" name="Google Shape;389;p62"/>
          <p:cNvPicPr preferRelativeResize="0"/>
          <p:nvPr/>
        </p:nvPicPr>
        <p:blipFill>
          <a:blip r:embed="rId3">
            <a:alphaModFix/>
          </a:blip>
          <a:stretch>
            <a:fillRect/>
          </a:stretch>
        </p:blipFill>
        <p:spPr>
          <a:xfrm>
            <a:off x="247650" y="1571875"/>
            <a:ext cx="8648700" cy="895350"/>
          </a:xfrm>
          <a:prstGeom prst="rect">
            <a:avLst/>
          </a:prstGeom>
          <a:noFill/>
          <a:ln>
            <a:noFill/>
          </a:ln>
        </p:spPr>
      </p:pic>
      <p:pic>
        <p:nvPicPr>
          <p:cNvPr id="390" name="Google Shape;390;p62"/>
          <p:cNvPicPr preferRelativeResize="0"/>
          <p:nvPr/>
        </p:nvPicPr>
        <p:blipFill>
          <a:blip r:embed="rId4">
            <a:alphaModFix/>
          </a:blip>
          <a:stretch>
            <a:fillRect/>
          </a:stretch>
        </p:blipFill>
        <p:spPr>
          <a:xfrm>
            <a:off x="163350" y="2571750"/>
            <a:ext cx="2495550" cy="819150"/>
          </a:xfrm>
          <a:prstGeom prst="rect">
            <a:avLst/>
          </a:prstGeom>
          <a:noFill/>
          <a:ln>
            <a:noFill/>
          </a:ln>
        </p:spPr>
      </p:pic>
      <p:pic>
        <p:nvPicPr>
          <p:cNvPr id="391" name="Google Shape;391;p62"/>
          <p:cNvPicPr preferRelativeResize="0"/>
          <p:nvPr/>
        </p:nvPicPr>
        <p:blipFill>
          <a:blip r:embed="rId5">
            <a:alphaModFix/>
          </a:blip>
          <a:stretch>
            <a:fillRect/>
          </a:stretch>
        </p:blipFill>
        <p:spPr>
          <a:xfrm>
            <a:off x="4051100" y="2779361"/>
            <a:ext cx="5304050" cy="1401790"/>
          </a:xfrm>
          <a:prstGeom prst="rect">
            <a:avLst/>
          </a:prstGeom>
          <a:noFill/>
          <a:ln>
            <a:noFill/>
          </a:ln>
        </p:spPr>
      </p:pic>
      <p:pic>
        <p:nvPicPr>
          <p:cNvPr id="392" name="Google Shape;392;p62"/>
          <p:cNvPicPr preferRelativeResize="0"/>
          <p:nvPr/>
        </p:nvPicPr>
        <p:blipFill>
          <a:blip r:embed="rId6">
            <a:alphaModFix/>
          </a:blip>
          <a:stretch>
            <a:fillRect/>
          </a:stretch>
        </p:blipFill>
        <p:spPr>
          <a:xfrm>
            <a:off x="0" y="3402950"/>
            <a:ext cx="4051095" cy="171392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Operation on DLL[7]</a:t>
            </a:r>
            <a:endParaRPr/>
          </a:p>
        </p:txBody>
      </p:sp>
      <p:sp>
        <p:nvSpPr>
          <p:cNvPr id="398" name="Google Shape;398;p6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1200"/>
              </a:spcAft>
              <a:buNone/>
            </a:pPr>
            <a:r>
              <a:rPr b="1" lang="en" sz="1600" u="sng"/>
              <a:t>Insertion of a new node at the end in DLL</a:t>
            </a:r>
            <a:endParaRPr sz="2000"/>
          </a:p>
        </p:txBody>
      </p:sp>
      <p:pic>
        <p:nvPicPr>
          <p:cNvPr id="399" name="Google Shape;399;p63"/>
          <p:cNvPicPr preferRelativeResize="0"/>
          <p:nvPr/>
        </p:nvPicPr>
        <p:blipFill>
          <a:blip r:embed="rId3">
            <a:alphaModFix/>
          </a:blip>
          <a:stretch>
            <a:fillRect/>
          </a:stretch>
        </p:blipFill>
        <p:spPr>
          <a:xfrm>
            <a:off x="877425" y="2449250"/>
            <a:ext cx="6800850" cy="196215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Operation on DLL[8]</a:t>
            </a:r>
            <a:endParaRPr/>
          </a:p>
        </p:txBody>
      </p:sp>
      <p:sp>
        <p:nvSpPr>
          <p:cNvPr id="405" name="Google Shape;405;p6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0"/>
              </a:spcAft>
              <a:buNone/>
            </a:pPr>
            <a:r>
              <a:rPr b="1" lang="en" sz="1600" u="sng"/>
              <a:t>Delete</a:t>
            </a:r>
            <a:r>
              <a:rPr b="1" lang="en" sz="1600" u="sng"/>
              <a:t> a node from the beginning in DLL</a:t>
            </a:r>
            <a:endParaRPr b="1" sz="1600" u="sng"/>
          </a:p>
          <a:p>
            <a:pPr indent="-330200" lvl="0" marL="457200" rtl="0" algn="l">
              <a:lnSpc>
                <a:spcPct val="105000"/>
              </a:lnSpc>
              <a:spcBef>
                <a:spcPts val="1200"/>
              </a:spcBef>
              <a:spcAft>
                <a:spcPts val="0"/>
              </a:spcAft>
              <a:buSzPts val="1600"/>
              <a:buAutoNum type="arabicPeriod"/>
            </a:pPr>
            <a:r>
              <a:rPr lang="en" sz="1600"/>
              <a:t>Check whether the list is EMPTY</a:t>
            </a:r>
            <a:endParaRPr sz="1600"/>
          </a:p>
          <a:p>
            <a:pPr indent="-330200" lvl="0" marL="457200" rtl="0" algn="l">
              <a:lnSpc>
                <a:spcPct val="105000"/>
              </a:lnSpc>
              <a:spcBef>
                <a:spcPts val="0"/>
              </a:spcBef>
              <a:spcAft>
                <a:spcPts val="0"/>
              </a:spcAft>
              <a:buSzPts val="1600"/>
              <a:buAutoNum type="arabicPeriod"/>
            </a:pPr>
            <a:r>
              <a:rPr lang="en" sz="1600"/>
              <a:t>If it is empty, then display ‘List is empty, cant delete’ and exit.</a:t>
            </a:r>
            <a:endParaRPr sz="1600"/>
          </a:p>
          <a:p>
            <a:pPr indent="-330200" lvl="0" marL="457200" rtl="0" algn="l">
              <a:lnSpc>
                <a:spcPct val="105000"/>
              </a:lnSpc>
              <a:spcBef>
                <a:spcPts val="0"/>
              </a:spcBef>
              <a:spcAft>
                <a:spcPts val="0"/>
              </a:spcAft>
              <a:buSzPts val="1600"/>
              <a:buAutoNum type="arabicPeriod"/>
            </a:pPr>
            <a:r>
              <a:rPr lang="en" sz="1600"/>
              <a:t>If it is not empty, then define a Node pointer “p” and initialize with head.</a:t>
            </a:r>
            <a:endParaRPr sz="1600"/>
          </a:p>
          <a:p>
            <a:pPr indent="-330200" lvl="0" marL="457200" rtl="0" algn="l">
              <a:lnSpc>
                <a:spcPct val="105000"/>
              </a:lnSpc>
              <a:spcBef>
                <a:spcPts val="0"/>
              </a:spcBef>
              <a:spcAft>
                <a:spcPts val="0"/>
              </a:spcAft>
              <a:buSzPts val="1600"/>
              <a:buAutoNum type="arabicPeriod"/>
            </a:pPr>
            <a:r>
              <a:rPr lang="en" sz="1600"/>
              <a:t>Check whether the list is having only one element, (p-&gt;next = p-&gt;previous = NULL)</a:t>
            </a:r>
            <a:endParaRPr sz="1600"/>
          </a:p>
          <a:p>
            <a:pPr indent="-330200" lvl="0" marL="457200" rtl="0" algn="l">
              <a:lnSpc>
                <a:spcPct val="105000"/>
              </a:lnSpc>
              <a:spcBef>
                <a:spcPts val="0"/>
              </a:spcBef>
              <a:spcAft>
                <a:spcPts val="0"/>
              </a:spcAft>
              <a:buSzPts val="1600"/>
              <a:buAutoNum type="arabicPeriod"/>
            </a:pPr>
            <a:r>
              <a:rPr lang="en" sz="1600"/>
              <a:t>If it is true, then set HEAD to NULL and delete p.</a:t>
            </a:r>
            <a:endParaRPr sz="1600"/>
          </a:p>
          <a:p>
            <a:pPr indent="-330200" lvl="0" marL="457200" rtl="0" algn="l">
              <a:lnSpc>
                <a:spcPct val="105000"/>
              </a:lnSpc>
              <a:spcBef>
                <a:spcPts val="0"/>
              </a:spcBef>
              <a:spcAft>
                <a:spcPts val="0"/>
              </a:spcAft>
              <a:buSzPts val="1600"/>
              <a:buAutoNum type="arabicPeriod"/>
            </a:pPr>
            <a:r>
              <a:rPr lang="en" sz="1600"/>
              <a:t>If it is false, then assign p-&gt;next to head, NULL to head-&gt;previous and delete p.</a:t>
            </a:r>
            <a:endParaRPr sz="1600"/>
          </a:p>
        </p:txBody>
      </p:sp>
      <p:pic>
        <p:nvPicPr>
          <p:cNvPr id="406" name="Google Shape;406;p64"/>
          <p:cNvPicPr preferRelativeResize="0"/>
          <p:nvPr/>
        </p:nvPicPr>
        <p:blipFill>
          <a:blip r:embed="rId3">
            <a:alphaModFix/>
          </a:blip>
          <a:stretch>
            <a:fillRect/>
          </a:stretch>
        </p:blipFill>
        <p:spPr>
          <a:xfrm>
            <a:off x="375025" y="3560000"/>
            <a:ext cx="8572500" cy="146685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Operation on DLL[9]</a:t>
            </a:r>
            <a:endParaRPr/>
          </a:p>
        </p:txBody>
      </p:sp>
      <p:sp>
        <p:nvSpPr>
          <p:cNvPr id="412" name="Google Shape;412;p6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0"/>
              </a:spcAft>
              <a:buNone/>
            </a:pPr>
            <a:r>
              <a:rPr b="1" lang="en" sz="1600" u="sng"/>
              <a:t>Delete a node from the endend in DLL</a:t>
            </a:r>
            <a:endParaRPr b="1" sz="1600" u="sng"/>
          </a:p>
          <a:p>
            <a:pPr indent="-330200" lvl="0" marL="457200" rtl="0" algn="l">
              <a:lnSpc>
                <a:spcPct val="105000"/>
              </a:lnSpc>
              <a:spcBef>
                <a:spcPts val="1200"/>
              </a:spcBef>
              <a:spcAft>
                <a:spcPts val="0"/>
              </a:spcAft>
              <a:buSzPts val="1600"/>
              <a:buAutoNum type="arabicPeriod"/>
            </a:pPr>
            <a:r>
              <a:rPr lang="en" sz="1600"/>
              <a:t>Check whether the list is EMPTY</a:t>
            </a:r>
            <a:endParaRPr sz="1600"/>
          </a:p>
          <a:p>
            <a:pPr indent="-330200" lvl="0" marL="457200" rtl="0" algn="l">
              <a:lnSpc>
                <a:spcPct val="105000"/>
              </a:lnSpc>
              <a:spcBef>
                <a:spcPts val="0"/>
              </a:spcBef>
              <a:spcAft>
                <a:spcPts val="0"/>
              </a:spcAft>
              <a:buSzPts val="1600"/>
              <a:buAutoNum type="arabicPeriod"/>
            </a:pPr>
            <a:r>
              <a:rPr lang="en" sz="1600"/>
              <a:t>If it is empty, then display ‘List is empty, cant delete’ and exit.</a:t>
            </a:r>
            <a:endParaRPr sz="1600"/>
          </a:p>
          <a:p>
            <a:pPr indent="-330200" lvl="0" marL="457200" rtl="0" algn="l">
              <a:lnSpc>
                <a:spcPct val="105000"/>
              </a:lnSpc>
              <a:spcBef>
                <a:spcPts val="0"/>
              </a:spcBef>
              <a:spcAft>
                <a:spcPts val="0"/>
              </a:spcAft>
              <a:buSzPts val="1600"/>
              <a:buAutoNum type="arabicPeriod"/>
            </a:pPr>
            <a:r>
              <a:rPr lang="en" sz="1600"/>
              <a:t>If it is not empty, then define a Node pointer “p” and initialize with head.</a:t>
            </a:r>
            <a:endParaRPr sz="1600"/>
          </a:p>
          <a:p>
            <a:pPr indent="-330200" lvl="0" marL="457200" rtl="0" algn="l">
              <a:lnSpc>
                <a:spcPct val="105000"/>
              </a:lnSpc>
              <a:spcBef>
                <a:spcPts val="0"/>
              </a:spcBef>
              <a:spcAft>
                <a:spcPts val="0"/>
              </a:spcAft>
              <a:buSzPts val="1600"/>
              <a:buAutoNum type="arabicPeriod"/>
            </a:pPr>
            <a:r>
              <a:rPr lang="en" sz="1600"/>
              <a:t>Check whether the list is having only one element, (p-&gt;next = p-&gt;previous = NULL)</a:t>
            </a:r>
            <a:endParaRPr sz="1600"/>
          </a:p>
          <a:p>
            <a:pPr indent="-330200" lvl="0" marL="457200" rtl="0" algn="l">
              <a:lnSpc>
                <a:spcPct val="105000"/>
              </a:lnSpc>
              <a:spcBef>
                <a:spcPts val="0"/>
              </a:spcBef>
              <a:spcAft>
                <a:spcPts val="0"/>
              </a:spcAft>
              <a:buSzPts val="1600"/>
              <a:buAutoNum type="arabicPeriod"/>
            </a:pPr>
            <a:r>
              <a:rPr lang="en" sz="1600"/>
              <a:t>If it is true, then set HEAD to NULL and delete p.</a:t>
            </a:r>
            <a:endParaRPr sz="1600"/>
          </a:p>
          <a:p>
            <a:pPr indent="-330200" lvl="0" marL="457200" rtl="0" algn="l">
              <a:lnSpc>
                <a:spcPct val="105000"/>
              </a:lnSpc>
              <a:spcBef>
                <a:spcPts val="0"/>
              </a:spcBef>
              <a:spcAft>
                <a:spcPts val="0"/>
              </a:spcAft>
              <a:buSzPts val="1600"/>
              <a:buAutoNum type="arabicPeriod"/>
            </a:pPr>
            <a:r>
              <a:rPr lang="en" sz="1600"/>
              <a:t>If it is false, then keep moving p until it reaches to the last node in the list.</a:t>
            </a:r>
            <a:endParaRPr sz="1600"/>
          </a:p>
          <a:p>
            <a:pPr indent="-330200" lvl="0" marL="457200" rtl="0" algn="l">
              <a:lnSpc>
                <a:spcPct val="105000"/>
              </a:lnSpc>
              <a:spcBef>
                <a:spcPts val="0"/>
              </a:spcBef>
              <a:spcAft>
                <a:spcPts val="0"/>
              </a:spcAft>
              <a:buSzPts val="1600"/>
              <a:buAutoNum type="arabicPeriod"/>
            </a:pPr>
            <a:r>
              <a:rPr lang="en" sz="1600"/>
              <a:t>Assign q= p-&gt;previous and q-&gt;next = NULL and then delete p.</a:t>
            </a:r>
            <a:endParaRPr sz="1600"/>
          </a:p>
          <a:p>
            <a:pPr indent="-330200" lvl="0" marL="457200" rtl="0" algn="l">
              <a:lnSpc>
                <a:spcPct val="105000"/>
              </a:lnSpc>
              <a:spcBef>
                <a:spcPts val="0"/>
              </a:spcBef>
              <a:spcAft>
                <a:spcPts val="0"/>
              </a:spcAft>
              <a:buSzPts val="1600"/>
              <a:buAutoNum type="arabicPeriod"/>
            </a:pPr>
            <a:r>
              <a:rPr lang="en" sz="1600"/>
              <a:t>Set q= p-&gt;previous and q-&gt;next =  NULL and delete p.</a:t>
            </a:r>
            <a:endParaRPr sz="1600"/>
          </a:p>
        </p:txBody>
      </p:sp>
      <p:pic>
        <p:nvPicPr>
          <p:cNvPr id="413" name="Google Shape;413;p65"/>
          <p:cNvPicPr preferRelativeResize="0"/>
          <p:nvPr/>
        </p:nvPicPr>
        <p:blipFill>
          <a:blip r:embed="rId3">
            <a:alphaModFix/>
          </a:blip>
          <a:stretch>
            <a:fillRect/>
          </a:stretch>
        </p:blipFill>
        <p:spPr>
          <a:xfrm>
            <a:off x="867400" y="3516025"/>
            <a:ext cx="8105150" cy="156137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Operation on DLL[10]</a:t>
            </a:r>
            <a:endParaRPr/>
          </a:p>
        </p:txBody>
      </p:sp>
      <p:sp>
        <p:nvSpPr>
          <p:cNvPr id="419" name="Google Shape;419;p6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0"/>
              </a:spcAft>
              <a:buNone/>
            </a:pPr>
            <a:r>
              <a:rPr b="1" lang="en" sz="1600" u="sng"/>
              <a:t>Delete of a specific node in DLL</a:t>
            </a:r>
            <a:endParaRPr b="1" sz="1600" u="sng"/>
          </a:p>
          <a:p>
            <a:pPr indent="-330200" lvl="0" marL="457200" rtl="0" algn="l">
              <a:lnSpc>
                <a:spcPct val="105000"/>
              </a:lnSpc>
              <a:spcBef>
                <a:spcPts val="1200"/>
              </a:spcBef>
              <a:spcAft>
                <a:spcPts val="0"/>
              </a:spcAft>
              <a:buSzPts val="1600"/>
              <a:buAutoNum type="arabicPeriod"/>
            </a:pPr>
            <a:r>
              <a:rPr lang="en" sz="1600"/>
              <a:t>Check whether the list is EMPTY</a:t>
            </a:r>
            <a:endParaRPr sz="1600"/>
          </a:p>
          <a:p>
            <a:pPr indent="-330200" lvl="0" marL="457200" rtl="0" algn="l">
              <a:lnSpc>
                <a:spcPct val="105000"/>
              </a:lnSpc>
              <a:spcBef>
                <a:spcPts val="0"/>
              </a:spcBef>
              <a:spcAft>
                <a:spcPts val="0"/>
              </a:spcAft>
              <a:buSzPts val="1600"/>
              <a:buAutoNum type="arabicPeriod"/>
            </a:pPr>
            <a:r>
              <a:rPr lang="en" sz="1600"/>
              <a:t>If it is empty, then display ‘List is empty, cant delete’ and exit.</a:t>
            </a:r>
            <a:endParaRPr sz="1600"/>
          </a:p>
          <a:p>
            <a:pPr indent="-330200" lvl="0" marL="457200" rtl="0" algn="l">
              <a:lnSpc>
                <a:spcPct val="105000"/>
              </a:lnSpc>
              <a:spcBef>
                <a:spcPts val="0"/>
              </a:spcBef>
              <a:spcAft>
                <a:spcPts val="0"/>
              </a:spcAft>
              <a:buSzPts val="1600"/>
              <a:buAutoNum type="arabicPeriod"/>
            </a:pPr>
            <a:r>
              <a:rPr lang="en" sz="1600"/>
              <a:t>If it is not empty, then define a Node pointer “p” and initialize with head.</a:t>
            </a:r>
            <a:endParaRPr sz="1600"/>
          </a:p>
          <a:p>
            <a:pPr indent="-330200" lvl="0" marL="457200" rtl="0" algn="l">
              <a:lnSpc>
                <a:spcPct val="105000"/>
              </a:lnSpc>
              <a:spcBef>
                <a:spcPts val="0"/>
              </a:spcBef>
              <a:spcAft>
                <a:spcPts val="0"/>
              </a:spcAft>
              <a:buSzPts val="1600"/>
              <a:buAutoNum type="arabicPeriod"/>
            </a:pPr>
            <a:r>
              <a:rPr lang="en" sz="1600"/>
              <a:t>Check whether the list is having only one element, (p-&gt;next = p-&gt;previous = NULL)</a:t>
            </a:r>
            <a:endParaRPr sz="1600"/>
          </a:p>
          <a:p>
            <a:pPr indent="-330200" lvl="0" marL="457200" rtl="0" algn="l">
              <a:lnSpc>
                <a:spcPct val="105000"/>
              </a:lnSpc>
              <a:spcBef>
                <a:spcPts val="0"/>
              </a:spcBef>
              <a:spcAft>
                <a:spcPts val="0"/>
              </a:spcAft>
              <a:buSzPts val="1600"/>
              <a:buAutoNum type="arabicPeriod"/>
            </a:pPr>
            <a:r>
              <a:rPr lang="en" sz="1600"/>
              <a:t>If it is true, then set HEAD to NULL and delete p.</a:t>
            </a:r>
            <a:endParaRPr sz="1600"/>
          </a:p>
          <a:p>
            <a:pPr indent="-330200" lvl="0" marL="457200" rtl="0" algn="l">
              <a:lnSpc>
                <a:spcPct val="105000"/>
              </a:lnSpc>
              <a:spcBef>
                <a:spcPts val="0"/>
              </a:spcBef>
              <a:spcAft>
                <a:spcPts val="0"/>
              </a:spcAft>
              <a:buSzPts val="1600"/>
              <a:buAutoNum type="arabicPeriod"/>
            </a:pPr>
            <a:r>
              <a:rPr lang="en" sz="1600"/>
              <a:t>If it is false, then keep moving p until it reaches to the last node in the list.</a:t>
            </a:r>
            <a:endParaRPr sz="1600"/>
          </a:p>
          <a:p>
            <a:pPr indent="-330200" lvl="0" marL="457200" rtl="0" algn="l">
              <a:lnSpc>
                <a:spcPct val="105000"/>
              </a:lnSpc>
              <a:spcBef>
                <a:spcPts val="0"/>
              </a:spcBef>
              <a:spcAft>
                <a:spcPts val="0"/>
              </a:spcAft>
              <a:buSzPts val="1600"/>
              <a:buAutoNum type="arabicPeriod"/>
            </a:pPr>
            <a:r>
              <a:rPr lang="en" sz="1600"/>
              <a:t>Set q= p-&gt;previous and q-&gt;next =  NULL and delete p.</a:t>
            </a:r>
            <a:endParaRPr sz="1600"/>
          </a:p>
        </p:txBody>
      </p:sp>
      <p:pic>
        <p:nvPicPr>
          <p:cNvPr id="420" name="Google Shape;420;p66"/>
          <p:cNvPicPr preferRelativeResize="0"/>
          <p:nvPr/>
        </p:nvPicPr>
        <p:blipFill>
          <a:blip r:embed="rId3">
            <a:alphaModFix/>
          </a:blip>
          <a:stretch>
            <a:fillRect/>
          </a:stretch>
        </p:blipFill>
        <p:spPr>
          <a:xfrm>
            <a:off x="375025" y="3560000"/>
            <a:ext cx="8572500" cy="146685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Operation on DLL[9]</a:t>
            </a:r>
            <a:endParaRPr/>
          </a:p>
        </p:txBody>
      </p:sp>
      <p:sp>
        <p:nvSpPr>
          <p:cNvPr id="426" name="Google Shape;426;p6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0"/>
              </a:spcAft>
              <a:buNone/>
            </a:pPr>
            <a:r>
              <a:rPr b="1" lang="en" sz="1600" u="sng"/>
              <a:t>Delete of a node a the beginning in DLL</a:t>
            </a:r>
            <a:endParaRPr b="1" sz="1600" u="sng"/>
          </a:p>
          <a:p>
            <a:pPr indent="-330200" lvl="0" marL="457200" rtl="0" algn="l">
              <a:lnSpc>
                <a:spcPct val="105000"/>
              </a:lnSpc>
              <a:spcBef>
                <a:spcPts val="1200"/>
              </a:spcBef>
              <a:spcAft>
                <a:spcPts val="0"/>
              </a:spcAft>
              <a:buSzPts val="1600"/>
              <a:buAutoNum type="arabicPeriod"/>
            </a:pPr>
            <a:r>
              <a:rPr lang="en" sz="1600"/>
              <a:t>Check whether the list is EMPTY</a:t>
            </a:r>
            <a:endParaRPr sz="1600"/>
          </a:p>
          <a:p>
            <a:pPr indent="-330200" lvl="0" marL="457200" rtl="0" algn="l">
              <a:lnSpc>
                <a:spcPct val="105000"/>
              </a:lnSpc>
              <a:spcBef>
                <a:spcPts val="0"/>
              </a:spcBef>
              <a:spcAft>
                <a:spcPts val="0"/>
              </a:spcAft>
              <a:buSzPts val="1600"/>
              <a:buAutoNum type="arabicPeriod"/>
            </a:pPr>
            <a:r>
              <a:rPr lang="en" sz="1600"/>
              <a:t>If it is empty, then display ‘List is empty, cant delete’ and exit.</a:t>
            </a:r>
            <a:endParaRPr sz="1600"/>
          </a:p>
          <a:p>
            <a:pPr indent="-330200" lvl="0" marL="457200" rtl="0" algn="l">
              <a:lnSpc>
                <a:spcPct val="105000"/>
              </a:lnSpc>
              <a:spcBef>
                <a:spcPts val="0"/>
              </a:spcBef>
              <a:spcAft>
                <a:spcPts val="0"/>
              </a:spcAft>
              <a:buSzPts val="1600"/>
              <a:buAutoNum type="arabicPeriod"/>
            </a:pPr>
            <a:r>
              <a:rPr lang="en" sz="1600"/>
              <a:t>If it is not empty, then define a Node pointer “p” and initialize with head.</a:t>
            </a:r>
            <a:endParaRPr sz="1600"/>
          </a:p>
          <a:p>
            <a:pPr indent="-330200" lvl="0" marL="457200" rtl="0" algn="l">
              <a:lnSpc>
                <a:spcPct val="105000"/>
              </a:lnSpc>
              <a:spcBef>
                <a:spcPts val="0"/>
              </a:spcBef>
              <a:spcAft>
                <a:spcPts val="0"/>
              </a:spcAft>
              <a:buSzPts val="1600"/>
              <a:buAutoNum type="arabicPeriod"/>
            </a:pPr>
            <a:r>
              <a:rPr lang="en" sz="1600"/>
              <a:t>Check whether the list is having only one element, (p-&gt;next = p-&gt;previous = NULL)</a:t>
            </a:r>
            <a:endParaRPr sz="1600"/>
          </a:p>
          <a:p>
            <a:pPr indent="-330200" lvl="0" marL="457200" rtl="0" algn="l">
              <a:lnSpc>
                <a:spcPct val="105000"/>
              </a:lnSpc>
              <a:spcBef>
                <a:spcPts val="0"/>
              </a:spcBef>
              <a:spcAft>
                <a:spcPts val="0"/>
              </a:spcAft>
              <a:buSzPts val="1600"/>
              <a:buAutoNum type="arabicPeriod"/>
            </a:pPr>
            <a:r>
              <a:rPr lang="en" sz="1600"/>
              <a:t>If it is true, then set HEAD to NULL and delete p.</a:t>
            </a:r>
            <a:endParaRPr sz="1600"/>
          </a:p>
          <a:p>
            <a:pPr indent="-330200" lvl="0" marL="457200" rtl="0" algn="l">
              <a:lnSpc>
                <a:spcPct val="105000"/>
              </a:lnSpc>
              <a:spcBef>
                <a:spcPts val="0"/>
              </a:spcBef>
              <a:spcAft>
                <a:spcPts val="0"/>
              </a:spcAft>
              <a:buSzPts val="1600"/>
              <a:buAutoNum type="arabicPeriod"/>
            </a:pPr>
            <a:r>
              <a:rPr lang="en" sz="1600"/>
              <a:t>If it is false, then assign p-&gt;next to head, NULL to head-&gt;previous and delete p.</a:t>
            </a:r>
            <a:endParaRPr sz="1600"/>
          </a:p>
        </p:txBody>
      </p:sp>
      <p:pic>
        <p:nvPicPr>
          <p:cNvPr id="427" name="Google Shape;427;p67"/>
          <p:cNvPicPr preferRelativeResize="0"/>
          <p:nvPr/>
        </p:nvPicPr>
        <p:blipFill>
          <a:blip r:embed="rId3">
            <a:alphaModFix/>
          </a:blip>
          <a:stretch>
            <a:fillRect/>
          </a:stretch>
        </p:blipFill>
        <p:spPr>
          <a:xfrm>
            <a:off x="375025" y="3560000"/>
            <a:ext cx="8572500" cy="146685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Operation on DLL[10]</a:t>
            </a:r>
            <a:endParaRPr/>
          </a:p>
        </p:txBody>
      </p:sp>
      <p:sp>
        <p:nvSpPr>
          <p:cNvPr id="433" name="Google Shape;433;p68"/>
          <p:cNvSpPr txBox="1"/>
          <p:nvPr>
            <p:ph idx="1" type="body"/>
          </p:nvPr>
        </p:nvSpPr>
        <p:spPr>
          <a:xfrm>
            <a:off x="311700" y="1152475"/>
            <a:ext cx="8520600" cy="3834600"/>
          </a:xfrm>
          <a:prstGeom prst="rect">
            <a:avLst/>
          </a:prstGeom>
        </p:spPr>
        <p:txBody>
          <a:bodyPr anchorCtr="0" anchor="t" bIns="91425" lIns="91425" spcFirstLastPara="1" rIns="91425" wrap="square" tIns="91425">
            <a:normAutofit lnSpcReduction="20000"/>
          </a:bodyPr>
          <a:lstStyle/>
          <a:p>
            <a:pPr indent="0" lvl="0" marL="0" rtl="0" algn="l">
              <a:lnSpc>
                <a:spcPct val="105000"/>
              </a:lnSpc>
              <a:spcBef>
                <a:spcPts val="0"/>
              </a:spcBef>
              <a:spcAft>
                <a:spcPts val="0"/>
              </a:spcAft>
              <a:buNone/>
            </a:pPr>
            <a:r>
              <a:rPr b="1" lang="en" sz="1600" u="sng"/>
              <a:t>Delete of a specific node in DLL</a:t>
            </a:r>
            <a:endParaRPr b="1" sz="1600" u="sng"/>
          </a:p>
          <a:p>
            <a:pPr indent="-330200" lvl="0" marL="457200" rtl="0" algn="l">
              <a:lnSpc>
                <a:spcPct val="105000"/>
              </a:lnSpc>
              <a:spcBef>
                <a:spcPts val="1200"/>
              </a:spcBef>
              <a:spcAft>
                <a:spcPts val="0"/>
              </a:spcAft>
              <a:buSzPts val="1600"/>
              <a:buAutoNum type="arabicPeriod"/>
            </a:pPr>
            <a:r>
              <a:rPr lang="en" sz="1600"/>
              <a:t>Check whether the list is EMPTY</a:t>
            </a:r>
            <a:endParaRPr sz="1600"/>
          </a:p>
          <a:p>
            <a:pPr indent="-330200" lvl="0" marL="457200" rtl="0" algn="l">
              <a:lnSpc>
                <a:spcPct val="105000"/>
              </a:lnSpc>
              <a:spcBef>
                <a:spcPts val="0"/>
              </a:spcBef>
              <a:spcAft>
                <a:spcPts val="0"/>
              </a:spcAft>
              <a:buSzPts val="1600"/>
              <a:buAutoNum type="arabicPeriod"/>
            </a:pPr>
            <a:r>
              <a:rPr lang="en" sz="1600"/>
              <a:t>If it is empty, then display ‘List is empty, cant delete’ and exit.</a:t>
            </a:r>
            <a:endParaRPr sz="1600"/>
          </a:p>
          <a:p>
            <a:pPr indent="-330200" lvl="0" marL="457200" rtl="0" algn="l">
              <a:lnSpc>
                <a:spcPct val="105000"/>
              </a:lnSpc>
              <a:spcBef>
                <a:spcPts val="0"/>
              </a:spcBef>
              <a:spcAft>
                <a:spcPts val="0"/>
              </a:spcAft>
              <a:buSzPts val="1600"/>
              <a:buAutoNum type="arabicPeriod"/>
            </a:pPr>
            <a:r>
              <a:rPr lang="en" sz="1600"/>
              <a:t>If it is not empty, then define a Node pointer “p” and initialize with head.</a:t>
            </a:r>
            <a:endParaRPr sz="1600"/>
          </a:p>
          <a:p>
            <a:pPr indent="-330200" lvl="0" marL="457200" rtl="0" algn="l">
              <a:lnSpc>
                <a:spcPct val="105000"/>
              </a:lnSpc>
              <a:spcBef>
                <a:spcPts val="0"/>
              </a:spcBef>
              <a:spcAft>
                <a:spcPts val="0"/>
              </a:spcAft>
              <a:buSzPts val="1600"/>
              <a:buAutoNum type="arabicPeriod"/>
            </a:pPr>
            <a:r>
              <a:rPr lang="en" sz="1600"/>
              <a:t>Keep moving p until it reaches to the exact node to be deleted or to the last node</a:t>
            </a:r>
            <a:endParaRPr sz="1600"/>
          </a:p>
          <a:p>
            <a:pPr indent="-330200" lvl="0" marL="457200" rtl="0" algn="l">
              <a:lnSpc>
                <a:spcPct val="105000"/>
              </a:lnSpc>
              <a:spcBef>
                <a:spcPts val="0"/>
              </a:spcBef>
              <a:spcAft>
                <a:spcPts val="0"/>
              </a:spcAft>
              <a:buSzPts val="1600"/>
              <a:buAutoNum type="arabicPeriod"/>
            </a:pPr>
            <a:r>
              <a:rPr lang="en" sz="1600"/>
              <a:t>If it reached to the last node, then display ‘Given node not found’ and exit.</a:t>
            </a:r>
            <a:endParaRPr sz="1600"/>
          </a:p>
          <a:p>
            <a:pPr indent="-330200" lvl="0" marL="457200" rtl="0" algn="l">
              <a:lnSpc>
                <a:spcPct val="105000"/>
              </a:lnSpc>
              <a:spcBef>
                <a:spcPts val="0"/>
              </a:spcBef>
              <a:spcAft>
                <a:spcPts val="0"/>
              </a:spcAft>
              <a:buSzPts val="1600"/>
              <a:buAutoNum type="arabicPeriod"/>
            </a:pPr>
            <a:r>
              <a:rPr lang="en" sz="1600"/>
              <a:t>If it reached to the exact node, then check whether list is having only one node.</a:t>
            </a:r>
            <a:endParaRPr sz="1600"/>
          </a:p>
          <a:p>
            <a:pPr indent="-330200" lvl="0" marL="457200" rtl="0" algn="l">
              <a:lnSpc>
                <a:spcPct val="105000"/>
              </a:lnSpc>
              <a:spcBef>
                <a:spcPts val="0"/>
              </a:spcBef>
              <a:spcAft>
                <a:spcPts val="0"/>
              </a:spcAft>
              <a:buSzPts val="1600"/>
              <a:buAutoNum type="arabicPeriod"/>
            </a:pPr>
            <a:r>
              <a:rPr lang="en" sz="1600"/>
              <a:t>If list has only one node and that is the node to be deleted, then set HEAD to NULL and delete p.</a:t>
            </a:r>
            <a:endParaRPr sz="1600"/>
          </a:p>
          <a:p>
            <a:pPr indent="-330200" lvl="0" marL="457200" rtl="0" algn="l">
              <a:lnSpc>
                <a:spcPct val="105000"/>
              </a:lnSpc>
              <a:spcBef>
                <a:spcPts val="0"/>
              </a:spcBef>
              <a:spcAft>
                <a:spcPts val="0"/>
              </a:spcAft>
              <a:buSzPts val="1600"/>
              <a:buAutoNum type="arabicPeriod"/>
            </a:pPr>
            <a:r>
              <a:rPr lang="en" sz="1600"/>
              <a:t>If list contains multiple nodes, then check whether p is the first node in the list.</a:t>
            </a:r>
            <a:endParaRPr sz="1600"/>
          </a:p>
          <a:p>
            <a:pPr indent="-330200" lvl="0" marL="457200" rtl="0" algn="l">
              <a:lnSpc>
                <a:spcPct val="105000"/>
              </a:lnSpc>
              <a:spcBef>
                <a:spcPts val="0"/>
              </a:spcBef>
              <a:spcAft>
                <a:spcPts val="0"/>
              </a:spcAft>
              <a:buSzPts val="1600"/>
              <a:buAutoNum type="arabicPeriod"/>
            </a:pPr>
            <a:r>
              <a:rPr lang="en" sz="1600"/>
              <a:t>If p is the first node, then move the head to the next node, set head of previous to NULL and delete p.</a:t>
            </a:r>
            <a:endParaRPr sz="1600"/>
          </a:p>
          <a:p>
            <a:pPr indent="-330200" lvl="0" marL="457200" rtl="0" algn="l">
              <a:lnSpc>
                <a:spcPct val="105000"/>
              </a:lnSpc>
              <a:spcBef>
                <a:spcPts val="0"/>
              </a:spcBef>
              <a:spcAft>
                <a:spcPts val="0"/>
              </a:spcAft>
              <a:buSzPts val="1600"/>
              <a:buAutoNum type="arabicPeriod"/>
            </a:pPr>
            <a:r>
              <a:rPr lang="en" sz="1600"/>
              <a:t>If p is not the first node, check whether it is the last node in the list.</a:t>
            </a:r>
            <a:endParaRPr sz="1600"/>
          </a:p>
          <a:p>
            <a:pPr indent="-330200" lvl="0" marL="457200" rtl="0" algn="l">
              <a:lnSpc>
                <a:spcPct val="105000"/>
              </a:lnSpc>
              <a:spcBef>
                <a:spcPts val="0"/>
              </a:spcBef>
              <a:spcAft>
                <a:spcPts val="0"/>
              </a:spcAft>
              <a:buSzPts val="1600"/>
              <a:buAutoNum type="arabicPeriod"/>
            </a:pPr>
            <a:r>
              <a:rPr lang="en" sz="1600"/>
              <a:t>If p is the last node then set temp of previous of next to NULL and delete p.</a:t>
            </a:r>
            <a:endParaRPr sz="1600"/>
          </a:p>
          <a:p>
            <a:pPr indent="-330200" lvl="0" marL="457200" rtl="0" algn="l">
              <a:lnSpc>
                <a:spcPct val="105000"/>
              </a:lnSpc>
              <a:spcBef>
                <a:spcPts val="0"/>
              </a:spcBef>
              <a:spcAft>
                <a:spcPts val="0"/>
              </a:spcAft>
              <a:buSzPts val="1600"/>
              <a:buAutoNum type="arabicPeriod"/>
            </a:pPr>
            <a:r>
              <a:rPr lang="en" sz="1600"/>
              <a:t>If p is not the first node nor the last node, then set p of previous of next to p of next: ie p-&gt;previous-&gt;next = p-&gt;next, p of next of previous to p of previous and delete p.</a:t>
            </a:r>
            <a:endParaRPr sz="1600"/>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Operation on DLL[10] … </a:t>
            </a:r>
            <a:endParaRPr/>
          </a:p>
        </p:txBody>
      </p:sp>
      <p:sp>
        <p:nvSpPr>
          <p:cNvPr id="439" name="Google Shape;439;p6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1200"/>
              </a:spcAft>
              <a:buNone/>
            </a:pPr>
            <a:r>
              <a:t/>
            </a:r>
            <a:endParaRPr sz="1600"/>
          </a:p>
        </p:txBody>
      </p:sp>
      <p:pic>
        <p:nvPicPr>
          <p:cNvPr id="440" name="Google Shape;440;p69"/>
          <p:cNvPicPr preferRelativeResize="0"/>
          <p:nvPr/>
        </p:nvPicPr>
        <p:blipFill>
          <a:blip r:embed="rId3">
            <a:alphaModFix/>
          </a:blip>
          <a:stretch>
            <a:fillRect/>
          </a:stretch>
        </p:blipFill>
        <p:spPr>
          <a:xfrm>
            <a:off x="285750" y="2029625"/>
            <a:ext cx="8572500" cy="146685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Operation on DLL[11] … </a:t>
            </a:r>
            <a:endParaRPr/>
          </a:p>
        </p:txBody>
      </p:sp>
      <p:sp>
        <p:nvSpPr>
          <p:cNvPr id="446" name="Google Shape;446;p7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0"/>
              </a:spcAft>
              <a:buNone/>
            </a:pPr>
            <a:r>
              <a:rPr lang="en" sz="1600"/>
              <a:t>Displaying the elements of a DLL:</a:t>
            </a:r>
            <a:endParaRPr sz="1600"/>
          </a:p>
          <a:p>
            <a:pPr indent="-330200" lvl="0" marL="457200" rtl="0" algn="l">
              <a:lnSpc>
                <a:spcPct val="105000"/>
              </a:lnSpc>
              <a:spcBef>
                <a:spcPts val="1200"/>
              </a:spcBef>
              <a:spcAft>
                <a:spcPts val="0"/>
              </a:spcAft>
              <a:buSzPts val="1600"/>
              <a:buAutoNum type="arabicPeriod"/>
            </a:pPr>
            <a:r>
              <a:rPr lang="en" sz="1600"/>
              <a:t>Check whether the list is EMPTY</a:t>
            </a:r>
            <a:endParaRPr sz="1600"/>
          </a:p>
          <a:p>
            <a:pPr indent="-330200" lvl="0" marL="457200" rtl="0" algn="l">
              <a:lnSpc>
                <a:spcPct val="105000"/>
              </a:lnSpc>
              <a:spcBef>
                <a:spcPts val="0"/>
              </a:spcBef>
              <a:spcAft>
                <a:spcPts val="0"/>
              </a:spcAft>
              <a:buSzPts val="1600"/>
              <a:buAutoNum type="arabicPeriod"/>
            </a:pPr>
            <a:r>
              <a:rPr lang="en" sz="1600"/>
              <a:t>If it is empty, then display ‘List is empty’ and exit.</a:t>
            </a:r>
            <a:endParaRPr sz="1600"/>
          </a:p>
          <a:p>
            <a:pPr indent="-330200" lvl="0" marL="457200" rtl="0" algn="l">
              <a:lnSpc>
                <a:spcPct val="105000"/>
              </a:lnSpc>
              <a:spcBef>
                <a:spcPts val="0"/>
              </a:spcBef>
              <a:spcAft>
                <a:spcPts val="0"/>
              </a:spcAft>
              <a:buSzPts val="1600"/>
              <a:buAutoNum type="arabicPeriod"/>
            </a:pPr>
            <a:r>
              <a:rPr lang="en" sz="1600"/>
              <a:t>If it is not empty, then define a Node pointer “p” and initialize with head.</a:t>
            </a:r>
            <a:endParaRPr sz="1600"/>
          </a:p>
          <a:p>
            <a:pPr indent="-330200" lvl="0" marL="457200" rtl="0" algn="l">
              <a:lnSpc>
                <a:spcPct val="105000"/>
              </a:lnSpc>
              <a:spcBef>
                <a:spcPts val="0"/>
              </a:spcBef>
              <a:spcAft>
                <a:spcPts val="0"/>
              </a:spcAft>
              <a:buSzPts val="1600"/>
              <a:buAutoNum type="arabicPeriod"/>
            </a:pPr>
            <a:r>
              <a:rPr lang="en" sz="1600"/>
              <a:t>Keep moving p to the next node until p reaches to the last node</a:t>
            </a:r>
            <a:endParaRPr sz="1600"/>
          </a:p>
          <a:p>
            <a:pPr indent="-330200" lvl="0" marL="457200" rtl="0" algn="l">
              <a:lnSpc>
                <a:spcPct val="105000"/>
              </a:lnSpc>
              <a:spcBef>
                <a:spcPts val="0"/>
              </a:spcBef>
              <a:spcAft>
                <a:spcPts val="0"/>
              </a:spcAft>
              <a:buSzPts val="1600"/>
              <a:buAutoNum type="arabicPeriod"/>
            </a:pPr>
            <a:r>
              <a:rPr lang="en" sz="1600"/>
              <a:t>At each step display p-&gt;data.</a:t>
            </a:r>
            <a:endParaRPr sz="16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DLL Applications</a:t>
            </a:r>
            <a:endParaRPr/>
          </a:p>
        </p:txBody>
      </p:sp>
      <p:sp>
        <p:nvSpPr>
          <p:cNvPr id="452" name="Google Shape;452;p7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Redo and undo functionality in editor softwares.</a:t>
            </a:r>
            <a:endParaRPr/>
          </a:p>
          <a:p>
            <a:pPr indent="-342900" lvl="0" marL="457200" rtl="0" algn="l">
              <a:spcBef>
                <a:spcPts val="0"/>
              </a:spcBef>
              <a:spcAft>
                <a:spcPts val="0"/>
              </a:spcAft>
              <a:buSzPts val="1800"/>
              <a:buChar char="●"/>
            </a:pPr>
            <a:r>
              <a:rPr lang="en"/>
              <a:t>Forward and backward navigation in browsers</a:t>
            </a:r>
            <a:endParaRPr/>
          </a:p>
          <a:p>
            <a:pPr indent="-342900" lvl="0" marL="457200" rtl="0" algn="l">
              <a:spcBef>
                <a:spcPts val="0"/>
              </a:spcBef>
              <a:spcAft>
                <a:spcPts val="0"/>
              </a:spcAft>
              <a:buSzPts val="1800"/>
              <a:buChar char="●"/>
            </a:pPr>
            <a:r>
              <a:rPr lang="en"/>
              <a:t>For navigation systems where forward and backward navigation is required.</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7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Circular Linked List</a:t>
            </a:r>
            <a:endParaRPr/>
          </a:p>
        </p:txBody>
      </p:sp>
      <p:sp>
        <p:nvSpPr>
          <p:cNvPr id="458" name="Google Shape;458;p7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A circular linked list is basically a linear LL that may be single or double linked.</a:t>
            </a:r>
            <a:endParaRPr/>
          </a:p>
          <a:p>
            <a:pPr indent="-342900" lvl="0" marL="457200" rtl="0" algn="l">
              <a:spcBef>
                <a:spcPts val="0"/>
              </a:spcBef>
              <a:spcAft>
                <a:spcPts val="0"/>
              </a:spcAft>
              <a:buSzPts val="1800"/>
              <a:buChar char="●"/>
            </a:pPr>
            <a:r>
              <a:rPr lang="en"/>
              <a:t>The only difference from linear one is that there is no any NULL value terminating the list.</a:t>
            </a:r>
            <a:endParaRPr/>
          </a:p>
          <a:p>
            <a:pPr indent="-342900" lvl="0" marL="457200" rtl="0" algn="l">
              <a:spcBef>
                <a:spcPts val="0"/>
              </a:spcBef>
              <a:spcAft>
                <a:spcPts val="0"/>
              </a:spcAft>
              <a:buSzPts val="1800"/>
              <a:buChar char="●"/>
            </a:pPr>
            <a:r>
              <a:rPr lang="en"/>
              <a:t>In fact every node in the list points to the next node and the last node points to the first node, thus forming a circle. Since it forms a circle with no end to stop, it is called circular LL.</a:t>
            </a:r>
            <a:endParaRPr/>
          </a:p>
          <a:p>
            <a:pPr indent="-342900" lvl="0" marL="457200" rtl="0" algn="l">
              <a:spcBef>
                <a:spcPts val="0"/>
              </a:spcBef>
              <a:spcAft>
                <a:spcPts val="0"/>
              </a:spcAft>
              <a:buSzPts val="1800"/>
              <a:buChar char="●"/>
            </a:pPr>
            <a:r>
              <a:rPr lang="en"/>
              <a:t>In circular LL, there can be no starting or ending node, whole list can be traversed from any node.</a:t>
            </a:r>
            <a:endParaRPr/>
          </a:p>
          <a:p>
            <a:pPr indent="-342900" lvl="0" marL="457200" rtl="0" algn="l">
              <a:spcBef>
                <a:spcPts val="0"/>
              </a:spcBef>
              <a:spcAft>
                <a:spcPts val="0"/>
              </a:spcAft>
              <a:buSzPts val="1800"/>
              <a:buChar char="●"/>
            </a:pPr>
            <a:r>
              <a:rPr lang="en"/>
              <a:t>In order to traverse, we only need to traverse the entire list until the starting node is not traversed again.</a:t>
            </a:r>
            <a:endParaRPr/>
          </a:p>
          <a:p>
            <a:pPr indent="-342900" lvl="0" marL="457200" rtl="0" algn="l">
              <a:spcBef>
                <a:spcPts val="0"/>
              </a:spcBef>
              <a:spcAft>
                <a:spcPts val="0"/>
              </a:spcAft>
              <a:buSzPts val="1800"/>
              <a:buChar char="●"/>
            </a:pPr>
            <a:r>
              <a:rPr lang="en"/>
              <a:t>A circular LL can be implemented using both singly LL and DLL.</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Circular Linked List [1]</a:t>
            </a:r>
            <a:endParaRPr/>
          </a:p>
        </p:txBody>
      </p:sp>
      <p:sp>
        <p:nvSpPr>
          <p:cNvPr id="464" name="Google Shape;464;p7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t/>
            </a:r>
            <a:endParaRPr/>
          </a:p>
        </p:txBody>
      </p:sp>
      <p:pic>
        <p:nvPicPr>
          <p:cNvPr id="465" name="Google Shape;465;p73"/>
          <p:cNvPicPr preferRelativeResize="0"/>
          <p:nvPr/>
        </p:nvPicPr>
        <p:blipFill>
          <a:blip r:embed="rId3">
            <a:alphaModFix/>
          </a:blip>
          <a:stretch>
            <a:fillRect/>
          </a:stretch>
        </p:blipFill>
        <p:spPr>
          <a:xfrm>
            <a:off x="0" y="1152487"/>
            <a:ext cx="9144000" cy="1865376"/>
          </a:xfrm>
          <a:prstGeom prst="rect">
            <a:avLst/>
          </a:prstGeom>
          <a:noFill/>
          <a:ln>
            <a:noFill/>
          </a:ln>
        </p:spPr>
      </p:pic>
      <p:pic>
        <p:nvPicPr>
          <p:cNvPr id="466" name="Google Shape;466;p73"/>
          <p:cNvPicPr preferRelativeResize="0"/>
          <p:nvPr/>
        </p:nvPicPr>
        <p:blipFill>
          <a:blip r:embed="rId4">
            <a:alphaModFix/>
          </a:blip>
          <a:stretch>
            <a:fillRect/>
          </a:stretch>
        </p:blipFill>
        <p:spPr>
          <a:xfrm>
            <a:off x="0" y="3343210"/>
            <a:ext cx="9143999" cy="1800281"/>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7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Circular Linked List [2]</a:t>
            </a:r>
            <a:endParaRPr/>
          </a:p>
        </p:txBody>
      </p:sp>
      <p:sp>
        <p:nvSpPr>
          <p:cNvPr id="472" name="Google Shape;472;p7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Advantages</a:t>
            </a:r>
            <a:endParaRPr/>
          </a:p>
          <a:p>
            <a:pPr indent="-317500" lvl="1" marL="914400" rtl="0" algn="l">
              <a:spcBef>
                <a:spcPts val="0"/>
              </a:spcBef>
              <a:spcAft>
                <a:spcPts val="0"/>
              </a:spcAft>
              <a:buSzPts val="1400"/>
              <a:buChar char="○"/>
            </a:pPr>
            <a:r>
              <a:rPr lang="en"/>
              <a:t>Entire list can be traversed from any node</a:t>
            </a:r>
            <a:endParaRPr/>
          </a:p>
          <a:p>
            <a:pPr indent="-317500" lvl="1" marL="914400" rtl="0" algn="l">
              <a:spcBef>
                <a:spcPts val="0"/>
              </a:spcBef>
              <a:spcAft>
                <a:spcPts val="0"/>
              </a:spcAft>
              <a:buSzPts val="1400"/>
              <a:buChar char="○"/>
            </a:pPr>
            <a:r>
              <a:rPr lang="en"/>
              <a:t>Helps to access in a circle or loop</a:t>
            </a:r>
            <a:endParaRPr/>
          </a:p>
          <a:p>
            <a:pPr indent="-317500" lvl="1" marL="914400" rtl="0" algn="l">
              <a:spcBef>
                <a:spcPts val="0"/>
              </a:spcBef>
              <a:spcAft>
                <a:spcPts val="0"/>
              </a:spcAft>
              <a:buSzPts val="1400"/>
              <a:buChar char="○"/>
            </a:pPr>
            <a:r>
              <a:rPr lang="en"/>
              <a:t>Despite using single linked list, we can traverse to its previous node.</a:t>
            </a:r>
            <a:endParaRPr/>
          </a:p>
          <a:p>
            <a:pPr indent="-342900" lvl="0" marL="457200" rtl="0" algn="l">
              <a:spcBef>
                <a:spcPts val="0"/>
              </a:spcBef>
              <a:spcAft>
                <a:spcPts val="0"/>
              </a:spcAft>
              <a:buSzPts val="1800"/>
              <a:buChar char="●"/>
            </a:pPr>
            <a:r>
              <a:rPr lang="en"/>
              <a:t>Disadvantages</a:t>
            </a:r>
            <a:endParaRPr/>
          </a:p>
          <a:p>
            <a:pPr indent="-317500" lvl="1" marL="914400" rtl="0" algn="l">
              <a:spcBef>
                <a:spcPts val="0"/>
              </a:spcBef>
              <a:spcAft>
                <a:spcPts val="0"/>
              </a:spcAft>
              <a:buSzPts val="1400"/>
              <a:buChar char="○"/>
            </a:pPr>
            <a:r>
              <a:rPr lang="en"/>
              <a:t>Complex compared to linear LL</a:t>
            </a:r>
            <a:endParaRPr/>
          </a:p>
          <a:p>
            <a:pPr indent="-317500" lvl="1" marL="914400" rtl="0" algn="l">
              <a:spcBef>
                <a:spcPts val="0"/>
              </a:spcBef>
              <a:spcAft>
                <a:spcPts val="0"/>
              </a:spcAft>
              <a:buSzPts val="1400"/>
              <a:buChar char="○"/>
            </a:pPr>
            <a:r>
              <a:rPr lang="en"/>
              <a:t>Reversing operations is also complex</a:t>
            </a:r>
            <a:endParaRPr/>
          </a:p>
          <a:p>
            <a:pPr indent="-317500" lvl="1" marL="914400" rtl="0" algn="l">
              <a:spcBef>
                <a:spcPts val="0"/>
              </a:spcBef>
              <a:spcAft>
                <a:spcPts val="0"/>
              </a:spcAft>
              <a:buSzPts val="1400"/>
              <a:buChar char="○"/>
            </a:pPr>
            <a:r>
              <a:rPr lang="en"/>
              <a:t>If not traversed carefully, then we could end in an infinite loop.</a:t>
            </a:r>
            <a:endParaRPr/>
          </a:p>
          <a:p>
            <a:pPr indent="-317500" lvl="1" marL="914400" rtl="0" algn="l">
              <a:spcBef>
                <a:spcPts val="0"/>
              </a:spcBef>
              <a:spcAft>
                <a:spcPts val="0"/>
              </a:spcAft>
              <a:buSzPts val="1400"/>
              <a:buChar char="○"/>
            </a:pPr>
            <a:r>
              <a:rPr lang="en"/>
              <a:t>Only support sequential access of elements.</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7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Operations on Circular Linked List</a:t>
            </a:r>
            <a:endParaRPr/>
          </a:p>
        </p:txBody>
      </p:sp>
      <p:sp>
        <p:nvSpPr>
          <p:cNvPr id="478" name="Google Shape;478;p7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Insert - insert an element at the start of the circular linked list.</a:t>
            </a:r>
            <a:endParaRPr/>
          </a:p>
          <a:p>
            <a:pPr indent="-342900" lvl="0" marL="457200" rtl="0" algn="l">
              <a:spcBef>
                <a:spcPts val="0"/>
              </a:spcBef>
              <a:spcAft>
                <a:spcPts val="0"/>
              </a:spcAft>
              <a:buSzPts val="1800"/>
              <a:buChar char="●"/>
            </a:pPr>
            <a:r>
              <a:rPr lang="en"/>
              <a:t>Delete - delete an element from the start of the circular linked list.</a:t>
            </a:r>
            <a:endParaRPr/>
          </a:p>
          <a:p>
            <a:pPr indent="-342900" lvl="0" marL="457200" rtl="0" algn="l">
              <a:spcBef>
                <a:spcPts val="0"/>
              </a:spcBef>
              <a:spcAft>
                <a:spcPts val="0"/>
              </a:spcAft>
              <a:buSzPts val="1800"/>
              <a:buChar char="●"/>
            </a:pPr>
            <a:r>
              <a:rPr lang="en"/>
              <a:t>Display - display the elements in the list.</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7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Stack as Linked List</a:t>
            </a:r>
            <a:endParaRPr/>
          </a:p>
        </p:txBody>
      </p:sp>
      <p:sp>
        <p:nvSpPr>
          <p:cNvPr id="484" name="Google Shape;484;p7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Problem with array implementation =&gt; fixed size</a:t>
            </a:r>
            <a:endParaRPr/>
          </a:p>
          <a:p>
            <a:pPr indent="-342900" lvl="0" marL="457200" rtl="0" algn="l">
              <a:spcBef>
                <a:spcPts val="0"/>
              </a:spcBef>
              <a:spcAft>
                <a:spcPts val="0"/>
              </a:spcAft>
              <a:buSzPts val="1800"/>
              <a:buChar char="●"/>
            </a:pPr>
            <a:r>
              <a:rPr lang="en"/>
              <a:t>The stack implemented using Linked list can work for an unlimited number of data.</a:t>
            </a:r>
            <a:endParaRPr/>
          </a:p>
          <a:p>
            <a:pPr indent="-342900" lvl="0" marL="457200" rtl="0" algn="l">
              <a:spcBef>
                <a:spcPts val="0"/>
              </a:spcBef>
              <a:spcAft>
                <a:spcPts val="0"/>
              </a:spcAft>
              <a:buSzPts val="1800"/>
              <a:buChar char="●"/>
            </a:pPr>
            <a:r>
              <a:rPr lang="en"/>
              <a:t>In linked list implementation of a stack, every new element is inserted as “top” element.</a:t>
            </a:r>
            <a:endParaRPr/>
          </a:p>
          <a:p>
            <a:pPr indent="-342900" lvl="0" marL="457200" rtl="0" algn="l">
              <a:spcBef>
                <a:spcPts val="0"/>
              </a:spcBef>
              <a:spcAft>
                <a:spcPts val="0"/>
              </a:spcAft>
              <a:buSzPts val="1800"/>
              <a:buChar char="●"/>
            </a:pPr>
            <a:r>
              <a:rPr lang="en"/>
              <a:t>Removing an element from the stack will remove the node pointed to be top and top is moved to the next node in the list.</a:t>
            </a:r>
            <a:endParaRPr/>
          </a:p>
          <a:p>
            <a:pPr indent="-342900" lvl="0" marL="457200" rtl="0" algn="l">
              <a:spcBef>
                <a:spcPts val="0"/>
              </a:spcBef>
              <a:spcAft>
                <a:spcPts val="0"/>
              </a:spcAft>
              <a:buSzPts val="1800"/>
              <a:buChar char="●"/>
            </a:pPr>
            <a:r>
              <a:rPr lang="en"/>
              <a:t>The next field of the first element will always be NULL.</a:t>
            </a:r>
            <a:endParaRPr/>
          </a:p>
        </p:txBody>
      </p:sp>
      <p:pic>
        <p:nvPicPr>
          <p:cNvPr id="485" name="Google Shape;485;p76"/>
          <p:cNvPicPr preferRelativeResize="0"/>
          <p:nvPr/>
        </p:nvPicPr>
        <p:blipFill>
          <a:blip r:embed="rId3">
            <a:alphaModFix/>
          </a:blip>
          <a:stretch>
            <a:fillRect/>
          </a:stretch>
        </p:blipFill>
        <p:spPr>
          <a:xfrm>
            <a:off x="8141225" y="3216800"/>
            <a:ext cx="1002775" cy="192670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7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Stack as Linked List[2]</a:t>
            </a:r>
            <a:endParaRPr/>
          </a:p>
        </p:txBody>
      </p:sp>
      <p:sp>
        <p:nvSpPr>
          <p:cNvPr id="491" name="Google Shape;491;p7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Push(value, stack)</a:t>
            </a:r>
            <a:endParaRPr/>
          </a:p>
          <a:p>
            <a:pPr indent="-317500" lvl="1" marL="914400" rtl="0" algn="l">
              <a:spcBef>
                <a:spcPts val="0"/>
              </a:spcBef>
              <a:spcAft>
                <a:spcPts val="0"/>
              </a:spcAft>
              <a:buSzPts val="1400"/>
              <a:buChar char="○"/>
            </a:pPr>
            <a:r>
              <a:rPr lang="en"/>
              <a:t>Create a newNode with given value</a:t>
            </a:r>
            <a:endParaRPr/>
          </a:p>
          <a:p>
            <a:pPr indent="-317500" lvl="1" marL="914400" rtl="0" algn="l">
              <a:spcBef>
                <a:spcPts val="0"/>
              </a:spcBef>
              <a:spcAft>
                <a:spcPts val="0"/>
              </a:spcAft>
              <a:buSzPts val="1400"/>
              <a:buChar char="○"/>
            </a:pPr>
            <a:r>
              <a:rPr lang="en"/>
              <a:t>Check whether the stack is EMPTY (top == NULL)</a:t>
            </a:r>
            <a:endParaRPr/>
          </a:p>
          <a:p>
            <a:pPr indent="-317500" lvl="1" marL="914400" rtl="0" algn="l">
              <a:spcBef>
                <a:spcPts val="0"/>
              </a:spcBef>
              <a:spcAft>
                <a:spcPts val="0"/>
              </a:spcAft>
              <a:buSzPts val="1400"/>
              <a:buChar char="○"/>
            </a:pPr>
            <a:r>
              <a:rPr lang="en"/>
              <a:t>If it is EMPTY, then set newNode-&gt;next = NULL</a:t>
            </a:r>
            <a:endParaRPr/>
          </a:p>
          <a:p>
            <a:pPr indent="-317500" lvl="1" marL="914400" rtl="0" algn="l">
              <a:spcBef>
                <a:spcPts val="0"/>
              </a:spcBef>
              <a:spcAft>
                <a:spcPts val="0"/>
              </a:spcAft>
              <a:buSzPts val="1400"/>
              <a:buChar char="○"/>
            </a:pPr>
            <a:r>
              <a:rPr lang="en"/>
              <a:t>If it is not EMPTY, then set newNode-&gt;next = top</a:t>
            </a:r>
            <a:endParaRPr/>
          </a:p>
          <a:p>
            <a:pPr indent="-317500" lvl="1" marL="914400" rtl="0" algn="l">
              <a:spcBef>
                <a:spcPts val="0"/>
              </a:spcBef>
              <a:spcAft>
                <a:spcPts val="0"/>
              </a:spcAft>
              <a:buSzPts val="1400"/>
              <a:buChar char="○"/>
            </a:pPr>
            <a:r>
              <a:rPr lang="en"/>
              <a:t>Finally, set top = newNode</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7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Stack as Linked List[3]</a:t>
            </a:r>
            <a:endParaRPr/>
          </a:p>
        </p:txBody>
      </p:sp>
      <p:sp>
        <p:nvSpPr>
          <p:cNvPr id="497" name="Google Shape;497;p7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Pop</a:t>
            </a:r>
            <a:r>
              <a:rPr lang="en"/>
              <a:t>(stack)</a:t>
            </a:r>
            <a:endParaRPr/>
          </a:p>
          <a:p>
            <a:pPr indent="-317500" lvl="1" marL="914400" rtl="0" algn="l">
              <a:spcBef>
                <a:spcPts val="0"/>
              </a:spcBef>
              <a:spcAft>
                <a:spcPts val="0"/>
              </a:spcAft>
              <a:buSzPts val="1400"/>
              <a:buChar char="○"/>
            </a:pPr>
            <a:r>
              <a:rPr lang="en"/>
              <a:t>Check whether stack is EMPTY (top ==NULL)</a:t>
            </a:r>
            <a:endParaRPr/>
          </a:p>
          <a:p>
            <a:pPr indent="-317500" lvl="1" marL="914400" rtl="0" algn="l">
              <a:spcBef>
                <a:spcPts val="0"/>
              </a:spcBef>
              <a:spcAft>
                <a:spcPts val="0"/>
              </a:spcAft>
              <a:buSzPts val="1400"/>
              <a:buChar char="○"/>
            </a:pPr>
            <a:r>
              <a:rPr lang="en"/>
              <a:t>If it is EMPTY, then display “Stack is Empty, cant pop” and exit.</a:t>
            </a:r>
            <a:endParaRPr/>
          </a:p>
          <a:p>
            <a:pPr indent="-317500" lvl="1" marL="914400" rtl="0" algn="l">
              <a:spcBef>
                <a:spcPts val="0"/>
              </a:spcBef>
              <a:spcAft>
                <a:spcPts val="0"/>
              </a:spcAft>
              <a:buSzPts val="1400"/>
              <a:buChar char="○"/>
            </a:pPr>
            <a:r>
              <a:rPr lang="en"/>
              <a:t>If it is Not EMPTY, then define a node pointer “p” and set it to “top”</a:t>
            </a:r>
            <a:endParaRPr/>
          </a:p>
          <a:p>
            <a:pPr indent="-317500" lvl="1" marL="914400" rtl="0" algn="l">
              <a:spcBef>
                <a:spcPts val="0"/>
              </a:spcBef>
              <a:spcAft>
                <a:spcPts val="0"/>
              </a:spcAft>
              <a:buSzPts val="1400"/>
              <a:buChar char="○"/>
            </a:pPr>
            <a:r>
              <a:rPr lang="en"/>
              <a:t>Then set top = top-&gt;next.</a:t>
            </a:r>
            <a:endParaRPr/>
          </a:p>
          <a:p>
            <a:pPr indent="-317500" lvl="1" marL="914400" rtl="0" algn="l">
              <a:spcBef>
                <a:spcPts val="0"/>
              </a:spcBef>
              <a:spcAft>
                <a:spcPts val="0"/>
              </a:spcAft>
              <a:buSzPts val="1400"/>
              <a:buChar char="○"/>
            </a:pPr>
            <a:r>
              <a:rPr lang="en"/>
              <a:t>Delete the node “p”.</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7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Stack as Linked List[4]</a:t>
            </a:r>
            <a:endParaRPr/>
          </a:p>
        </p:txBody>
      </p:sp>
      <p:sp>
        <p:nvSpPr>
          <p:cNvPr id="503" name="Google Shape;503;p7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Display</a:t>
            </a:r>
            <a:r>
              <a:rPr lang="en"/>
              <a:t>(stack)</a:t>
            </a:r>
            <a:endParaRPr/>
          </a:p>
          <a:p>
            <a:pPr indent="-317500" lvl="1" marL="914400" rtl="0" algn="l">
              <a:spcBef>
                <a:spcPts val="0"/>
              </a:spcBef>
              <a:spcAft>
                <a:spcPts val="0"/>
              </a:spcAft>
              <a:buSzPts val="1400"/>
              <a:buChar char="○"/>
            </a:pPr>
            <a:r>
              <a:rPr lang="en"/>
              <a:t>Check whether stack is EMPTY (top ==NULL)</a:t>
            </a:r>
            <a:endParaRPr/>
          </a:p>
          <a:p>
            <a:pPr indent="-317500" lvl="1" marL="914400" rtl="0" algn="l">
              <a:spcBef>
                <a:spcPts val="0"/>
              </a:spcBef>
              <a:spcAft>
                <a:spcPts val="0"/>
              </a:spcAft>
              <a:buSzPts val="1400"/>
              <a:buChar char="○"/>
            </a:pPr>
            <a:r>
              <a:rPr lang="en"/>
              <a:t>If it is EMPTY, then display “Stack is Empty” and exit.</a:t>
            </a:r>
            <a:endParaRPr/>
          </a:p>
          <a:p>
            <a:pPr indent="-317500" lvl="1" marL="914400" rtl="0" algn="l">
              <a:spcBef>
                <a:spcPts val="0"/>
              </a:spcBef>
              <a:spcAft>
                <a:spcPts val="0"/>
              </a:spcAft>
              <a:buSzPts val="1400"/>
              <a:buChar char="○"/>
            </a:pPr>
            <a:r>
              <a:rPr lang="en"/>
              <a:t>If it is Not EMPTY, then define a node pointer “p” and set it to “top”</a:t>
            </a:r>
            <a:endParaRPr/>
          </a:p>
          <a:p>
            <a:pPr indent="-317500" lvl="1" marL="914400" rtl="0" algn="l">
              <a:spcBef>
                <a:spcPts val="0"/>
              </a:spcBef>
              <a:spcAft>
                <a:spcPts val="0"/>
              </a:spcAft>
              <a:buSzPts val="1400"/>
              <a:buChar char="○"/>
            </a:pPr>
            <a:r>
              <a:rPr lang="en"/>
              <a:t>Display p-&gt;data and move to next node</a:t>
            </a:r>
            <a:endParaRPr/>
          </a:p>
          <a:p>
            <a:pPr indent="-317500" lvl="1" marL="914400" rtl="0" algn="l">
              <a:spcBef>
                <a:spcPts val="0"/>
              </a:spcBef>
              <a:spcAft>
                <a:spcPts val="0"/>
              </a:spcAft>
              <a:buSzPts val="1400"/>
              <a:buChar char="○"/>
            </a:pPr>
            <a:r>
              <a:rPr lang="en"/>
              <a:t>Repeat the same until p reaches to the first node in the stack ie: p-&gt;next != NULL</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Queue as Linked List</a:t>
            </a:r>
            <a:endParaRPr/>
          </a:p>
        </p:txBody>
      </p:sp>
      <p:sp>
        <p:nvSpPr>
          <p:cNvPr id="509" name="Google Shape;509;p8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Problem with array implementation =&gt; fixed size</a:t>
            </a:r>
            <a:endParaRPr/>
          </a:p>
          <a:p>
            <a:pPr indent="-342900" lvl="0" marL="457200" rtl="0" algn="l">
              <a:spcBef>
                <a:spcPts val="0"/>
              </a:spcBef>
              <a:spcAft>
                <a:spcPts val="0"/>
              </a:spcAft>
              <a:buSzPts val="1800"/>
              <a:buChar char="●"/>
            </a:pPr>
            <a:r>
              <a:rPr lang="en"/>
              <a:t>The queue implemented using Linked list can work for an unlimited number of data.</a:t>
            </a:r>
            <a:endParaRPr/>
          </a:p>
          <a:p>
            <a:pPr indent="-342900" lvl="0" marL="457200" rtl="0" algn="l">
              <a:spcBef>
                <a:spcPts val="0"/>
              </a:spcBef>
              <a:spcAft>
                <a:spcPts val="0"/>
              </a:spcAft>
              <a:buSzPts val="1800"/>
              <a:buChar char="●"/>
            </a:pPr>
            <a:r>
              <a:rPr lang="en"/>
              <a:t>In linked list implementation of a queue, every new element is inserted as “rear” element and the first node is always pointed to by “front”.</a:t>
            </a:r>
            <a:endParaRPr/>
          </a:p>
          <a:p>
            <a:pPr indent="-342900" lvl="0" marL="457200" rtl="0" algn="l">
              <a:spcBef>
                <a:spcPts val="0"/>
              </a:spcBef>
              <a:spcAft>
                <a:spcPts val="0"/>
              </a:spcAft>
              <a:buSzPts val="1800"/>
              <a:buChar char="●"/>
            </a:pPr>
            <a:r>
              <a:rPr lang="en"/>
              <a:t>Removing an element from the stack will remove the node pointed to be front and front is moved to the next node in the list.</a:t>
            </a:r>
            <a:endParaRPr/>
          </a:p>
          <a:p>
            <a:pPr indent="-342900" lvl="0" marL="457200" rtl="0" algn="l">
              <a:spcBef>
                <a:spcPts val="0"/>
              </a:spcBef>
              <a:spcAft>
                <a:spcPts val="0"/>
              </a:spcAft>
              <a:buSzPts val="1800"/>
              <a:buChar char="●"/>
            </a:pPr>
            <a:r>
              <a:rPr lang="en"/>
              <a:t>The next field of the last inserted element will always be NULL.</a:t>
            </a:r>
            <a:endParaRPr/>
          </a:p>
        </p:txBody>
      </p:sp>
      <p:pic>
        <p:nvPicPr>
          <p:cNvPr id="510" name="Google Shape;510;p80"/>
          <p:cNvPicPr preferRelativeResize="0"/>
          <p:nvPr/>
        </p:nvPicPr>
        <p:blipFill>
          <a:blip r:embed="rId3">
            <a:alphaModFix/>
          </a:blip>
          <a:stretch>
            <a:fillRect/>
          </a:stretch>
        </p:blipFill>
        <p:spPr>
          <a:xfrm>
            <a:off x="602350" y="3888325"/>
            <a:ext cx="7829550" cy="114300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8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Queue as Linked List [2]</a:t>
            </a:r>
            <a:endParaRPr/>
          </a:p>
        </p:txBody>
      </p:sp>
      <p:sp>
        <p:nvSpPr>
          <p:cNvPr id="516" name="Google Shape;516;p8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Operation Enqueue(x,q)</a:t>
            </a:r>
            <a:endParaRPr/>
          </a:p>
          <a:p>
            <a:pPr indent="-317500" lvl="1" marL="914400" rtl="0" algn="l">
              <a:spcBef>
                <a:spcPts val="0"/>
              </a:spcBef>
              <a:spcAft>
                <a:spcPts val="0"/>
              </a:spcAft>
              <a:buSzPts val="1400"/>
              <a:buChar char="○"/>
            </a:pPr>
            <a:r>
              <a:rPr lang="en"/>
              <a:t>Create a newNode with given value and set newNode-&gt;next to NULL</a:t>
            </a:r>
            <a:endParaRPr/>
          </a:p>
          <a:p>
            <a:pPr indent="-317500" lvl="1" marL="914400" rtl="0" algn="l">
              <a:spcBef>
                <a:spcPts val="0"/>
              </a:spcBef>
              <a:spcAft>
                <a:spcPts val="0"/>
              </a:spcAft>
              <a:buSzPts val="1400"/>
              <a:buChar char="○"/>
            </a:pPr>
            <a:r>
              <a:rPr lang="en"/>
              <a:t>Check whether queue is EMPTY (rear == NULL)</a:t>
            </a:r>
            <a:endParaRPr/>
          </a:p>
          <a:p>
            <a:pPr indent="-317500" lvl="1" marL="914400" rtl="0" algn="l">
              <a:spcBef>
                <a:spcPts val="0"/>
              </a:spcBef>
              <a:spcAft>
                <a:spcPts val="0"/>
              </a:spcAft>
              <a:buSzPts val="1400"/>
              <a:buChar char="○"/>
            </a:pPr>
            <a:r>
              <a:rPr lang="en"/>
              <a:t>If it is EMPTY then, set front = newNode &amp; rear = newNode</a:t>
            </a:r>
            <a:endParaRPr/>
          </a:p>
          <a:p>
            <a:pPr indent="-317500" lvl="1" marL="914400" rtl="0" algn="l">
              <a:spcBef>
                <a:spcPts val="0"/>
              </a:spcBef>
              <a:spcAft>
                <a:spcPts val="0"/>
              </a:spcAft>
              <a:buSzPts val="1400"/>
              <a:buChar char="○"/>
            </a:pPr>
            <a:r>
              <a:rPr lang="en"/>
              <a:t>If it is not EMPTY then, set rear-&gt;next = newNode and rear = newNode.</a:t>
            </a:r>
            <a:endParaRPr/>
          </a:p>
          <a:p>
            <a:pPr indent="-342900" lvl="0" marL="457200" rtl="0" algn="l">
              <a:spcBef>
                <a:spcPts val="0"/>
              </a:spcBef>
              <a:spcAft>
                <a:spcPts val="0"/>
              </a:spcAft>
              <a:buSzPts val="1800"/>
              <a:buChar char="●"/>
            </a:pPr>
            <a:r>
              <a:rPr lang="en"/>
              <a:t>Dequeue()</a:t>
            </a:r>
            <a:endParaRPr/>
          </a:p>
          <a:p>
            <a:pPr indent="-317500" lvl="1" marL="914400" rtl="0" algn="l">
              <a:spcBef>
                <a:spcPts val="0"/>
              </a:spcBef>
              <a:spcAft>
                <a:spcPts val="0"/>
              </a:spcAft>
              <a:buSzPts val="1400"/>
              <a:buChar char="○"/>
            </a:pPr>
            <a:r>
              <a:rPr lang="en"/>
              <a:t>Check whether the queue is EMPTY (front == NULL)</a:t>
            </a:r>
            <a:endParaRPr/>
          </a:p>
          <a:p>
            <a:pPr indent="-317500" lvl="1" marL="914400" rtl="0" algn="l">
              <a:spcBef>
                <a:spcPts val="0"/>
              </a:spcBef>
              <a:spcAft>
                <a:spcPts val="0"/>
              </a:spcAft>
              <a:buSzPts val="1400"/>
              <a:buChar char="○"/>
            </a:pPr>
            <a:r>
              <a:rPr lang="en"/>
              <a:t>If it is EMPTY, then display “Queue is empty, dequeue is not possible” and exit.</a:t>
            </a:r>
            <a:endParaRPr/>
          </a:p>
          <a:p>
            <a:pPr indent="-317500" lvl="1" marL="914400" rtl="0" algn="l">
              <a:spcBef>
                <a:spcPts val="0"/>
              </a:spcBef>
              <a:spcAft>
                <a:spcPts val="0"/>
              </a:spcAft>
              <a:buSzPts val="1400"/>
              <a:buChar char="○"/>
            </a:pPr>
            <a:r>
              <a:rPr lang="en"/>
              <a:t>If it is not EMPTY then, define a node pointer “p” and set it to “front” ie p=front.</a:t>
            </a:r>
            <a:endParaRPr/>
          </a:p>
          <a:p>
            <a:pPr indent="-317500" lvl="1" marL="914400" rtl="0" algn="l">
              <a:spcBef>
                <a:spcPts val="0"/>
              </a:spcBef>
              <a:spcAft>
                <a:spcPts val="0"/>
              </a:spcAft>
              <a:buSzPts val="1400"/>
              <a:buChar char="○"/>
            </a:pPr>
            <a:r>
              <a:rPr lang="en"/>
              <a:t>Set front = front-&gt;next and delete “p”</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8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Queue as Linked List [3]</a:t>
            </a:r>
            <a:endParaRPr/>
          </a:p>
        </p:txBody>
      </p:sp>
      <p:sp>
        <p:nvSpPr>
          <p:cNvPr id="522" name="Google Shape;522;p8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Operation Display(q)</a:t>
            </a:r>
            <a:endParaRPr/>
          </a:p>
          <a:p>
            <a:pPr indent="-317500" lvl="1" marL="914400" rtl="0" algn="l">
              <a:spcBef>
                <a:spcPts val="0"/>
              </a:spcBef>
              <a:spcAft>
                <a:spcPts val="0"/>
              </a:spcAft>
              <a:buSzPts val="1400"/>
              <a:buChar char="○"/>
            </a:pPr>
            <a:r>
              <a:rPr lang="en"/>
              <a:t>Check whether the queue is EMPTY (front == NULL)</a:t>
            </a:r>
            <a:endParaRPr/>
          </a:p>
          <a:p>
            <a:pPr indent="-317500" lvl="1" marL="914400" rtl="0" algn="l">
              <a:spcBef>
                <a:spcPts val="0"/>
              </a:spcBef>
              <a:spcAft>
                <a:spcPts val="0"/>
              </a:spcAft>
              <a:buSzPts val="1400"/>
              <a:buChar char="○"/>
            </a:pPr>
            <a:r>
              <a:rPr lang="en"/>
              <a:t>If it is EMPTY, then display “Queue is empty, no elements to display” and exit.</a:t>
            </a:r>
            <a:endParaRPr/>
          </a:p>
          <a:p>
            <a:pPr indent="-317500" lvl="1" marL="914400" rtl="0" algn="l">
              <a:spcBef>
                <a:spcPts val="0"/>
              </a:spcBef>
              <a:spcAft>
                <a:spcPts val="0"/>
              </a:spcAft>
              <a:buSzPts val="1400"/>
              <a:buChar char="○"/>
            </a:pPr>
            <a:r>
              <a:rPr lang="en"/>
              <a:t>If it is not EMPTY then, define a node pointer “p” and set it to “front” ie p=front.</a:t>
            </a:r>
            <a:endParaRPr/>
          </a:p>
          <a:p>
            <a:pPr indent="-317500" lvl="1" marL="914400" rtl="0" algn="l">
              <a:spcBef>
                <a:spcPts val="0"/>
              </a:spcBef>
              <a:spcAft>
                <a:spcPts val="0"/>
              </a:spcAft>
              <a:buSzPts val="1400"/>
              <a:buChar char="○"/>
            </a:pPr>
            <a:r>
              <a:rPr lang="en"/>
              <a:t>Display p-&gt;data and move it to the next node ie p=p-&gt;next.</a:t>
            </a:r>
            <a:endParaRPr/>
          </a:p>
          <a:p>
            <a:pPr indent="-317500" lvl="1" marL="914400" rtl="0" algn="l">
              <a:spcBef>
                <a:spcPts val="0"/>
              </a:spcBef>
              <a:spcAft>
                <a:spcPts val="0"/>
              </a:spcAft>
              <a:buSzPts val="1400"/>
              <a:buChar char="○"/>
            </a:pPr>
            <a:r>
              <a:rPr lang="en"/>
              <a:t>Repeat the process until p reaches to rear ie (p-&gt;next != NULL).</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