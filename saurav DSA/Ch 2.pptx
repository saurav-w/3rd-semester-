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3c846ad87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3c846ad87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3c846ad87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3c846ad87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3c846ad87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3c846ad87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3c846ad87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3c846ad87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3c846ad87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3c846ad87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c846ad87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3c846ad87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c846ad87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c846ad87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c846ad87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c846ad87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3c846ad87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3c846ad87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3c846ad87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3c846ad87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c2e5a01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3c2e5a01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fe5312a7b8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fe5312a7b8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fe5312a7b8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fe5312a7b8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fe5312a7b8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fe5312a7b8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fe5312a7b8_6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fe5312a7b8_6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fe5312a7b8_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fe5312a7b8_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fe5312a7b8_6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fe5312a7b8_6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fe5312a7b8_6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fe5312a7b8_6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fe5312a7b8_6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fe5312a7b8_6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fe5312a7b8_6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fe5312a7b8_6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fe5312a7b8_6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fe5312a7b8_6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3d65db1d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3d65db1d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d65db1d4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3d65db1d4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d65db1d4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d65db1d4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3d65db1d4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3d65db1d4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3d65db1d4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3d65db1d4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3d65db1d4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3d65db1d4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d65db1d4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3d65db1d4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3d65db1d4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3d65db1d4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3d65db1d4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3d65db1d4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3d65db1d4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3d65db1d4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f4866c7e3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f4866c7e3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f4866c7e3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f4866c7e3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f4866c7e3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f4866c7e3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f4866c7e3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f4866c7e3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f4866c7e3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f4866c7e3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f4866c7e3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f4866c7e3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f4866c7e3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f4866c7e3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f4866c7e3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f4866c7e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f4866c7e3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f4866c7e3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 2: Stack</a:t>
            </a:r>
            <a:endParaRPr/>
          </a:p>
        </p:txBody>
      </p:sp>
      <p:sp>
        <p:nvSpPr>
          <p:cNvPr id="55" name="Google Shape;55;p13"/>
          <p:cNvSpPr txBox="1"/>
          <p:nvPr>
            <p:ph idx="1" type="subTitle"/>
          </p:nvPr>
        </p:nvSpPr>
        <p:spPr>
          <a:xfrm>
            <a:off x="311700" y="2834125"/>
            <a:ext cx="8520600" cy="967200"/>
          </a:xfrm>
          <a:prstGeom prst="rect">
            <a:avLst/>
          </a:prstGeom>
        </p:spPr>
        <p:txBody>
          <a:bodyPr anchorCtr="0" anchor="t" bIns="91425" lIns="91425" spcFirstLastPara="1" rIns="91425" wrap="square" tIns="91425">
            <a:normAutofit fontScale="62500" lnSpcReduction="10000"/>
          </a:bodyPr>
          <a:lstStyle/>
          <a:p>
            <a:pPr indent="0" lvl="0" marL="0" rtl="0" algn="ctr">
              <a:spcBef>
                <a:spcPts val="0"/>
              </a:spcBef>
              <a:spcAft>
                <a:spcPts val="0"/>
              </a:spcAft>
              <a:buNone/>
            </a:pPr>
            <a:r>
              <a:rPr lang="en"/>
              <a:t>2.1. </a:t>
            </a:r>
            <a:r>
              <a:rPr lang="en"/>
              <a:t>Basic Concept of Stack, Stack as an ADT, Stack Operations, Stack Applications </a:t>
            </a:r>
            <a:endParaRPr/>
          </a:p>
          <a:p>
            <a:pPr indent="0" lvl="0" marL="0" rtl="0" algn="ctr">
              <a:spcBef>
                <a:spcPts val="0"/>
              </a:spcBef>
              <a:spcAft>
                <a:spcPts val="0"/>
              </a:spcAft>
              <a:buClr>
                <a:schemeClr val="dk1"/>
              </a:buClr>
              <a:buSzPct val="39285"/>
              <a:buFont typeface="Arial"/>
              <a:buNone/>
            </a:pPr>
            <a:r>
              <a:rPr lang="en"/>
              <a:t>2.2 Conversion from infix to postfix/prefix expression, Evaluation of postfix/ prefix </a:t>
            </a:r>
            <a:endParaRPr/>
          </a:p>
          <a:p>
            <a:pPr indent="0" lvl="0" marL="0" rtl="0" algn="ctr">
              <a:spcBef>
                <a:spcPts val="0"/>
              </a:spcBef>
              <a:spcAft>
                <a:spcPts val="0"/>
              </a:spcAft>
              <a:buNone/>
            </a:pPr>
            <a:r>
              <a:rPr lang="en"/>
              <a:t>expressions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i="1" lang="en"/>
              <a:t>A stack is an ordered collection of items</a:t>
            </a:r>
            <a:r>
              <a:rPr lang="en"/>
              <a:t> into which new items may be inserted and from which items may be deleted at one end, called the top of the stack. </a:t>
            </a:r>
            <a:endParaRPr/>
          </a:p>
          <a:p>
            <a:pPr indent="-342900" lvl="0" marL="457200" rtl="0" algn="l">
              <a:spcBef>
                <a:spcPts val="0"/>
              </a:spcBef>
              <a:spcAft>
                <a:spcPts val="0"/>
              </a:spcAft>
              <a:buSzPts val="1800"/>
              <a:buChar char="●"/>
            </a:pPr>
            <a:r>
              <a:rPr lang="en"/>
              <a:t>The deletion and insertion in a stack is done from top of the stack.</a:t>
            </a:r>
            <a:endParaRPr/>
          </a:p>
          <a:p>
            <a:pPr indent="-342900" lvl="0" marL="457200" rtl="0" algn="l">
              <a:spcBef>
                <a:spcPts val="0"/>
              </a:spcBef>
              <a:spcAft>
                <a:spcPts val="0"/>
              </a:spcAft>
              <a:buSzPts val="1800"/>
              <a:buChar char="●"/>
            </a:pPr>
            <a:r>
              <a:rPr lang="en"/>
              <a:t>The following fig shows the stack containing items:</a:t>
            </a:r>
            <a:endParaRPr/>
          </a:p>
          <a:p>
            <a:pPr indent="0" lvl="0" marL="0" rtl="0" algn="l">
              <a:spcBef>
                <a:spcPts val="120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5539500" y="2970050"/>
            <a:ext cx="2674525" cy="1775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[2]</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Intuitively, a stack is like a pile of plates where we can only (conveniently) remove a plate from the top and can only add a new plate on the top.</a:t>
            </a:r>
            <a:endParaRPr/>
          </a:p>
          <a:p>
            <a:pPr indent="-342900" lvl="0" marL="457200" rtl="0" algn="l">
              <a:spcBef>
                <a:spcPts val="0"/>
              </a:spcBef>
              <a:spcAft>
                <a:spcPts val="0"/>
              </a:spcAft>
              <a:buSzPts val="1800"/>
              <a:buChar char="●"/>
            </a:pPr>
            <a:r>
              <a:rPr lang="en"/>
              <a:t>In computer science we commonly place numbers on a stack, or perhaps place records on the stack.</a:t>
            </a:r>
            <a:endParaRPr/>
          </a:p>
        </p:txBody>
      </p:sp>
      <p:pic>
        <p:nvPicPr>
          <p:cNvPr id="69" name="Google Shape;69;p15"/>
          <p:cNvPicPr preferRelativeResize="0"/>
          <p:nvPr/>
        </p:nvPicPr>
        <p:blipFill>
          <a:blip r:embed="rId3">
            <a:alphaModFix/>
          </a:blip>
          <a:stretch>
            <a:fillRect/>
          </a:stretch>
        </p:blipFill>
        <p:spPr>
          <a:xfrm>
            <a:off x="2900775" y="2437102"/>
            <a:ext cx="6182601" cy="2770551"/>
          </a:xfrm>
          <a:prstGeom prst="rect">
            <a:avLst/>
          </a:prstGeom>
          <a:noFill/>
          <a:ln>
            <a:noFill/>
          </a:ln>
        </p:spPr>
      </p:pic>
      <p:pic>
        <p:nvPicPr>
          <p:cNvPr id="70" name="Google Shape;70;p15"/>
          <p:cNvPicPr preferRelativeResize="0"/>
          <p:nvPr/>
        </p:nvPicPr>
        <p:blipFill rotWithShape="1">
          <a:blip r:embed="rId4">
            <a:alphaModFix/>
          </a:blip>
          <a:srcRect b="17177" l="14406" r="12461" t="11368"/>
          <a:stretch/>
        </p:blipFill>
        <p:spPr>
          <a:xfrm>
            <a:off x="0" y="2462894"/>
            <a:ext cx="2743400" cy="268060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Stack</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Stack is used directly and indirectly in the following fields:</a:t>
            </a:r>
            <a:endParaRPr/>
          </a:p>
          <a:p>
            <a:pPr indent="-342900" lvl="0" marL="457200" rtl="0" algn="l">
              <a:spcBef>
                <a:spcPts val="1200"/>
              </a:spcBef>
              <a:spcAft>
                <a:spcPts val="0"/>
              </a:spcAft>
              <a:buSzPts val="1800"/>
              <a:buChar char="●"/>
            </a:pPr>
            <a:r>
              <a:rPr lang="en"/>
              <a:t>To evaluate the expressions (postfix, prefix)</a:t>
            </a:r>
            <a:endParaRPr/>
          </a:p>
          <a:p>
            <a:pPr indent="-342900" lvl="0" marL="457200" rtl="0" algn="l">
              <a:spcBef>
                <a:spcPts val="0"/>
              </a:spcBef>
              <a:spcAft>
                <a:spcPts val="0"/>
              </a:spcAft>
              <a:buSzPts val="1800"/>
              <a:buChar char="●"/>
            </a:pPr>
            <a:r>
              <a:rPr lang="en"/>
              <a:t>To keep the page-visited history in a Web browser</a:t>
            </a:r>
            <a:endParaRPr/>
          </a:p>
          <a:p>
            <a:pPr indent="-342900" lvl="0" marL="457200" rtl="0" algn="l">
              <a:spcBef>
                <a:spcPts val="0"/>
              </a:spcBef>
              <a:spcAft>
                <a:spcPts val="0"/>
              </a:spcAft>
              <a:buSzPts val="1800"/>
              <a:buChar char="●"/>
            </a:pPr>
            <a:r>
              <a:rPr lang="en"/>
              <a:t>To perform the undo sequence in a text editor</a:t>
            </a:r>
            <a:endParaRPr/>
          </a:p>
          <a:p>
            <a:pPr indent="-342900" lvl="0" marL="457200" rtl="0" algn="l">
              <a:spcBef>
                <a:spcPts val="0"/>
              </a:spcBef>
              <a:spcAft>
                <a:spcPts val="0"/>
              </a:spcAft>
              <a:buSzPts val="1800"/>
              <a:buChar char="●"/>
            </a:pPr>
            <a:r>
              <a:rPr lang="en"/>
              <a:t>Used in recursion</a:t>
            </a:r>
            <a:endParaRPr/>
          </a:p>
          <a:p>
            <a:pPr indent="-342900" lvl="0" marL="457200" rtl="0" algn="l">
              <a:spcBef>
                <a:spcPts val="0"/>
              </a:spcBef>
              <a:spcAft>
                <a:spcPts val="0"/>
              </a:spcAft>
              <a:buSzPts val="1800"/>
              <a:buChar char="●"/>
            </a:pPr>
            <a:r>
              <a:rPr lang="en"/>
              <a:t>To pass the parameters between the functions in a C program</a:t>
            </a:r>
            <a:endParaRPr/>
          </a:p>
          <a:p>
            <a:pPr indent="-342900" lvl="0" marL="457200" rtl="0" algn="l">
              <a:spcBef>
                <a:spcPts val="0"/>
              </a:spcBef>
              <a:spcAft>
                <a:spcPts val="0"/>
              </a:spcAft>
              <a:buSzPts val="1800"/>
              <a:buChar char="●"/>
            </a:pPr>
            <a:r>
              <a:rPr lang="en"/>
              <a:t>Can be used as an auxiliary data structure for implementing algorithms</a:t>
            </a:r>
            <a:endParaRPr/>
          </a:p>
          <a:p>
            <a:pPr indent="-342900" lvl="0" marL="457200" rtl="0" algn="l">
              <a:spcBef>
                <a:spcPts val="0"/>
              </a:spcBef>
              <a:spcAft>
                <a:spcPts val="0"/>
              </a:spcAft>
              <a:buSzPts val="1800"/>
              <a:buChar char="●"/>
            </a:pPr>
            <a:r>
              <a:rPr lang="en"/>
              <a:t>Can be used as a component of other data structures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Operation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following operations can be performed on a stack:</a:t>
            </a:r>
            <a:endParaRPr/>
          </a:p>
          <a:p>
            <a:pPr indent="-342900" lvl="0" marL="457200" rtl="0" algn="l">
              <a:spcBef>
                <a:spcPts val="0"/>
              </a:spcBef>
              <a:spcAft>
                <a:spcPts val="0"/>
              </a:spcAft>
              <a:buSzPts val="1800"/>
              <a:buChar char="-"/>
            </a:pPr>
            <a:r>
              <a:rPr b="1" lang="en" u="sng"/>
              <a:t>PUSH operation</a:t>
            </a:r>
            <a:r>
              <a:rPr lang="en"/>
              <a:t>: The push operation is used to add (or push or insert) elements in a stack</a:t>
            </a:r>
            <a:endParaRPr/>
          </a:p>
          <a:p>
            <a:pPr indent="-342900" lvl="0" marL="457200" rtl="0" algn="l">
              <a:spcBef>
                <a:spcPts val="0"/>
              </a:spcBef>
              <a:spcAft>
                <a:spcPts val="0"/>
              </a:spcAft>
              <a:buSzPts val="1800"/>
              <a:buChar char="-"/>
            </a:pPr>
            <a:r>
              <a:rPr lang="en"/>
              <a:t>When we add an item to </a:t>
            </a:r>
            <a:br>
              <a:rPr lang="en"/>
            </a:br>
            <a:r>
              <a:rPr lang="en"/>
              <a:t>a stack, we say that we </a:t>
            </a:r>
            <a:br>
              <a:rPr lang="en"/>
            </a:br>
            <a:r>
              <a:rPr b="1" lang="en"/>
              <a:t>push</a:t>
            </a:r>
            <a:r>
              <a:rPr lang="en"/>
              <a:t>ed it onto the stack.</a:t>
            </a:r>
            <a:endParaRPr/>
          </a:p>
          <a:p>
            <a:pPr indent="-342900" lvl="0" marL="457200" rtl="0" algn="l">
              <a:spcBef>
                <a:spcPts val="0"/>
              </a:spcBef>
              <a:spcAft>
                <a:spcPts val="0"/>
              </a:spcAft>
              <a:buSzPts val="1800"/>
              <a:buChar char="-"/>
            </a:pPr>
            <a:r>
              <a:rPr lang="en"/>
              <a:t>The last item put into the </a:t>
            </a:r>
            <a:br>
              <a:rPr lang="en"/>
            </a:br>
            <a:r>
              <a:rPr lang="en"/>
              <a:t>stack is at the top.</a:t>
            </a:r>
            <a:endParaRPr/>
          </a:p>
        </p:txBody>
      </p:sp>
      <p:pic>
        <p:nvPicPr>
          <p:cNvPr id="83" name="Google Shape;83;p17"/>
          <p:cNvPicPr preferRelativeResize="0"/>
          <p:nvPr/>
        </p:nvPicPr>
        <p:blipFill>
          <a:blip r:embed="rId3">
            <a:alphaModFix/>
          </a:blip>
          <a:stretch>
            <a:fillRect/>
          </a:stretch>
        </p:blipFill>
        <p:spPr>
          <a:xfrm>
            <a:off x="3602175" y="1956950"/>
            <a:ext cx="5654399" cy="282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Operation [2]</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u="sng"/>
              <a:t>POP operation</a:t>
            </a:r>
            <a:r>
              <a:rPr lang="en"/>
              <a:t>: The pop operation is used to remove or delete the top element from the stack.</a:t>
            </a:r>
            <a:endParaRPr/>
          </a:p>
          <a:p>
            <a:pPr indent="-342900" lvl="0" marL="457200" rtl="0" algn="l">
              <a:spcBef>
                <a:spcPts val="0"/>
              </a:spcBef>
              <a:spcAft>
                <a:spcPts val="0"/>
              </a:spcAft>
              <a:buSzPts val="1800"/>
              <a:buChar char="●"/>
            </a:pPr>
            <a:r>
              <a:rPr lang="en"/>
              <a:t>When we remove an </a:t>
            </a:r>
            <a:br>
              <a:rPr lang="en"/>
            </a:br>
            <a:r>
              <a:rPr lang="en"/>
              <a:t>item, we say that we </a:t>
            </a:r>
            <a:br>
              <a:rPr lang="en"/>
            </a:br>
            <a:r>
              <a:rPr b="1" lang="en"/>
              <a:t>pop</a:t>
            </a:r>
            <a:r>
              <a:rPr lang="en"/>
              <a:t>ped it from the </a:t>
            </a:r>
            <a:br>
              <a:rPr lang="en"/>
            </a:br>
            <a:r>
              <a:rPr lang="en"/>
              <a:t>stack.</a:t>
            </a:r>
            <a:endParaRPr/>
          </a:p>
          <a:p>
            <a:pPr indent="-342900" lvl="0" marL="457200" rtl="0" algn="l">
              <a:spcBef>
                <a:spcPts val="0"/>
              </a:spcBef>
              <a:spcAft>
                <a:spcPts val="0"/>
              </a:spcAft>
              <a:buSzPts val="1800"/>
              <a:buChar char="●"/>
            </a:pPr>
            <a:r>
              <a:rPr lang="en"/>
              <a:t>When an item popped,</a:t>
            </a:r>
            <a:br>
              <a:rPr lang="en"/>
            </a:br>
            <a:r>
              <a:rPr lang="en"/>
              <a:t>it is always the top </a:t>
            </a:r>
            <a:br>
              <a:rPr lang="en"/>
            </a:br>
            <a:r>
              <a:rPr lang="en"/>
              <a:t>item which is removed.</a:t>
            </a:r>
            <a:endParaRPr/>
          </a:p>
          <a:p>
            <a:pPr indent="-342900" lvl="0" marL="457200" rtl="0" algn="l">
              <a:spcBef>
                <a:spcPts val="0"/>
              </a:spcBef>
              <a:spcAft>
                <a:spcPts val="0"/>
              </a:spcAft>
              <a:buSzPts val="1800"/>
              <a:buChar char="●"/>
            </a:pPr>
            <a:r>
              <a:t/>
            </a:r>
            <a:endParaRPr/>
          </a:p>
        </p:txBody>
      </p:sp>
      <p:pic>
        <p:nvPicPr>
          <p:cNvPr id="90" name="Google Shape;90;p18"/>
          <p:cNvPicPr preferRelativeResize="0"/>
          <p:nvPr/>
        </p:nvPicPr>
        <p:blipFill>
          <a:blip r:embed="rId3">
            <a:alphaModFix/>
          </a:blip>
          <a:stretch>
            <a:fillRect/>
          </a:stretch>
        </p:blipFill>
        <p:spPr>
          <a:xfrm>
            <a:off x="3195075" y="2199423"/>
            <a:ext cx="5948925" cy="2768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7" name="Google Shape;97;p19"/>
          <p:cNvPicPr preferRelativeResize="0"/>
          <p:nvPr/>
        </p:nvPicPr>
        <p:blipFill>
          <a:blip r:embed="rId3">
            <a:alphaModFix/>
          </a:blip>
          <a:stretch>
            <a:fillRect/>
          </a:stretch>
        </p:blipFill>
        <p:spPr>
          <a:xfrm>
            <a:off x="256568" y="0"/>
            <a:ext cx="7609114"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Operation [3]</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PUSH and the POP operations are the basic or primitive operations on a stack.</a:t>
            </a:r>
            <a:endParaRPr/>
          </a:p>
          <a:p>
            <a:pPr indent="0" lvl="0" marL="0" rtl="0" algn="l">
              <a:spcBef>
                <a:spcPts val="1200"/>
              </a:spcBef>
              <a:spcAft>
                <a:spcPts val="0"/>
              </a:spcAft>
              <a:buNone/>
            </a:pPr>
            <a:r>
              <a:rPr lang="en"/>
              <a:t>Some others operations are:</a:t>
            </a:r>
            <a:endParaRPr/>
          </a:p>
          <a:p>
            <a:pPr indent="-342900" lvl="0" marL="457200" rtl="0" algn="l">
              <a:spcBef>
                <a:spcPts val="1200"/>
              </a:spcBef>
              <a:spcAft>
                <a:spcPts val="0"/>
              </a:spcAft>
              <a:buSzPts val="1800"/>
              <a:buChar char="●"/>
            </a:pPr>
            <a:r>
              <a:rPr b="1" lang="en"/>
              <a:t>CreateEmptyStack</a:t>
            </a:r>
            <a:r>
              <a:rPr lang="en"/>
              <a:t> operation: This operation is used to create an empty stack.</a:t>
            </a:r>
            <a:endParaRPr/>
          </a:p>
          <a:p>
            <a:pPr indent="-342900" lvl="0" marL="457200" rtl="0" algn="l">
              <a:spcBef>
                <a:spcPts val="0"/>
              </a:spcBef>
              <a:spcAft>
                <a:spcPts val="0"/>
              </a:spcAft>
              <a:buSzPts val="1800"/>
              <a:buChar char="●"/>
            </a:pPr>
            <a:r>
              <a:rPr b="1" lang="en"/>
              <a:t>IsFull </a:t>
            </a:r>
            <a:r>
              <a:rPr lang="en"/>
              <a:t>operation: The isfull operation is used to check whether the stack is full or not ( i.e. stack overflow)</a:t>
            </a:r>
            <a:endParaRPr/>
          </a:p>
          <a:p>
            <a:pPr indent="-342900" lvl="0" marL="457200" rtl="0" algn="l">
              <a:spcBef>
                <a:spcPts val="0"/>
              </a:spcBef>
              <a:spcAft>
                <a:spcPts val="0"/>
              </a:spcAft>
              <a:buSzPts val="1800"/>
              <a:buChar char="●"/>
            </a:pPr>
            <a:r>
              <a:rPr b="1" lang="en"/>
              <a:t>IsEmpty</a:t>
            </a:r>
            <a:r>
              <a:rPr lang="en"/>
              <a:t> operation: The isempty operation is used to check whether the stack is empty or not. (i. e. stack underflow)</a:t>
            </a:r>
            <a:endParaRPr/>
          </a:p>
          <a:p>
            <a:pPr indent="-342900" lvl="0" marL="457200" rtl="0" algn="l">
              <a:spcBef>
                <a:spcPts val="0"/>
              </a:spcBef>
              <a:spcAft>
                <a:spcPts val="0"/>
              </a:spcAft>
              <a:buSzPts val="1800"/>
              <a:buChar char="●"/>
            </a:pPr>
            <a:r>
              <a:rPr b="1" lang="en"/>
              <a:t>Top</a:t>
            </a:r>
            <a:r>
              <a:rPr lang="en"/>
              <a:t> operations: This operation returns the current item at the top of the stack. However this operation doesn’t remove the current item.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as an ADT</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61111"/>
              <a:buFont typeface="Arial"/>
              <a:buNone/>
            </a:pPr>
            <a:r>
              <a:rPr lang="en"/>
              <a:t>A stack of elements of type </a:t>
            </a:r>
            <a:r>
              <a:rPr b="1" lang="en"/>
              <a:t>T</a:t>
            </a:r>
            <a:r>
              <a:rPr lang="en"/>
              <a:t> is a finite sequence of elements of T together with the following operations:</a:t>
            </a:r>
            <a:endParaRPr/>
          </a:p>
          <a:p>
            <a:pPr indent="-334327" lvl="0" marL="457200" rtl="0" algn="l">
              <a:spcBef>
                <a:spcPts val="1200"/>
              </a:spcBef>
              <a:spcAft>
                <a:spcPts val="0"/>
              </a:spcAft>
              <a:buSzPct val="100000"/>
              <a:buChar char="●"/>
            </a:pPr>
            <a:r>
              <a:rPr b="1" lang="en"/>
              <a:t>CreateEmptyStack(S)</a:t>
            </a:r>
            <a:r>
              <a:rPr lang="en"/>
              <a:t>: Create or make stack S be an empty stack</a:t>
            </a:r>
            <a:endParaRPr/>
          </a:p>
          <a:p>
            <a:pPr indent="-334327" lvl="0" marL="457200" rtl="0" algn="l">
              <a:spcBef>
                <a:spcPts val="0"/>
              </a:spcBef>
              <a:spcAft>
                <a:spcPts val="0"/>
              </a:spcAft>
              <a:buSzPct val="100000"/>
              <a:buChar char="●"/>
            </a:pPr>
            <a:r>
              <a:rPr b="1" lang="en"/>
              <a:t>Push(S, x)</a:t>
            </a:r>
            <a:r>
              <a:rPr lang="en"/>
              <a:t>: Insert x at one end of the stack, called its top</a:t>
            </a:r>
            <a:endParaRPr/>
          </a:p>
          <a:p>
            <a:pPr indent="-334327" lvl="0" marL="457200" rtl="0" algn="l">
              <a:spcBef>
                <a:spcPts val="0"/>
              </a:spcBef>
              <a:spcAft>
                <a:spcPts val="0"/>
              </a:spcAft>
              <a:buSzPct val="100000"/>
              <a:buChar char="●"/>
            </a:pPr>
            <a:r>
              <a:rPr b="1" lang="en"/>
              <a:t>Top</a:t>
            </a:r>
            <a:r>
              <a:rPr b="1" lang="en"/>
              <a:t>(S)</a:t>
            </a:r>
            <a:r>
              <a:rPr lang="en"/>
              <a:t>: If stack S is not empty; then retrieve the element at its top but don’t delete.</a:t>
            </a:r>
            <a:endParaRPr/>
          </a:p>
          <a:p>
            <a:pPr indent="-334327" lvl="0" marL="457200" rtl="0" algn="l">
              <a:spcBef>
                <a:spcPts val="0"/>
              </a:spcBef>
              <a:spcAft>
                <a:spcPts val="0"/>
              </a:spcAft>
              <a:buSzPct val="100000"/>
              <a:buChar char="●"/>
            </a:pPr>
            <a:r>
              <a:rPr b="1" lang="en"/>
              <a:t>Pop(S)</a:t>
            </a:r>
            <a:r>
              <a:rPr lang="en"/>
              <a:t>: If stack S is not empty; then delete the element at its top</a:t>
            </a:r>
            <a:endParaRPr/>
          </a:p>
          <a:p>
            <a:pPr indent="-334327" lvl="0" marL="457200" rtl="0" algn="l">
              <a:spcBef>
                <a:spcPts val="0"/>
              </a:spcBef>
              <a:spcAft>
                <a:spcPts val="0"/>
              </a:spcAft>
              <a:buSzPct val="100000"/>
              <a:buChar char="●"/>
            </a:pPr>
            <a:r>
              <a:rPr b="1" lang="en"/>
              <a:t>IsFull(S)</a:t>
            </a:r>
            <a:r>
              <a:rPr lang="en"/>
              <a:t>: Determine if S is full or not. </a:t>
            </a:r>
            <a:br>
              <a:rPr lang="en"/>
            </a:br>
            <a:r>
              <a:rPr lang="en"/>
              <a:t>Return true if S is full stack; return false otherwise</a:t>
            </a:r>
            <a:endParaRPr/>
          </a:p>
          <a:p>
            <a:pPr indent="-334327" lvl="0" marL="457200" rtl="0" algn="l">
              <a:spcBef>
                <a:spcPts val="0"/>
              </a:spcBef>
              <a:spcAft>
                <a:spcPts val="0"/>
              </a:spcAft>
              <a:buSzPct val="100000"/>
              <a:buChar char="●"/>
            </a:pPr>
            <a:r>
              <a:rPr b="1" lang="en"/>
              <a:t>IsEmpty(S)</a:t>
            </a:r>
            <a:r>
              <a:rPr lang="en"/>
              <a:t>: Determine if S is empty or not. </a:t>
            </a:r>
            <a:br>
              <a:rPr lang="en"/>
            </a:br>
            <a:r>
              <a:rPr lang="en"/>
              <a:t>Return true if S is an empty stack; return false otherwise.</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Implementation</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Steps:</a:t>
            </a:r>
            <a:endParaRPr/>
          </a:p>
          <a:p>
            <a:pPr indent="-342900" lvl="0" marL="457200" rtl="0" algn="l">
              <a:spcBef>
                <a:spcPts val="1200"/>
              </a:spcBef>
              <a:spcAft>
                <a:spcPts val="0"/>
              </a:spcAft>
              <a:buSzPts val="1800"/>
              <a:buAutoNum type="arabicPeriod"/>
            </a:pPr>
            <a:r>
              <a:rPr lang="en"/>
              <a:t>Initially, we get empty stack. The top of an empty stack is set to -1.</a:t>
            </a:r>
            <a:endParaRPr/>
          </a:p>
          <a:p>
            <a:pPr indent="-342900" lvl="0" marL="457200" rtl="0" algn="l">
              <a:spcBef>
                <a:spcPts val="0"/>
              </a:spcBef>
              <a:spcAft>
                <a:spcPts val="0"/>
              </a:spcAft>
              <a:buSzPts val="1800"/>
              <a:buAutoNum type="arabicPeriod"/>
            </a:pPr>
            <a:r>
              <a:rPr lang="en"/>
              <a:t>Next, we push an element into the stack. The top of the stack will now point to the element just pushed.</a:t>
            </a:r>
            <a:endParaRPr/>
          </a:p>
          <a:p>
            <a:pPr indent="-342900" lvl="0" marL="457200" rtl="0" algn="l">
              <a:spcBef>
                <a:spcPts val="0"/>
              </a:spcBef>
              <a:spcAft>
                <a:spcPts val="0"/>
              </a:spcAft>
              <a:buSzPts val="1800"/>
              <a:buAutoNum type="arabicPeriod"/>
            </a:pPr>
            <a:r>
              <a:rPr lang="en"/>
              <a:t>Whenever, we push element into the stack, the top is incremented so as to point to the recent element.</a:t>
            </a:r>
            <a:endParaRPr/>
          </a:p>
          <a:p>
            <a:pPr indent="-342900" lvl="0" marL="457200" rtl="0" algn="l">
              <a:spcBef>
                <a:spcPts val="0"/>
              </a:spcBef>
              <a:spcAft>
                <a:spcPts val="0"/>
              </a:spcAft>
              <a:buSzPts val="1800"/>
              <a:buAutoNum type="arabicPeriod"/>
            </a:pPr>
            <a:r>
              <a:rPr lang="en"/>
              <a:t>Whenever a pop operation is performed, the top element is removed from the stack and top is decrement to point to the next element.</a:t>
            </a:r>
            <a:endParaRPr/>
          </a:p>
          <a:p>
            <a:pPr indent="-342900" lvl="0" marL="457200" rtl="0" algn="l">
              <a:spcBef>
                <a:spcPts val="0"/>
              </a:spcBef>
              <a:spcAft>
                <a:spcPts val="0"/>
              </a:spcAft>
              <a:buSzPts val="1800"/>
              <a:buAutoNum type="arabicPeriod"/>
            </a:pPr>
            <a:r>
              <a:rPr lang="en"/>
              <a:t>If the stack becomes empty, the top will be set to -1.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Implementation [2]</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23"/>
          <p:cNvPicPr preferRelativeResize="0"/>
          <p:nvPr/>
        </p:nvPicPr>
        <p:blipFill rotWithShape="1">
          <a:blip r:embed="rId3">
            <a:alphaModFix/>
          </a:blip>
          <a:srcRect b="50000" l="0" r="0" t="0"/>
          <a:stretch/>
        </p:blipFill>
        <p:spPr>
          <a:xfrm>
            <a:off x="86550" y="1099700"/>
            <a:ext cx="6477050" cy="3368326"/>
          </a:xfrm>
          <a:prstGeom prst="rect">
            <a:avLst/>
          </a:prstGeom>
          <a:noFill/>
          <a:ln>
            <a:noFill/>
          </a:ln>
        </p:spPr>
      </p:pic>
      <p:pic>
        <p:nvPicPr>
          <p:cNvPr id="123" name="Google Shape;123;p23"/>
          <p:cNvPicPr preferRelativeResize="0"/>
          <p:nvPr/>
        </p:nvPicPr>
        <p:blipFill rotWithShape="1">
          <a:blip r:embed="rId3">
            <a:alphaModFix/>
          </a:blip>
          <a:srcRect b="0" l="38863" r="21385" t="51583"/>
          <a:stretch/>
        </p:blipFill>
        <p:spPr>
          <a:xfrm>
            <a:off x="6581278" y="1221500"/>
            <a:ext cx="2562722" cy="3246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Implementation [3]</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Using array - </a:t>
            </a:r>
            <a:r>
              <a:rPr lang="en"/>
              <a:t>Static</a:t>
            </a:r>
            <a:r>
              <a:rPr lang="en"/>
              <a:t> Stack Implementation</a:t>
            </a:r>
            <a:endParaRPr/>
          </a:p>
          <a:p>
            <a:pPr indent="-342900" lvl="0" marL="457200" rtl="0" algn="l">
              <a:spcBef>
                <a:spcPts val="0"/>
              </a:spcBef>
              <a:spcAft>
                <a:spcPts val="0"/>
              </a:spcAft>
              <a:buSzPts val="1800"/>
              <a:buChar char="●"/>
            </a:pPr>
            <a:r>
              <a:rPr lang="en"/>
              <a:t>Using linked list - Dynamic Stack implementation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Static Stack Representation in C			Dynamic Stack Representation in C</a:t>
            </a:r>
            <a:endParaRPr/>
          </a:p>
          <a:p>
            <a:pPr indent="0" lvl="0" marL="0" rtl="0" algn="l">
              <a:spcBef>
                <a:spcPts val="1200"/>
              </a:spcBef>
              <a:spcAft>
                <a:spcPts val="1200"/>
              </a:spcAft>
              <a:buNone/>
            </a:pPr>
            <a:r>
              <a:rPr lang="en"/>
              <a:t>struct Stack{									struct Node{</a:t>
            </a:r>
            <a:br>
              <a:rPr lang="en"/>
            </a:br>
            <a:r>
              <a:rPr lang="en"/>
              <a:t>	Int top;										int data;</a:t>
            </a:r>
            <a:br>
              <a:rPr lang="en"/>
            </a:br>
            <a:r>
              <a:rPr lang="en"/>
              <a:t>	Int data[MAX];								struct Node *next;</a:t>
            </a:r>
            <a:br>
              <a:rPr lang="en"/>
            </a:b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Stack Implementation</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InitializeEmptyStack(S)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Assign the value to top to -1. ie s-&gt;top = -1</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Stack Implementation[2]</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isFull(S)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the top of S is equal to MAX-1, return true</a:t>
            </a:r>
            <a:br>
              <a:rPr lang="en"/>
            </a:br>
            <a:r>
              <a:rPr lang="en"/>
              <a:t>ie </a:t>
            </a:r>
            <a:br>
              <a:rPr lang="en"/>
            </a:br>
            <a:r>
              <a:rPr lang="en"/>
              <a:t>if(s-&gt;top == MAX-1) </a:t>
            </a:r>
            <a:br>
              <a:rPr lang="en"/>
            </a:br>
            <a:r>
              <a:rPr lang="en"/>
              <a:t>	return true;</a:t>
            </a:r>
            <a:endParaRPr/>
          </a:p>
          <a:p>
            <a:pPr indent="-342900" lvl="0" marL="457200" rtl="0" algn="l">
              <a:spcBef>
                <a:spcPts val="0"/>
              </a:spcBef>
              <a:spcAft>
                <a:spcPts val="0"/>
              </a:spcAft>
              <a:buSzPts val="1800"/>
              <a:buAutoNum type="arabicPeriod"/>
            </a:pPr>
            <a:r>
              <a:rPr lang="en"/>
              <a:t>Else return false</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Stack Implementation[3]</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isEmpty(S)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the top of S is equal to -1, return true</a:t>
            </a:r>
            <a:br>
              <a:rPr lang="en"/>
            </a:br>
            <a:r>
              <a:rPr lang="en"/>
              <a:t>ie </a:t>
            </a:r>
            <a:br>
              <a:rPr lang="en"/>
            </a:br>
            <a:r>
              <a:rPr lang="en"/>
              <a:t>if(s-&gt;top == -1) </a:t>
            </a:r>
            <a:br>
              <a:rPr lang="en"/>
            </a:br>
            <a:r>
              <a:rPr lang="en"/>
              <a:t>	return true;</a:t>
            </a:r>
            <a:endParaRPr/>
          </a:p>
          <a:p>
            <a:pPr indent="-342900" lvl="0" marL="457200" rtl="0" algn="l">
              <a:spcBef>
                <a:spcPts val="0"/>
              </a:spcBef>
              <a:spcAft>
                <a:spcPts val="0"/>
              </a:spcAft>
              <a:buSzPts val="1800"/>
              <a:buAutoNum type="arabicPeriod"/>
            </a:pPr>
            <a:r>
              <a:rPr lang="en"/>
              <a:t>Else return false</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Stack Implementation[4]</a:t>
            </a:r>
            <a:endParaRPr/>
          </a:p>
        </p:txBody>
      </p:sp>
      <p:sp>
        <p:nvSpPr>
          <p:cNvPr id="153" name="Google Shape;15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push(S,x)</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the S is full, </a:t>
            </a:r>
            <a:br>
              <a:rPr lang="en"/>
            </a:br>
            <a:r>
              <a:rPr lang="en"/>
              <a:t>2.1. if full then display “Stack is full” and exit</a:t>
            </a:r>
            <a:br>
              <a:rPr lang="en"/>
            </a:br>
            <a:r>
              <a:rPr lang="en"/>
              <a:t>2.2. Else, go to step 3</a:t>
            </a:r>
            <a:endParaRPr/>
          </a:p>
          <a:p>
            <a:pPr indent="-342900" lvl="0" marL="457200" rtl="0" algn="l">
              <a:spcBef>
                <a:spcPts val="0"/>
              </a:spcBef>
              <a:spcAft>
                <a:spcPts val="0"/>
              </a:spcAft>
              <a:buSzPts val="1800"/>
              <a:buAutoNum type="arabicPeriod"/>
            </a:pPr>
            <a:r>
              <a:rPr lang="en"/>
              <a:t>Increment top by 1 ie s-&gt;top += 1</a:t>
            </a:r>
            <a:endParaRPr/>
          </a:p>
          <a:p>
            <a:pPr indent="-342900" lvl="0" marL="457200" rtl="0" algn="l">
              <a:spcBef>
                <a:spcPts val="0"/>
              </a:spcBef>
              <a:spcAft>
                <a:spcPts val="0"/>
              </a:spcAft>
              <a:buSzPts val="1800"/>
              <a:buAutoNum type="arabicPeriod"/>
            </a:pPr>
            <a:r>
              <a:rPr lang="en"/>
              <a:t>Place the item x into “top” ie: s-&gt;items[s-&gt;top] = x</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Stack Implementation[4]</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pop(S)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the S is empty, </a:t>
            </a:r>
            <a:br>
              <a:rPr lang="en"/>
            </a:br>
            <a:r>
              <a:rPr lang="en"/>
              <a:t>2.1. if empty then display “Stack is empty” and exit</a:t>
            </a:r>
            <a:br>
              <a:rPr lang="en"/>
            </a:br>
            <a:r>
              <a:rPr lang="en"/>
              <a:t>2.2. Else, go to step 3</a:t>
            </a:r>
            <a:endParaRPr/>
          </a:p>
          <a:p>
            <a:pPr indent="-342900" lvl="0" marL="457200" rtl="0" algn="l">
              <a:spcBef>
                <a:spcPts val="0"/>
              </a:spcBef>
              <a:spcAft>
                <a:spcPts val="0"/>
              </a:spcAft>
              <a:buSzPts val="1800"/>
              <a:buAutoNum type="arabicPeriod"/>
            </a:pPr>
            <a:r>
              <a:rPr lang="en"/>
              <a:t>Place the item at “top” to x ie: </a:t>
            </a:r>
            <a:br>
              <a:rPr lang="en"/>
            </a:br>
            <a:r>
              <a:rPr lang="en"/>
              <a:t>x = s-&gt;items[s-&gt;top]</a:t>
            </a:r>
            <a:endParaRPr/>
          </a:p>
          <a:p>
            <a:pPr indent="-342900" lvl="0" marL="457200" rtl="0" algn="l">
              <a:spcBef>
                <a:spcPts val="0"/>
              </a:spcBef>
              <a:spcAft>
                <a:spcPts val="0"/>
              </a:spcAft>
              <a:buSzPts val="1800"/>
              <a:buAutoNum type="arabicPeriod"/>
            </a:pPr>
            <a:r>
              <a:rPr lang="en"/>
              <a:t>Decrement top by 1 ie s-&gt;top -= 1</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Stack Implementation</a:t>
            </a:r>
            <a:endParaRPr/>
          </a:p>
        </p:txBody>
      </p:sp>
      <p:sp>
        <p:nvSpPr>
          <p:cNvPr id="165" name="Google Shape;16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InitializeEmptyStack(S)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Assign S to null pointer</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Stack Implementation[2]</a:t>
            </a:r>
            <a:endParaRPr/>
          </a:p>
        </p:txBody>
      </p:sp>
      <p:sp>
        <p:nvSpPr>
          <p:cNvPr id="171" name="Google Shape;17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isFull(S)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Try allocating a new node as new</a:t>
            </a:r>
            <a:endParaRPr/>
          </a:p>
          <a:p>
            <a:pPr indent="-342900" lvl="0" marL="457200" rtl="0" algn="l">
              <a:spcBef>
                <a:spcPts val="0"/>
              </a:spcBef>
              <a:spcAft>
                <a:spcPts val="0"/>
              </a:spcAft>
              <a:buSzPts val="1800"/>
              <a:buAutoNum type="arabicPeriod"/>
            </a:pPr>
            <a:r>
              <a:rPr lang="en"/>
              <a:t>If new is a valid pointer, then </a:t>
            </a:r>
            <a:endParaRPr/>
          </a:p>
          <a:p>
            <a:pPr indent="0" lvl="0" marL="914400" rtl="0" algn="l">
              <a:spcBef>
                <a:spcPts val="1200"/>
              </a:spcBef>
              <a:spcAft>
                <a:spcPts val="0"/>
              </a:spcAft>
              <a:buNone/>
            </a:pPr>
            <a:r>
              <a:rPr lang="en"/>
              <a:t>3.1. free new </a:t>
            </a:r>
            <a:endParaRPr/>
          </a:p>
          <a:p>
            <a:pPr indent="0" lvl="0" marL="914400" rtl="0" algn="l">
              <a:spcBef>
                <a:spcPts val="1200"/>
              </a:spcBef>
              <a:spcAft>
                <a:spcPts val="0"/>
              </a:spcAft>
              <a:buNone/>
            </a:pPr>
            <a:r>
              <a:rPr lang="en"/>
              <a:t>3.2. return false</a:t>
            </a:r>
            <a:endParaRPr/>
          </a:p>
          <a:p>
            <a:pPr indent="-342900" lvl="0" marL="457200" rtl="0" algn="l">
              <a:spcBef>
                <a:spcPts val="1200"/>
              </a:spcBef>
              <a:spcAft>
                <a:spcPts val="0"/>
              </a:spcAft>
              <a:buSzPts val="1800"/>
              <a:buAutoNum type="arabicPeriod"/>
            </a:pPr>
            <a:r>
              <a:rPr lang="en"/>
              <a:t>Else if new is null, return true.</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Stack Implementation[3]</a:t>
            </a:r>
            <a:endParaRPr/>
          </a:p>
        </p:txBody>
      </p:sp>
      <p:sp>
        <p:nvSpPr>
          <p:cNvPr id="177" name="Google Shape;17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isEmpty(S)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S is null,</a:t>
            </a:r>
            <a:endParaRPr/>
          </a:p>
          <a:p>
            <a:pPr indent="-342900" lvl="0" marL="457200" rtl="0" algn="l">
              <a:spcBef>
                <a:spcPts val="0"/>
              </a:spcBef>
              <a:spcAft>
                <a:spcPts val="0"/>
              </a:spcAft>
              <a:buSzPts val="1800"/>
              <a:buAutoNum type="arabicPeriod"/>
            </a:pPr>
            <a:r>
              <a:rPr lang="en"/>
              <a:t>If so, return true</a:t>
            </a:r>
            <a:endParaRPr/>
          </a:p>
          <a:p>
            <a:pPr indent="-342900" lvl="0" marL="457200" rtl="0" algn="l">
              <a:spcBef>
                <a:spcPts val="0"/>
              </a:spcBef>
              <a:spcAft>
                <a:spcPts val="0"/>
              </a:spcAft>
              <a:buSzPts val="1800"/>
              <a:buAutoNum type="arabicPeriod"/>
            </a:pPr>
            <a:r>
              <a:rPr lang="en"/>
              <a:t>Else if S is a valid pointer, return false.</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Stack Implementation[4]</a:t>
            </a:r>
            <a:endParaRPr/>
          </a:p>
        </p:txBody>
      </p:sp>
      <p:sp>
        <p:nvSpPr>
          <p:cNvPr id="183" name="Google Shape;18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Algorithm push(S,x)</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S is full, if so then </a:t>
            </a:r>
            <a:endParaRPr/>
          </a:p>
          <a:p>
            <a:pPr indent="0" lvl="0" marL="914400" rtl="0" algn="l">
              <a:spcBef>
                <a:spcPts val="1200"/>
              </a:spcBef>
              <a:spcAft>
                <a:spcPts val="0"/>
              </a:spcAft>
              <a:buNone/>
            </a:pPr>
            <a:r>
              <a:rPr lang="en"/>
              <a:t>2.1 display “Stack is full” </a:t>
            </a:r>
            <a:endParaRPr/>
          </a:p>
          <a:p>
            <a:pPr indent="0" lvl="0" marL="914400" rtl="0" algn="l">
              <a:spcBef>
                <a:spcPts val="1200"/>
              </a:spcBef>
              <a:spcAft>
                <a:spcPts val="0"/>
              </a:spcAft>
              <a:buNone/>
            </a:pPr>
            <a:r>
              <a:rPr lang="en"/>
              <a:t>2.2 return</a:t>
            </a:r>
            <a:endParaRPr/>
          </a:p>
          <a:p>
            <a:pPr indent="-342900" lvl="0" marL="457200" rtl="0" algn="l">
              <a:spcBef>
                <a:spcPts val="1200"/>
              </a:spcBef>
              <a:spcAft>
                <a:spcPts val="0"/>
              </a:spcAft>
              <a:buSzPts val="1800"/>
              <a:buAutoNum type="arabicPeriod"/>
            </a:pPr>
            <a:r>
              <a:rPr lang="en"/>
              <a:t>Allocate a new node as newNode with data as x.</a:t>
            </a:r>
            <a:endParaRPr/>
          </a:p>
          <a:p>
            <a:pPr indent="-342900" lvl="0" marL="457200" rtl="0" algn="l">
              <a:spcBef>
                <a:spcPts val="0"/>
              </a:spcBef>
              <a:spcAft>
                <a:spcPts val="0"/>
              </a:spcAft>
              <a:buSzPts val="1800"/>
              <a:buAutoNum type="arabicPeriod"/>
            </a:pPr>
            <a:r>
              <a:rPr lang="en"/>
              <a:t>Start with a node pointer p = S</a:t>
            </a:r>
            <a:endParaRPr/>
          </a:p>
          <a:p>
            <a:pPr indent="-342900" lvl="0" marL="457200" rtl="0" algn="l">
              <a:spcBef>
                <a:spcPts val="0"/>
              </a:spcBef>
              <a:spcAft>
                <a:spcPts val="0"/>
              </a:spcAft>
              <a:buSzPts val="1800"/>
              <a:buAutoNum type="arabicPeriod"/>
            </a:pPr>
            <a:r>
              <a:rPr lang="en"/>
              <a:t>Move p to next node until p-&gt;next != null</a:t>
            </a:r>
            <a:endParaRPr/>
          </a:p>
          <a:p>
            <a:pPr indent="-342900" lvl="0" marL="457200" rtl="0" algn="l">
              <a:spcBef>
                <a:spcPts val="0"/>
              </a:spcBef>
              <a:spcAft>
                <a:spcPts val="0"/>
              </a:spcAft>
              <a:buSzPts val="1800"/>
              <a:buAutoNum type="arabicPeriod"/>
            </a:pPr>
            <a:r>
              <a:rPr lang="en"/>
              <a:t>Set p-&gt;next = newNode.</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Stack Implementation[4]</a:t>
            </a:r>
            <a:endParaRPr/>
          </a:p>
        </p:txBody>
      </p:sp>
      <p:sp>
        <p:nvSpPr>
          <p:cNvPr id="189" name="Google Shape;18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Algorithm pop(S)</a:t>
            </a:r>
            <a:endParaRPr/>
          </a:p>
          <a:p>
            <a:pPr indent="-342900" lvl="0" marL="457200" rtl="0" algn="l">
              <a:spcBef>
                <a:spcPts val="1200"/>
              </a:spcBef>
              <a:spcAft>
                <a:spcPts val="0"/>
              </a:spcAft>
              <a:buSzPts val="1800"/>
              <a:buAutoNum type="arabicPeriod"/>
            </a:pPr>
            <a:r>
              <a:rPr lang="en"/>
              <a:t>Start</a:t>
            </a:r>
            <a:endParaRPr/>
          </a:p>
          <a:p>
            <a:pPr indent="-342900" lvl="0" marL="457200" rtl="0" algn="l">
              <a:spcBef>
                <a:spcPts val="0"/>
              </a:spcBef>
              <a:spcAft>
                <a:spcPts val="0"/>
              </a:spcAft>
              <a:buSzPts val="1800"/>
              <a:buAutoNum type="arabicPeriod"/>
            </a:pPr>
            <a:r>
              <a:rPr lang="en"/>
              <a:t>Check if S is empty, if so then </a:t>
            </a:r>
            <a:endParaRPr/>
          </a:p>
          <a:p>
            <a:pPr indent="0" lvl="0" marL="914400" rtl="0" algn="l">
              <a:spcBef>
                <a:spcPts val="1200"/>
              </a:spcBef>
              <a:spcAft>
                <a:spcPts val="0"/>
              </a:spcAft>
              <a:buNone/>
            </a:pPr>
            <a:r>
              <a:rPr lang="en"/>
              <a:t>2.1 display “Stack is empty” </a:t>
            </a:r>
            <a:endParaRPr/>
          </a:p>
          <a:p>
            <a:pPr indent="0" lvl="0" marL="914400" rtl="0" algn="l">
              <a:spcBef>
                <a:spcPts val="1200"/>
              </a:spcBef>
              <a:spcAft>
                <a:spcPts val="0"/>
              </a:spcAft>
              <a:buNone/>
            </a:pPr>
            <a:r>
              <a:rPr lang="en"/>
              <a:t>2.2 return</a:t>
            </a:r>
            <a:endParaRPr/>
          </a:p>
          <a:p>
            <a:pPr indent="-342900" lvl="0" marL="457200" rtl="0" algn="l">
              <a:spcBef>
                <a:spcPts val="1200"/>
              </a:spcBef>
              <a:spcAft>
                <a:spcPts val="0"/>
              </a:spcAft>
              <a:buSzPts val="1800"/>
              <a:buAutoNum type="arabicPeriod"/>
            </a:pPr>
            <a:r>
              <a:rPr lang="en"/>
              <a:t>Initialize a node pointer p = S</a:t>
            </a:r>
            <a:endParaRPr/>
          </a:p>
          <a:p>
            <a:pPr indent="-342900" lvl="0" marL="457200" rtl="0" algn="l">
              <a:spcBef>
                <a:spcPts val="0"/>
              </a:spcBef>
              <a:spcAft>
                <a:spcPts val="0"/>
              </a:spcAft>
              <a:buSzPts val="1800"/>
              <a:buAutoNum type="arabicPeriod"/>
            </a:pPr>
            <a:r>
              <a:rPr lang="en"/>
              <a:t>Set x = p-&gt;data and S = p-&gt;next</a:t>
            </a:r>
            <a:endParaRPr/>
          </a:p>
          <a:p>
            <a:pPr indent="-342900" lvl="0" marL="457200" rtl="0" algn="l">
              <a:spcBef>
                <a:spcPts val="0"/>
              </a:spcBef>
              <a:spcAft>
                <a:spcPts val="0"/>
              </a:spcAft>
              <a:buSzPts val="1800"/>
              <a:buAutoNum type="arabicPeriod"/>
            </a:pPr>
            <a:r>
              <a:rPr lang="en"/>
              <a:t>Delete p</a:t>
            </a:r>
            <a:endParaRPr/>
          </a:p>
          <a:p>
            <a:pPr indent="-342900" lvl="0" marL="457200" rtl="0" algn="l">
              <a:spcBef>
                <a:spcPts val="0"/>
              </a:spcBef>
              <a:spcAft>
                <a:spcPts val="0"/>
              </a:spcAft>
              <a:buSzPts val="1800"/>
              <a:buAutoNum type="arabicPeriod"/>
            </a:pPr>
            <a:r>
              <a:rPr lang="en"/>
              <a:t>Return the value of x</a:t>
            </a:r>
            <a:endParaRPr/>
          </a:p>
          <a:p>
            <a:pPr indent="-342900" lvl="0" marL="457200" rtl="0" algn="l">
              <a:spcBef>
                <a:spcPts val="0"/>
              </a:spcBef>
              <a:spcAft>
                <a:spcPts val="0"/>
              </a:spcAft>
              <a:buSzPts val="1800"/>
              <a:buAutoNum type="arabicPeriod"/>
            </a:pPr>
            <a:r>
              <a:rPr lang="en"/>
              <a:t>Stop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Prefix and Postfix Notation</a:t>
            </a:r>
            <a:endParaRPr/>
          </a:p>
        </p:txBody>
      </p:sp>
      <p:sp>
        <p:nvSpPr>
          <p:cNvPr id="195" name="Google Shape;195;p35"/>
          <p:cNvSpPr txBox="1"/>
          <p:nvPr>
            <p:ph idx="1" type="body"/>
          </p:nvPr>
        </p:nvSpPr>
        <p:spPr>
          <a:xfrm>
            <a:off x="311700" y="1152475"/>
            <a:ext cx="8520600" cy="38082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One of the applications of the stack is to evaluate the arithmetic expression. </a:t>
            </a:r>
            <a:endParaRPr/>
          </a:p>
          <a:p>
            <a:pPr indent="-334327" lvl="0" marL="457200" rtl="0" algn="l">
              <a:spcBef>
                <a:spcPts val="0"/>
              </a:spcBef>
              <a:spcAft>
                <a:spcPts val="0"/>
              </a:spcAft>
              <a:buSzPct val="100000"/>
              <a:buChar char="●"/>
            </a:pPr>
            <a:r>
              <a:rPr lang="en"/>
              <a:t>We can represent the arithmetic expressions following three types of notation:</a:t>
            </a:r>
            <a:endParaRPr/>
          </a:p>
          <a:p>
            <a:pPr indent="-310832" lvl="1" marL="914400" rtl="0" algn="l">
              <a:spcBef>
                <a:spcPts val="0"/>
              </a:spcBef>
              <a:spcAft>
                <a:spcPts val="0"/>
              </a:spcAft>
              <a:buSzPct val="100000"/>
              <a:buChar char="○"/>
            </a:pPr>
            <a:r>
              <a:rPr lang="en"/>
              <a:t>Infix  Prefix  Postfix</a:t>
            </a:r>
            <a:endParaRPr/>
          </a:p>
          <a:p>
            <a:pPr indent="-334327" lvl="0" marL="457200" rtl="0" algn="l">
              <a:spcBef>
                <a:spcPts val="0"/>
              </a:spcBef>
              <a:spcAft>
                <a:spcPts val="0"/>
              </a:spcAft>
              <a:buSzPct val="100000"/>
              <a:buChar char="●"/>
            </a:pPr>
            <a:r>
              <a:rPr b="1" lang="en" u="sng"/>
              <a:t>Infix expression</a:t>
            </a:r>
            <a:r>
              <a:rPr lang="en"/>
              <a:t>: It is an ordinary mathematical notation of expression where operator is written in between the operands. </a:t>
            </a:r>
            <a:br>
              <a:rPr lang="en"/>
            </a:br>
            <a:r>
              <a:rPr lang="en"/>
              <a:t>Example: A+B. Here ‘+’ is an operator and A and B are called operands</a:t>
            </a:r>
            <a:endParaRPr/>
          </a:p>
          <a:p>
            <a:pPr indent="-334327" lvl="0" marL="457200" rtl="0" algn="l">
              <a:spcBef>
                <a:spcPts val="0"/>
              </a:spcBef>
              <a:spcAft>
                <a:spcPts val="0"/>
              </a:spcAft>
              <a:buSzPct val="100000"/>
              <a:buChar char="●"/>
            </a:pPr>
            <a:r>
              <a:rPr b="1" lang="en" u="sng"/>
              <a:t>Prefix notation</a:t>
            </a:r>
            <a:r>
              <a:rPr lang="en"/>
              <a:t>: In prefix notation the operator precedes the two operands. That is the operator is written before the operands. It is also called polish notation. </a:t>
            </a:r>
            <a:br>
              <a:rPr lang="en"/>
            </a:br>
            <a:r>
              <a:rPr lang="en"/>
              <a:t>Example: +AB</a:t>
            </a:r>
            <a:endParaRPr/>
          </a:p>
          <a:p>
            <a:pPr indent="-334327" lvl="0" marL="457200" rtl="0" algn="l">
              <a:spcBef>
                <a:spcPts val="0"/>
              </a:spcBef>
              <a:spcAft>
                <a:spcPts val="0"/>
              </a:spcAft>
              <a:buSzPct val="100000"/>
              <a:buChar char="●"/>
            </a:pPr>
            <a:r>
              <a:rPr b="1" lang="en" u="sng"/>
              <a:t>Postfix notation</a:t>
            </a:r>
            <a:r>
              <a:rPr lang="en"/>
              <a:t>: In postfix notation the operators are written after the operands so it is called the postfix notation (post mean after). In this notation the operator follows the two operands. </a:t>
            </a:r>
            <a:br>
              <a:rPr lang="en"/>
            </a:br>
            <a:r>
              <a:rPr lang="en"/>
              <a:t>Example: AB+</a:t>
            </a:r>
            <a:endParaRPr/>
          </a:p>
          <a:p>
            <a:pPr indent="-334327" lvl="0" marL="457200" rtl="0" algn="l">
              <a:spcBef>
                <a:spcPts val="0"/>
              </a:spcBef>
              <a:spcAft>
                <a:spcPts val="0"/>
              </a:spcAft>
              <a:buSzPct val="100000"/>
              <a:buChar char="●"/>
            </a:pPr>
            <a:r>
              <a:rPr lang="en"/>
              <a:t>Both prefix and postfix are parenthesis free expressions.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Prefix and Postfix Notation [2]</a:t>
            </a:r>
            <a:endParaRPr/>
          </a:p>
        </p:txBody>
      </p:sp>
      <p:sp>
        <p:nvSpPr>
          <p:cNvPr id="201" name="Google Shape;201;p36"/>
          <p:cNvSpPr txBox="1"/>
          <p:nvPr>
            <p:ph idx="1" type="body"/>
          </p:nvPr>
        </p:nvSpPr>
        <p:spPr>
          <a:xfrm>
            <a:off x="311700" y="1152475"/>
            <a:ext cx="8520600" cy="3808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Examples: [find the types]</a:t>
            </a:r>
            <a:endParaRPr/>
          </a:p>
          <a:p>
            <a:pPr indent="-317500" lvl="1" marL="914400" rtl="0" algn="l">
              <a:spcBef>
                <a:spcPts val="0"/>
              </a:spcBef>
              <a:spcAft>
                <a:spcPts val="0"/>
              </a:spcAft>
              <a:buSzPts val="1400"/>
              <a:buChar char="○"/>
            </a:pPr>
            <a:r>
              <a:rPr lang="en"/>
              <a:t>A + B </a:t>
            </a:r>
            <a:endParaRPr/>
          </a:p>
          <a:p>
            <a:pPr indent="-317500" lvl="1" marL="914400" rtl="0" algn="l">
              <a:spcBef>
                <a:spcPts val="0"/>
              </a:spcBef>
              <a:spcAft>
                <a:spcPts val="0"/>
              </a:spcAft>
              <a:buSzPts val="1400"/>
              <a:buChar char="○"/>
            </a:pPr>
            <a:r>
              <a:rPr lang="en"/>
              <a:t>+ AB </a:t>
            </a:r>
            <a:endParaRPr/>
          </a:p>
          <a:p>
            <a:pPr indent="-317500" lvl="1" marL="914400" rtl="0" algn="l">
              <a:spcBef>
                <a:spcPts val="0"/>
              </a:spcBef>
              <a:spcAft>
                <a:spcPts val="0"/>
              </a:spcAft>
              <a:buSzPts val="1400"/>
              <a:buChar char="○"/>
            </a:pPr>
            <a:r>
              <a:rPr lang="en"/>
              <a:t>AB + </a:t>
            </a:r>
            <a:endParaRPr/>
          </a:p>
          <a:p>
            <a:pPr indent="-317500" lvl="1" marL="914400" rtl="0" algn="l">
              <a:spcBef>
                <a:spcPts val="0"/>
              </a:spcBef>
              <a:spcAft>
                <a:spcPts val="0"/>
              </a:spcAft>
              <a:buSzPts val="1400"/>
              <a:buChar char="○"/>
            </a:pPr>
            <a:r>
              <a:rPr lang="en"/>
              <a:t>(A + B) * C </a:t>
            </a:r>
            <a:endParaRPr/>
          </a:p>
          <a:p>
            <a:pPr indent="-317500" lvl="1" marL="914400" rtl="0" algn="l">
              <a:spcBef>
                <a:spcPts val="0"/>
              </a:spcBef>
              <a:spcAft>
                <a:spcPts val="0"/>
              </a:spcAft>
              <a:buSzPts val="1400"/>
              <a:buChar char="○"/>
            </a:pPr>
            <a:r>
              <a:rPr lang="en"/>
              <a:t>* + A B C </a:t>
            </a:r>
            <a:endParaRPr/>
          </a:p>
          <a:p>
            <a:pPr indent="-317500" lvl="1" marL="914400" rtl="0" algn="l">
              <a:spcBef>
                <a:spcPts val="0"/>
              </a:spcBef>
              <a:spcAft>
                <a:spcPts val="0"/>
              </a:spcAft>
              <a:buSzPts val="1400"/>
              <a:buChar char="○"/>
            </a:pPr>
            <a:r>
              <a:rPr lang="en"/>
              <a:t>A B + 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a:t>
            </a:r>
            <a:endParaRPr/>
          </a:p>
        </p:txBody>
      </p:sp>
      <p:sp>
        <p:nvSpPr>
          <p:cNvPr id="207" name="Google Shape;20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First convert the sub-expression to postfix that is to be evaluated first and repeat this process. </a:t>
            </a:r>
            <a:endParaRPr/>
          </a:p>
          <a:p>
            <a:pPr indent="-342900" lvl="0" marL="457200" rtl="0" algn="l">
              <a:spcBef>
                <a:spcPts val="0"/>
              </a:spcBef>
              <a:spcAft>
                <a:spcPts val="0"/>
              </a:spcAft>
              <a:buSzPts val="1800"/>
              <a:buChar char="●"/>
            </a:pPr>
            <a:r>
              <a:rPr lang="en"/>
              <a:t>Substitute intermediate postfix sub-expression by any variable whenever necessary that makes it easy to convert.</a:t>
            </a:r>
            <a:endParaRPr/>
          </a:p>
          <a:p>
            <a:pPr indent="-342900" lvl="0" marL="457200" rtl="0" algn="l">
              <a:spcBef>
                <a:spcPts val="0"/>
              </a:spcBef>
              <a:spcAft>
                <a:spcPts val="0"/>
              </a:spcAft>
              <a:buSzPts val="1800"/>
              <a:buChar char="●"/>
            </a:pPr>
            <a:r>
              <a:rPr lang="en"/>
              <a:t>To convert an infix expression to its postfix equivalent:</a:t>
            </a:r>
            <a:endParaRPr/>
          </a:p>
          <a:p>
            <a:pPr indent="-317500" lvl="1" marL="914400" rtl="0" algn="l">
              <a:spcBef>
                <a:spcPts val="0"/>
              </a:spcBef>
              <a:spcAft>
                <a:spcPts val="0"/>
              </a:spcAft>
              <a:buSzPts val="1400"/>
              <a:buChar char="○"/>
            </a:pPr>
            <a:r>
              <a:rPr lang="en"/>
              <a:t>We first convert the innermost </a:t>
            </a:r>
            <a:r>
              <a:rPr lang="en"/>
              <a:t>parentheses</a:t>
            </a:r>
            <a:r>
              <a:rPr lang="en"/>
              <a:t> to postfix, resulting as a new operand</a:t>
            </a:r>
            <a:endParaRPr/>
          </a:p>
          <a:p>
            <a:pPr indent="-317500" lvl="1" marL="914400" rtl="0" algn="l">
              <a:spcBef>
                <a:spcPts val="0"/>
              </a:spcBef>
              <a:spcAft>
                <a:spcPts val="0"/>
              </a:spcAft>
              <a:buSzPts val="1400"/>
              <a:buChar char="○"/>
            </a:pPr>
            <a:r>
              <a:rPr lang="en"/>
              <a:t>In this fashion parenthesis can be successively eliminated until the entire expression is converted</a:t>
            </a:r>
            <a:endParaRPr/>
          </a:p>
          <a:p>
            <a:pPr indent="-317500" lvl="1" marL="914400" rtl="0" algn="l">
              <a:spcBef>
                <a:spcPts val="0"/>
              </a:spcBef>
              <a:spcAft>
                <a:spcPts val="0"/>
              </a:spcAft>
              <a:buSzPts val="1400"/>
              <a:buChar char="○"/>
            </a:pPr>
            <a:r>
              <a:rPr lang="en"/>
              <a:t>The last pair of parenthesis to be opened within a group of parenthesis encloses the first expression within the group to be transformed</a:t>
            </a:r>
            <a:endParaRPr/>
          </a:p>
          <a:p>
            <a:pPr indent="-317500" lvl="1" marL="914400" rtl="0" algn="l">
              <a:spcBef>
                <a:spcPts val="0"/>
              </a:spcBef>
              <a:spcAft>
                <a:spcPts val="0"/>
              </a:spcAft>
              <a:buSzPts val="1400"/>
              <a:buChar char="○"/>
            </a:pPr>
            <a:r>
              <a:rPr b="1" i="1" lang="en"/>
              <a:t>This last in, first-out behavior suggests the use of a stack</a:t>
            </a:r>
            <a:endParaRPr b="1" i="1"/>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[2]</a:t>
            </a:r>
            <a:endParaRPr/>
          </a:p>
        </p:txBody>
      </p:sp>
      <p:sp>
        <p:nvSpPr>
          <p:cNvPr id="213" name="Google Shape;21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u="sng"/>
              <a:t>Precedence rule:</a:t>
            </a:r>
            <a:endParaRPr b="1" u="sng"/>
          </a:p>
          <a:p>
            <a:pPr indent="-342900" lvl="0" marL="457200" rtl="0" algn="l">
              <a:spcBef>
                <a:spcPts val="1200"/>
              </a:spcBef>
              <a:spcAft>
                <a:spcPts val="0"/>
              </a:spcAft>
              <a:buSzPts val="1800"/>
              <a:buChar char="●"/>
            </a:pPr>
            <a:r>
              <a:rPr lang="en"/>
              <a:t>While converting infix to postfix you have to consider the precedence rule, and the precedence rules are as follows:</a:t>
            </a:r>
            <a:endParaRPr/>
          </a:p>
          <a:p>
            <a:pPr indent="-317500" lvl="1" marL="914400" rtl="0" algn="l">
              <a:spcBef>
                <a:spcPts val="0"/>
              </a:spcBef>
              <a:spcAft>
                <a:spcPts val="0"/>
              </a:spcAft>
              <a:buSzPts val="1400"/>
              <a:buChar char="○"/>
            </a:pPr>
            <a:r>
              <a:rPr b="1" lang="en"/>
              <a:t>Exponentiation</a:t>
            </a:r>
            <a:r>
              <a:rPr lang="en"/>
              <a:t> ( the expression A$B is A raised to the B power, so that 3$2=9)</a:t>
            </a:r>
            <a:endParaRPr/>
          </a:p>
          <a:p>
            <a:pPr indent="-317500" lvl="1" marL="914400" rtl="0" algn="l">
              <a:spcBef>
                <a:spcPts val="0"/>
              </a:spcBef>
              <a:spcAft>
                <a:spcPts val="0"/>
              </a:spcAft>
              <a:buSzPts val="1400"/>
              <a:buChar char="○"/>
            </a:pPr>
            <a:r>
              <a:rPr b="1" lang="en"/>
              <a:t>Multiplication/Division</a:t>
            </a:r>
            <a:endParaRPr b="1"/>
          </a:p>
          <a:p>
            <a:pPr indent="-317500" lvl="1" marL="914400" rtl="0" algn="l">
              <a:spcBef>
                <a:spcPts val="0"/>
              </a:spcBef>
              <a:spcAft>
                <a:spcPts val="0"/>
              </a:spcAft>
              <a:buSzPts val="1400"/>
              <a:buChar char="○"/>
            </a:pPr>
            <a:r>
              <a:rPr b="1" lang="en"/>
              <a:t>Addition/Subtraction</a:t>
            </a:r>
            <a:endParaRPr b="1"/>
          </a:p>
          <a:p>
            <a:pPr indent="-342900" lvl="0" marL="457200" rtl="0" algn="l">
              <a:spcBef>
                <a:spcPts val="0"/>
              </a:spcBef>
              <a:spcAft>
                <a:spcPts val="0"/>
              </a:spcAft>
              <a:buSzPts val="1800"/>
              <a:buChar char="●"/>
            </a:pPr>
            <a:r>
              <a:rPr lang="en"/>
              <a:t>When un-parenthesized operators of the same precedence are scanned, the order is assumed to be left to right except in the case of exponentiation, where the order is assumed to be from right to left.</a:t>
            </a:r>
            <a:endParaRPr/>
          </a:p>
          <a:p>
            <a:pPr indent="-317500" lvl="1" marL="914400" rtl="0" algn="l">
              <a:spcBef>
                <a:spcPts val="0"/>
              </a:spcBef>
              <a:spcAft>
                <a:spcPts val="0"/>
              </a:spcAft>
              <a:buSzPts val="1400"/>
              <a:buChar char="○"/>
            </a:pPr>
            <a:r>
              <a:rPr lang="en"/>
              <a:t>A+B+C means (A+B)+C  </a:t>
            </a:r>
            <a:endParaRPr/>
          </a:p>
          <a:p>
            <a:pPr indent="-317500" lvl="1" marL="914400" rtl="0" algn="l">
              <a:spcBef>
                <a:spcPts val="0"/>
              </a:spcBef>
              <a:spcAft>
                <a:spcPts val="0"/>
              </a:spcAft>
              <a:buSzPts val="1400"/>
              <a:buChar char="○"/>
            </a:pPr>
            <a:r>
              <a:rPr lang="en"/>
              <a:t>A$B$C means A$(B$C)</a:t>
            </a:r>
            <a:endParaRPr/>
          </a:p>
          <a:p>
            <a:pPr indent="-342900" lvl="0" marL="457200" rtl="0" algn="l">
              <a:spcBef>
                <a:spcPts val="0"/>
              </a:spcBef>
              <a:spcAft>
                <a:spcPts val="0"/>
              </a:spcAft>
              <a:buSzPts val="1800"/>
              <a:buChar char="●"/>
            </a:pPr>
            <a:r>
              <a:rPr lang="en"/>
              <a:t>By using parenthesis we can override the default precedence. Ex: A + (B* C).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[3]</a:t>
            </a:r>
            <a:endParaRPr/>
          </a:p>
        </p:txBody>
      </p:sp>
      <p:sp>
        <p:nvSpPr>
          <p:cNvPr id="219" name="Google Shape;21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 the following rule to convert it in postfix:</a:t>
            </a:r>
            <a:endParaRPr/>
          </a:p>
          <a:p>
            <a:pPr indent="0" lvl="0" marL="0" rtl="0" algn="l">
              <a:spcBef>
                <a:spcPts val="1200"/>
              </a:spcBef>
              <a:spcAft>
                <a:spcPts val="0"/>
              </a:spcAft>
              <a:buNone/>
            </a:pPr>
            <a:r>
              <a:rPr lang="en"/>
              <a:t>1. Parenthesis for emphasis</a:t>
            </a:r>
            <a:endParaRPr/>
          </a:p>
          <a:p>
            <a:pPr indent="0" lvl="0" marL="0" rtl="0" algn="l">
              <a:spcBef>
                <a:spcPts val="1200"/>
              </a:spcBef>
              <a:spcAft>
                <a:spcPts val="0"/>
              </a:spcAft>
              <a:buNone/>
            </a:pPr>
            <a:r>
              <a:rPr lang="en"/>
              <a:t>2. Convert the multiplication</a:t>
            </a:r>
            <a:endParaRPr/>
          </a:p>
          <a:p>
            <a:pPr indent="0" lvl="0" marL="0" rtl="0" algn="l">
              <a:spcBef>
                <a:spcPts val="1200"/>
              </a:spcBef>
              <a:spcAft>
                <a:spcPts val="0"/>
              </a:spcAft>
              <a:buNone/>
            </a:pPr>
            <a:r>
              <a:rPr lang="en"/>
              <a:t>3. Convert the addition</a:t>
            </a:r>
            <a:endParaRPr/>
          </a:p>
          <a:p>
            <a:pPr indent="0" lvl="0" marL="0" rtl="0" algn="l">
              <a:spcBef>
                <a:spcPts val="1200"/>
              </a:spcBef>
              <a:spcAft>
                <a:spcPts val="1200"/>
              </a:spcAft>
              <a:buNone/>
            </a:pPr>
            <a:r>
              <a:rPr lang="en"/>
              <a:t>4. Post-fix form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[4]</a:t>
            </a:r>
            <a:endParaRPr/>
          </a:p>
        </p:txBody>
      </p:sp>
      <p:sp>
        <p:nvSpPr>
          <p:cNvPr id="225" name="Google Shape;22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a:t>
            </a:r>
            <a:r>
              <a:rPr lang="en"/>
              <a:t>A + (B * C). </a:t>
            </a:r>
            <a:r>
              <a:rPr b="1" lang="en"/>
              <a:t>Infix form</a:t>
            </a:r>
            <a:endParaRPr b="1"/>
          </a:p>
          <a:p>
            <a:pPr indent="0" lvl="0" marL="0" rtl="0" algn="l">
              <a:spcBef>
                <a:spcPts val="1200"/>
              </a:spcBef>
              <a:spcAft>
                <a:spcPts val="0"/>
              </a:spcAft>
              <a:buClr>
                <a:schemeClr val="dk1"/>
              </a:buClr>
              <a:buSzPts val="1100"/>
              <a:buFont typeface="Arial"/>
              <a:buNone/>
            </a:pPr>
            <a:r>
              <a:rPr lang="en"/>
              <a:t>=&gt;A + (B * C)</a:t>
            </a:r>
            <a:endParaRPr/>
          </a:p>
          <a:p>
            <a:pPr indent="0" lvl="0" marL="0" rtl="0" algn="l">
              <a:spcBef>
                <a:spcPts val="1200"/>
              </a:spcBef>
              <a:spcAft>
                <a:spcPts val="0"/>
              </a:spcAft>
              <a:buClr>
                <a:schemeClr val="dk1"/>
              </a:buClr>
              <a:buSzPts val="1100"/>
              <a:buFont typeface="Arial"/>
              <a:buNone/>
            </a:pPr>
            <a:r>
              <a:rPr lang="en"/>
              <a:t>=&gt;A + (BC*) </a:t>
            </a:r>
            <a:r>
              <a:rPr b="1" lang="en"/>
              <a:t>Convert the Multiplication</a:t>
            </a:r>
            <a:endParaRPr b="1"/>
          </a:p>
          <a:p>
            <a:pPr indent="0" lvl="0" marL="0" rtl="0" algn="l">
              <a:spcBef>
                <a:spcPts val="1200"/>
              </a:spcBef>
              <a:spcAft>
                <a:spcPts val="0"/>
              </a:spcAft>
              <a:buClr>
                <a:schemeClr val="dk1"/>
              </a:buClr>
              <a:buSzPts val="1100"/>
              <a:buFont typeface="Arial"/>
              <a:buNone/>
            </a:pPr>
            <a:r>
              <a:rPr lang="en"/>
              <a:t>=&gt;A (BC*) + </a:t>
            </a:r>
            <a:r>
              <a:rPr b="1" lang="en"/>
              <a:t>Convert the addition</a:t>
            </a:r>
            <a:endParaRPr b="1"/>
          </a:p>
          <a:p>
            <a:pPr indent="0" lvl="0" marL="0" rtl="0" algn="l">
              <a:spcBef>
                <a:spcPts val="1200"/>
              </a:spcBef>
              <a:spcAft>
                <a:spcPts val="1200"/>
              </a:spcAft>
              <a:buNone/>
            </a:pPr>
            <a:r>
              <a:rPr lang="en"/>
              <a:t>=&gt;ABC*+ </a:t>
            </a:r>
            <a:r>
              <a:rPr b="1" lang="en"/>
              <a:t>Post-fix form</a:t>
            </a:r>
            <a:endParaRPr/>
          </a:p>
        </p:txBody>
      </p:sp>
      <p:pic>
        <p:nvPicPr>
          <p:cNvPr id="226" name="Google Shape;226;p40"/>
          <p:cNvPicPr preferRelativeResize="0"/>
          <p:nvPr/>
        </p:nvPicPr>
        <p:blipFill>
          <a:blip r:embed="rId3">
            <a:alphaModFix/>
          </a:blip>
          <a:stretch>
            <a:fillRect/>
          </a:stretch>
        </p:blipFill>
        <p:spPr>
          <a:xfrm>
            <a:off x="5376400" y="1152475"/>
            <a:ext cx="3455900" cy="2187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[4]</a:t>
            </a:r>
            <a:endParaRPr/>
          </a:p>
        </p:txBody>
      </p:sp>
      <p:sp>
        <p:nvSpPr>
          <p:cNvPr id="232" name="Google Shape;232;p41"/>
          <p:cNvSpPr txBox="1"/>
          <p:nvPr>
            <p:ph idx="1" type="body"/>
          </p:nvPr>
        </p:nvSpPr>
        <p:spPr>
          <a:xfrm>
            <a:off x="311700" y="1152475"/>
            <a:ext cx="8520600" cy="3899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Algorithm:</a:t>
            </a:r>
            <a:endParaRPr/>
          </a:p>
          <a:p>
            <a:pPr indent="-334327" lvl="0" marL="457200" rtl="0" algn="l">
              <a:spcBef>
                <a:spcPts val="1200"/>
              </a:spcBef>
              <a:spcAft>
                <a:spcPts val="0"/>
              </a:spcAft>
              <a:buSzPct val="100000"/>
              <a:buAutoNum type="arabicPeriod"/>
            </a:pPr>
            <a:r>
              <a:rPr lang="en"/>
              <a:t>Scan one character at a time of an infix expression from left to right </a:t>
            </a:r>
            <a:endParaRPr/>
          </a:p>
          <a:p>
            <a:pPr indent="-334327" lvl="0" marL="457200" rtl="0" algn="l">
              <a:spcBef>
                <a:spcPts val="0"/>
              </a:spcBef>
              <a:spcAft>
                <a:spcPts val="0"/>
              </a:spcAft>
              <a:buSzPct val="100000"/>
              <a:buAutoNum type="arabicPeriod"/>
            </a:pPr>
            <a:r>
              <a:rPr lang="en"/>
              <a:t>Opstack = the empty stack</a:t>
            </a:r>
            <a:endParaRPr/>
          </a:p>
          <a:p>
            <a:pPr indent="-334327" lvl="0" marL="457200" rtl="0" algn="l">
              <a:spcBef>
                <a:spcPts val="0"/>
              </a:spcBef>
              <a:spcAft>
                <a:spcPts val="0"/>
              </a:spcAft>
              <a:buSzPct val="100000"/>
              <a:buAutoNum type="arabicPeriod"/>
            </a:pPr>
            <a:r>
              <a:rPr lang="en"/>
              <a:t>Repeat till there is data in infix expression</a:t>
            </a:r>
            <a:endParaRPr/>
          </a:p>
          <a:p>
            <a:pPr indent="-310832" lvl="1" marL="914400" rtl="0" algn="l">
              <a:spcBef>
                <a:spcPts val="0"/>
              </a:spcBef>
              <a:spcAft>
                <a:spcPts val="0"/>
              </a:spcAft>
              <a:buSzPct val="100000"/>
              <a:buAutoNum type="alphaLcPeriod"/>
            </a:pPr>
            <a:r>
              <a:rPr lang="en"/>
              <a:t>if scanned character is ‘(‘ then push it to opstack</a:t>
            </a:r>
            <a:endParaRPr/>
          </a:p>
          <a:p>
            <a:pPr indent="-310832" lvl="1" marL="914400" rtl="0" algn="l">
              <a:spcBef>
                <a:spcPts val="0"/>
              </a:spcBef>
              <a:spcAft>
                <a:spcPts val="0"/>
              </a:spcAft>
              <a:buSzPct val="100000"/>
              <a:buAutoNum type="alphaLcPeriod"/>
            </a:pPr>
            <a:r>
              <a:rPr lang="en"/>
              <a:t>if scanned character is operand then push it to poststack </a:t>
            </a:r>
            <a:endParaRPr/>
          </a:p>
          <a:p>
            <a:pPr indent="-310832" lvl="1" marL="914400" rtl="0" algn="l">
              <a:spcBef>
                <a:spcPts val="0"/>
              </a:spcBef>
              <a:spcAft>
                <a:spcPts val="0"/>
              </a:spcAft>
              <a:buSzPct val="100000"/>
              <a:buAutoNum type="alphaLcPeriod"/>
            </a:pPr>
            <a:r>
              <a:rPr lang="en"/>
              <a:t>if scanned character is operator then</a:t>
            </a:r>
            <a:br>
              <a:rPr lang="en"/>
            </a:br>
            <a:r>
              <a:rPr lang="en"/>
              <a:t>if(opstack!=-1)</a:t>
            </a:r>
            <a:br>
              <a:rPr lang="en"/>
            </a:br>
            <a:r>
              <a:rPr lang="en"/>
              <a:t>	while(precedence (opstack[otos])&gt;precedence(scan character)) then</a:t>
            </a:r>
            <a:br>
              <a:rPr lang="en"/>
            </a:br>
            <a:r>
              <a:rPr lang="en"/>
              <a:t>		pop and push it into poststack </a:t>
            </a:r>
            <a:br>
              <a:rPr lang="en"/>
            </a:br>
            <a:r>
              <a:rPr lang="en"/>
              <a:t>Otherwise</a:t>
            </a:r>
            <a:br>
              <a:rPr lang="en"/>
            </a:br>
            <a:r>
              <a:rPr lang="en"/>
              <a:t>	push into opstack</a:t>
            </a:r>
            <a:endParaRPr/>
          </a:p>
          <a:p>
            <a:pPr indent="-310832" lvl="1" marL="914400" rtl="0" algn="l">
              <a:spcBef>
                <a:spcPts val="0"/>
              </a:spcBef>
              <a:spcAft>
                <a:spcPts val="0"/>
              </a:spcAft>
              <a:buSzPct val="100000"/>
              <a:buAutoNum type="alphaLcPeriod"/>
            </a:pPr>
            <a:r>
              <a:rPr lang="en"/>
              <a:t>if scanned character is ‘)’ then</a:t>
            </a:r>
            <a:br>
              <a:rPr lang="en"/>
            </a:br>
            <a:r>
              <a:rPr lang="en"/>
              <a:t>	pop and push into poststack until ‘(‘ is not found and ignore both symbols </a:t>
            </a:r>
            <a:endParaRPr/>
          </a:p>
          <a:p>
            <a:pPr indent="-334327" lvl="0" marL="457200" rtl="0" algn="l">
              <a:spcBef>
                <a:spcPts val="0"/>
              </a:spcBef>
              <a:spcAft>
                <a:spcPts val="0"/>
              </a:spcAft>
              <a:buSzPct val="100000"/>
              <a:buAutoNum type="arabicPeriod"/>
            </a:pPr>
            <a:r>
              <a:rPr lang="en"/>
              <a:t>pop and push into poststack until opstack is not empty.</a:t>
            </a:r>
            <a:endParaRPr/>
          </a:p>
          <a:p>
            <a:pPr indent="-334327" lvl="0" marL="457200" rtl="0" algn="l">
              <a:spcBef>
                <a:spcPts val="0"/>
              </a:spcBef>
              <a:spcAft>
                <a:spcPts val="0"/>
              </a:spcAft>
              <a:buSzPct val="100000"/>
              <a:buAutoNum type="arabicPeriod"/>
            </a:pPr>
            <a:r>
              <a:rPr lang="en"/>
              <a:t>Return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[5]</a:t>
            </a:r>
            <a:endParaRPr/>
          </a:p>
        </p:txBody>
      </p:sp>
      <p:sp>
        <p:nvSpPr>
          <p:cNvPr id="238" name="Google Shape;238;p42"/>
          <p:cNvSpPr txBox="1"/>
          <p:nvPr>
            <p:ph idx="1" type="body"/>
          </p:nvPr>
        </p:nvSpPr>
        <p:spPr>
          <a:xfrm>
            <a:off x="311700" y="930650"/>
            <a:ext cx="8520600" cy="412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 Tracing: Infix Expression - ((A-(B+C))*D)$(E+F)</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39" name="Google Shape;239;p42"/>
          <p:cNvPicPr preferRelativeResize="0"/>
          <p:nvPr/>
        </p:nvPicPr>
        <p:blipFill>
          <a:blip r:embed="rId3">
            <a:alphaModFix/>
          </a:blip>
          <a:stretch>
            <a:fillRect/>
          </a:stretch>
        </p:blipFill>
        <p:spPr>
          <a:xfrm>
            <a:off x="311700" y="1277100"/>
            <a:ext cx="3402912" cy="38663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Postfix Conversion [5]</a:t>
            </a:r>
            <a:endParaRPr/>
          </a:p>
        </p:txBody>
      </p:sp>
      <p:sp>
        <p:nvSpPr>
          <p:cNvPr id="245" name="Google Shape;24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Convert the infix expression to postfix</a:t>
            </a:r>
            <a:endParaRPr/>
          </a:p>
          <a:p>
            <a:pPr indent="0" lvl="0" marL="0" rtl="0" algn="l">
              <a:spcBef>
                <a:spcPts val="1200"/>
              </a:spcBef>
              <a:spcAft>
                <a:spcPts val="1200"/>
              </a:spcAft>
              <a:buNone/>
            </a:pPr>
            <a:r>
              <a:t/>
            </a:r>
            <a:endParaRPr/>
          </a:p>
        </p:txBody>
      </p:sp>
      <p:pic>
        <p:nvPicPr>
          <p:cNvPr id="246" name="Google Shape;246;p43"/>
          <p:cNvPicPr preferRelativeResize="0"/>
          <p:nvPr/>
        </p:nvPicPr>
        <p:blipFill>
          <a:blip r:embed="rId3">
            <a:alphaModFix/>
          </a:blip>
          <a:stretch>
            <a:fillRect/>
          </a:stretch>
        </p:blipFill>
        <p:spPr>
          <a:xfrm>
            <a:off x="490250" y="1732425"/>
            <a:ext cx="6263699" cy="2765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prefix conversion</a:t>
            </a:r>
            <a:endParaRPr/>
          </a:p>
        </p:txBody>
      </p:sp>
      <p:sp>
        <p:nvSpPr>
          <p:cNvPr id="252" name="Google Shape;25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The precedence rule is same as that of previous case; only change is that the operator is placed before the operands rather than after them. </a:t>
            </a:r>
            <a:endParaRPr/>
          </a:p>
          <a:p>
            <a:pPr indent="-334327" lvl="0" marL="457200" rtl="0" algn="l">
              <a:spcBef>
                <a:spcPts val="0"/>
              </a:spcBef>
              <a:spcAft>
                <a:spcPts val="0"/>
              </a:spcAft>
              <a:buSzPct val="100000"/>
              <a:buChar char="●"/>
            </a:pPr>
            <a:r>
              <a:rPr lang="en"/>
              <a:t>The prefix of</a:t>
            </a:r>
            <a:endParaRPr/>
          </a:p>
          <a:p>
            <a:pPr indent="457200" lvl="0" marL="457200" rtl="0" algn="l">
              <a:spcBef>
                <a:spcPts val="1200"/>
              </a:spcBef>
              <a:spcAft>
                <a:spcPts val="0"/>
              </a:spcAft>
              <a:buNone/>
            </a:pPr>
            <a:r>
              <a:rPr lang="en"/>
              <a:t>A+B-C 	is 	-+ABC.</a:t>
            </a:r>
            <a:endParaRPr/>
          </a:p>
          <a:p>
            <a:pPr indent="-334327" lvl="0" marL="457200" rtl="0" algn="l">
              <a:spcBef>
                <a:spcPts val="1200"/>
              </a:spcBef>
              <a:spcAft>
                <a:spcPts val="0"/>
              </a:spcAft>
              <a:buSzPct val="100000"/>
              <a:buChar char="●"/>
            </a:pPr>
            <a:r>
              <a:rPr lang="en"/>
              <a:t>Ex:</a:t>
            </a:r>
            <a:endParaRPr/>
          </a:p>
          <a:p>
            <a:pPr indent="0" lvl="0" marL="0" rtl="0" algn="l">
              <a:spcBef>
                <a:spcPts val="1200"/>
              </a:spcBef>
              <a:spcAft>
                <a:spcPts val="0"/>
              </a:spcAft>
              <a:buClr>
                <a:schemeClr val="dk1"/>
              </a:buClr>
              <a:buSzPct val="61111"/>
              <a:buFont typeface="Arial"/>
              <a:buNone/>
            </a:pPr>
            <a:r>
              <a:rPr lang="en"/>
              <a:t> 	A+B-C (infix)</a:t>
            </a:r>
            <a:endParaRPr/>
          </a:p>
          <a:p>
            <a:pPr indent="457200" lvl="0" marL="0" rtl="0" algn="l">
              <a:spcBef>
                <a:spcPts val="1200"/>
              </a:spcBef>
              <a:spcAft>
                <a:spcPts val="0"/>
              </a:spcAft>
              <a:buClr>
                <a:schemeClr val="dk1"/>
              </a:buClr>
              <a:buSzPct val="61111"/>
              <a:buFont typeface="Arial"/>
              <a:buNone/>
            </a:pPr>
            <a:r>
              <a:rPr lang="en"/>
              <a:t>=&gt;(+AB)-C</a:t>
            </a:r>
            <a:endParaRPr/>
          </a:p>
          <a:p>
            <a:pPr indent="457200" lvl="0" marL="0" rtl="0" algn="l">
              <a:spcBef>
                <a:spcPts val="1200"/>
              </a:spcBef>
              <a:spcAft>
                <a:spcPts val="0"/>
              </a:spcAft>
              <a:buClr>
                <a:schemeClr val="dk1"/>
              </a:buClr>
              <a:buSzPct val="61111"/>
              <a:buFont typeface="Arial"/>
              <a:buNone/>
            </a:pPr>
            <a:r>
              <a:rPr lang="en"/>
              <a:t>=&gt; -+ABC (prefix)</a:t>
            </a:r>
            <a:endParaRPr/>
          </a:p>
          <a:p>
            <a:pPr indent="0" lvl="0" marL="0" rtl="0" algn="l">
              <a:spcBef>
                <a:spcPts val="1200"/>
              </a:spcBef>
              <a:spcAft>
                <a:spcPts val="1200"/>
              </a:spcAft>
              <a:buNone/>
            </a:pPr>
            <a:r>
              <a:t/>
            </a:r>
            <a:endParaRPr/>
          </a:p>
        </p:txBody>
      </p:sp>
      <p:sp>
        <p:nvSpPr>
          <p:cNvPr id="253" name="Google Shape;253;p44"/>
          <p:cNvSpPr txBox="1"/>
          <p:nvPr/>
        </p:nvSpPr>
        <p:spPr>
          <a:xfrm>
            <a:off x="4636625" y="2085650"/>
            <a:ext cx="37725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a:t>
            </a:r>
            <a:endParaRPr/>
          </a:p>
          <a:p>
            <a:pPr indent="457200" lvl="0" marL="0" rtl="0" algn="l">
              <a:spcBef>
                <a:spcPts val="0"/>
              </a:spcBef>
              <a:spcAft>
                <a:spcPts val="0"/>
              </a:spcAft>
              <a:buNone/>
            </a:pPr>
            <a:r>
              <a:rPr lang="en"/>
              <a:t>A $ B * C – D + E / F / (G + H) </a:t>
            </a:r>
            <a:endParaRPr/>
          </a:p>
          <a:p>
            <a:pPr indent="0" lvl="0" marL="0" rtl="0" algn="l">
              <a:spcBef>
                <a:spcPts val="0"/>
              </a:spcBef>
              <a:spcAft>
                <a:spcPts val="0"/>
              </a:spcAft>
              <a:buNone/>
            </a:pPr>
            <a:r>
              <a:rPr lang="en"/>
              <a:t>=&gt; 	A $ B * C – D + E / F /(+GH) </a:t>
            </a:r>
            <a:endParaRPr/>
          </a:p>
          <a:p>
            <a:pPr indent="0" lvl="0" marL="0" rtl="0" algn="l">
              <a:spcBef>
                <a:spcPts val="0"/>
              </a:spcBef>
              <a:spcAft>
                <a:spcPts val="0"/>
              </a:spcAft>
              <a:buNone/>
            </a:pPr>
            <a:r>
              <a:rPr lang="en"/>
              <a:t>=&gt;	$AB* C – D + E / F /(+GH) </a:t>
            </a:r>
            <a:endParaRPr/>
          </a:p>
          <a:p>
            <a:pPr indent="0" lvl="0" marL="0" rtl="0" algn="l">
              <a:spcBef>
                <a:spcPts val="0"/>
              </a:spcBef>
              <a:spcAft>
                <a:spcPts val="0"/>
              </a:spcAft>
              <a:buNone/>
            </a:pPr>
            <a:r>
              <a:rPr lang="en"/>
              <a:t>=&gt;	*$ABC-D+E/F/(+GH) </a:t>
            </a:r>
            <a:endParaRPr/>
          </a:p>
          <a:p>
            <a:pPr indent="0" lvl="0" marL="0" rtl="0" algn="l">
              <a:spcBef>
                <a:spcPts val="0"/>
              </a:spcBef>
              <a:spcAft>
                <a:spcPts val="0"/>
              </a:spcAft>
              <a:buNone/>
            </a:pPr>
            <a:r>
              <a:rPr lang="en"/>
              <a:t>=&gt;	*$ABC-D+(/EF)/(+GH) </a:t>
            </a:r>
            <a:endParaRPr/>
          </a:p>
          <a:p>
            <a:pPr indent="0" lvl="0" marL="0" rtl="0" algn="l">
              <a:spcBef>
                <a:spcPts val="0"/>
              </a:spcBef>
              <a:spcAft>
                <a:spcPts val="0"/>
              </a:spcAft>
              <a:buClr>
                <a:schemeClr val="dk1"/>
              </a:buClr>
              <a:buSzPts val="1100"/>
              <a:buFont typeface="Arial"/>
              <a:buNone/>
            </a:pPr>
            <a:r>
              <a:rPr lang="en"/>
              <a:t>=&gt;	*$ABC-D+//EF+GH</a:t>
            </a:r>
            <a:endParaRPr/>
          </a:p>
          <a:p>
            <a:pPr indent="0" lvl="0" marL="0" rtl="0" algn="l">
              <a:spcBef>
                <a:spcPts val="0"/>
              </a:spcBef>
              <a:spcAft>
                <a:spcPts val="0"/>
              </a:spcAft>
              <a:buNone/>
            </a:pPr>
            <a:r>
              <a:rPr lang="en"/>
              <a:t>=&gt; 	(-*$ABCD) + (//EF+GH) </a:t>
            </a:r>
            <a:endParaRPr/>
          </a:p>
          <a:p>
            <a:pPr indent="0" lvl="0" marL="0" rtl="0" algn="l">
              <a:spcBef>
                <a:spcPts val="0"/>
              </a:spcBef>
              <a:spcAft>
                <a:spcPts val="0"/>
              </a:spcAft>
              <a:buClr>
                <a:schemeClr val="dk1"/>
              </a:buClr>
              <a:buSzPts val="1100"/>
              <a:buFont typeface="Arial"/>
              <a:buNone/>
            </a:pPr>
            <a:r>
              <a:rPr lang="en"/>
              <a:t>=&gt;	+-*$ABCD//EF+GH</a:t>
            </a:r>
            <a:endParaRPr/>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prefix conversion[2]</a:t>
            </a:r>
            <a:endParaRPr/>
          </a:p>
        </p:txBody>
      </p:sp>
      <p:sp>
        <p:nvSpPr>
          <p:cNvPr id="259" name="Google Shape;259;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Algorithm</a:t>
            </a:r>
            <a:endParaRPr b="1" u="sng"/>
          </a:p>
          <a:p>
            <a:pPr indent="-342900" lvl="0" marL="457200" rtl="0" algn="l">
              <a:spcBef>
                <a:spcPts val="1200"/>
              </a:spcBef>
              <a:spcAft>
                <a:spcPts val="0"/>
              </a:spcAft>
              <a:buSzPts val="1800"/>
              <a:buChar char="●"/>
            </a:pPr>
            <a:r>
              <a:rPr lang="en"/>
              <a:t>Step 1: Reverse the infix expression. Note that while reversing the infix expression, the left and right parentheses are interchanged.</a:t>
            </a:r>
            <a:endParaRPr/>
          </a:p>
          <a:p>
            <a:pPr indent="-342900" lvl="0" marL="457200" rtl="0" algn="l">
              <a:spcBef>
                <a:spcPts val="0"/>
              </a:spcBef>
              <a:spcAft>
                <a:spcPts val="0"/>
              </a:spcAft>
              <a:buSzPts val="1800"/>
              <a:buChar char="●"/>
            </a:pPr>
            <a:r>
              <a:rPr lang="en"/>
              <a:t>Step 2: Obtain the postfix expression of the input expression as obtained in [1].</a:t>
            </a:r>
            <a:endParaRPr/>
          </a:p>
          <a:p>
            <a:pPr indent="-342900" lvl="0" marL="457200" rtl="0" algn="l">
              <a:spcBef>
                <a:spcPts val="0"/>
              </a:spcBef>
              <a:spcAft>
                <a:spcPts val="0"/>
              </a:spcAft>
              <a:buSzPts val="1800"/>
              <a:buChar char="●"/>
            </a:pPr>
            <a:r>
              <a:rPr lang="en"/>
              <a:t>Step 3: Reverse the postfix expression to obtain the prefix expression.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prefix conversion[3]</a:t>
            </a:r>
            <a:endParaRPr/>
          </a:p>
        </p:txBody>
      </p:sp>
      <p:sp>
        <p:nvSpPr>
          <p:cNvPr id="265" name="Google Shape;265;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 Infix expression: (A+B$C)*D+E$5</a:t>
            </a:r>
            <a:endParaRPr/>
          </a:p>
          <a:p>
            <a:pPr indent="-342900" lvl="0" marL="457200" rtl="0" algn="l">
              <a:spcBef>
                <a:spcPts val="0"/>
              </a:spcBef>
              <a:spcAft>
                <a:spcPts val="0"/>
              </a:spcAft>
              <a:buSzPts val="1800"/>
              <a:buChar char="●"/>
            </a:pPr>
            <a:r>
              <a:rPr lang="en"/>
              <a:t>String reversal =&gt; 5$E+D*(C$B+A)</a:t>
            </a:r>
            <a:endParaRPr/>
          </a:p>
          <a:p>
            <a:pPr indent="-342900" lvl="0" marL="457200" rtl="0" algn="l">
              <a:spcBef>
                <a:spcPts val="0"/>
              </a:spcBef>
              <a:spcAft>
                <a:spcPts val="0"/>
              </a:spcAft>
              <a:buSzPts val="1800"/>
              <a:buChar char="●"/>
            </a:pPr>
            <a:r>
              <a:rPr lang="en"/>
              <a:t>Obtaining the postfix expression of the given infix as:</a:t>
            </a:r>
            <a:endParaRPr/>
          </a:p>
          <a:p>
            <a:pPr indent="0" lvl="0" marL="457200" rtl="0" algn="l">
              <a:spcBef>
                <a:spcPts val="1200"/>
              </a:spcBef>
              <a:spcAft>
                <a:spcPts val="0"/>
              </a:spcAft>
              <a:buNone/>
            </a:pPr>
            <a:r>
              <a:rPr lang="en"/>
              <a:t>5E$DCB$A+*+</a:t>
            </a:r>
            <a:endParaRPr/>
          </a:p>
          <a:p>
            <a:pPr indent="-342900" lvl="0" marL="457200" rtl="0" algn="l">
              <a:spcBef>
                <a:spcPts val="1200"/>
              </a:spcBef>
              <a:spcAft>
                <a:spcPts val="0"/>
              </a:spcAft>
              <a:buSzPts val="1800"/>
              <a:buChar char="●"/>
            </a:pPr>
            <a:r>
              <a:rPr lang="en"/>
              <a:t>Reverse the result to get prefix expression:</a:t>
            </a:r>
            <a:endParaRPr/>
          </a:p>
          <a:p>
            <a:pPr indent="0" lvl="0" marL="457200" rtl="0" algn="l">
              <a:spcBef>
                <a:spcPts val="1200"/>
              </a:spcBef>
              <a:spcAft>
                <a:spcPts val="1200"/>
              </a:spcAft>
              <a:buNone/>
            </a:pPr>
            <a:r>
              <a:rPr lang="en"/>
              <a:t>+*+A$BCD$E5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Infix to prefix conversion[4]</a:t>
            </a:r>
            <a:endParaRPr/>
          </a:p>
        </p:txBody>
      </p:sp>
      <p:sp>
        <p:nvSpPr>
          <p:cNvPr id="271" name="Google Shape;27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Obtain the prefix expression of the given expressions:</a:t>
            </a:r>
            <a:endParaRPr/>
          </a:p>
          <a:p>
            <a:pPr indent="0" lvl="0" marL="0" rtl="0" algn="l">
              <a:spcBef>
                <a:spcPts val="1200"/>
              </a:spcBef>
              <a:spcAft>
                <a:spcPts val="1200"/>
              </a:spcAft>
              <a:buNone/>
            </a:pPr>
            <a:r>
              <a:t/>
            </a:r>
            <a:endParaRPr/>
          </a:p>
        </p:txBody>
      </p:sp>
      <p:pic>
        <p:nvPicPr>
          <p:cNvPr id="272" name="Google Shape;272;p47"/>
          <p:cNvPicPr preferRelativeResize="0"/>
          <p:nvPr/>
        </p:nvPicPr>
        <p:blipFill>
          <a:blip r:embed="rId3">
            <a:alphaModFix/>
          </a:blip>
          <a:stretch>
            <a:fillRect/>
          </a:stretch>
        </p:blipFill>
        <p:spPr>
          <a:xfrm>
            <a:off x="490250" y="1732425"/>
            <a:ext cx="6263699" cy="2765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postfix expression</a:t>
            </a:r>
            <a:endParaRPr/>
          </a:p>
        </p:txBody>
      </p:sp>
      <p:sp>
        <p:nvSpPr>
          <p:cNvPr id="278" name="Google Shape;27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a:t>
            </a:r>
            <a:endParaRPr/>
          </a:p>
          <a:p>
            <a:pPr indent="-342900" lvl="0" marL="457200" rtl="0" algn="l">
              <a:spcBef>
                <a:spcPts val="1200"/>
              </a:spcBef>
              <a:spcAft>
                <a:spcPts val="0"/>
              </a:spcAft>
              <a:buSzPts val="1800"/>
              <a:buAutoNum type="arabicPeriod"/>
            </a:pPr>
            <a:r>
              <a:rPr lang="en"/>
              <a:t>Add the unique symbol # at the end of array </a:t>
            </a:r>
            <a:r>
              <a:rPr b="1" lang="en"/>
              <a:t>pstack</a:t>
            </a:r>
            <a:r>
              <a:rPr lang="en"/>
              <a:t>.</a:t>
            </a:r>
            <a:endParaRPr/>
          </a:p>
          <a:p>
            <a:pPr indent="-342900" lvl="0" marL="457200" rtl="0" algn="l">
              <a:spcBef>
                <a:spcPts val="0"/>
              </a:spcBef>
              <a:spcAft>
                <a:spcPts val="0"/>
              </a:spcAft>
              <a:buSzPts val="1800"/>
              <a:buAutoNum type="arabicPeriod"/>
            </a:pPr>
            <a:r>
              <a:rPr lang="en"/>
              <a:t>Scan the symbol of postfix expression one by one from the left to right.</a:t>
            </a:r>
            <a:endParaRPr/>
          </a:p>
          <a:p>
            <a:pPr indent="-342900" lvl="0" marL="457200" rtl="0" algn="l">
              <a:spcBef>
                <a:spcPts val="0"/>
              </a:spcBef>
              <a:spcAft>
                <a:spcPts val="0"/>
              </a:spcAft>
              <a:buSzPts val="1800"/>
              <a:buAutoNum type="arabicPeriod"/>
            </a:pPr>
            <a:r>
              <a:rPr lang="en"/>
              <a:t>Do the following with each symbol until # is encountered:</a:t>
            </a:r>
            <a:endParaRPr/>
          </a:p>
          <a:p>
            <a:pPr indent="-317500" lvl="1" marL="914400" rtl="0" algn="l">
              <a:spcBef>
                <a:spcPts val="0"/>
              </a:spcBef>
              <a:spcAft>
                <a:spcPts val="0"/>
              </a:spcAft>
              <a:buSzPts val="1400"/>
              <a:buAutoNum type="alphaLcPeriod"/>
            </a:pPr>
            <a:r>
              <a:rPr lang="en"/>
              <a:t>If the symbol is operand, push into stack.</a:t>
            </a:r>
            <a:endParaRPr/>
          </a:p>
          <a:p>
            <a:pPr indent="-317500" lvl="1" marL="914400" rtl="0" algn="l">
              <a:spcBef>
                <a:spcPts val="0"/>
              </a:spcBef>
              <a:spcAft>
                <a:spcPts val="0"/>
              </a:spcAft>
              <a:buSzPts val="1400"/>
              <a:buAutoNum type="alphaLcPeriod"/>
            </a:pPr>
            <a:r>
              <a:rPr lang="en"/>
              <a:t>If the symbol is operator, the pop last 2 elements of the stack and evaluate it as :</a:t>
            </a:r>
            <a:br>
              <a:rPr lang="en"/>
            </a:br>
            <a:r>
              <a:rPr lang="en"/>
              <a:t>Pstack[top-1] operator pstack[top]</a:t>
            </a:r>
            <a:br>
              <a:rPr lang="en"/>
            </a:br>
            <a:r>
              <a:rPr lang="en"/>
              <a:t>Push the result into the stack</a:t>
            </a:r>
            <a:endParaRPr/>
          </a:p>
          <a:p>
            <a:pPr indent="-342900" lvl="0" marL="457200" rtl="0" algn="l">
              <a:spcBef>
                <a:spcPts val="0"/>
              </a:spcBef>
              <a:spcAft>
                <a:spcPts val="0"/>
              </a:spcAft>
              <a:buSzPts val="1800"/>
              <a:buAutoNum type="arabicPeriod"/>
            </a:pPr>
            <a:r>
              <a:rPr lang="en"/>
              <a:t>Pop the element of the stack which will be the value of evaluation of postfix expression.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postfix expression [2]</a:t>
            </a:r>
            <a:endParaRPr/>
          </a:p>
        </p:txBody>
      </p:sp>
      <p:sp>
        <p:nvSpPr>
          <p:cNvPr id="284" name="Google Shape;284;p49"/>
          <p:cNvSpPr txBox="1"/>
          <p:nvPr>
            <p:ph idx="1" type="body"/>
          </p:nvPr>
        </p:nvSpPr>
        <p:spPr>
          <a:xfrm>
            <a:off x="311700" y="1152475"/>
            <a:ext cx="8520600" cy="3930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Ex: Evaluation of </a:t>
            </a:r>
            <a:br>
              <a:rPr lang="en"/>
            </a:br>
            <a:endParaRPr/>
          </a:p>
          <a:p>
            <a:pPr indent="0" lvl="0" marL="0" rtl="0" algn="l">
              <a:spcBef>
                <a:spcPts val="1200"/>
              </a:spcBef>
              <a:spcAft>
                <a:spcPts val="0"/>
              </a:spcAft>
              <a:buNone/>
            </a:pPr>
            <a:r>
              <a:rPr lang="en"/>
              <a:t>ABCD$+*EF$GH/*-</a:t>
            </a:r>
            <a:br>
              <a:rPr lang="en"/>
            </a:br>
            <a:endParaRPr/>
          </a:p>
          <a:p>
            <a:pPr indent="0" lvl="0" marL="0" rtl="0" algn="l">
              <a:spcBef>
                <a:spcPts val="1200"/>
              </a:spcBef>
              <a:spcAft>
                <a:spcPts val="0"/>
              </a:spcAft>
              <a:buNone/>
            </a:pPr>
            <a:r>
              <a:rPr lang="en"/>
              <a:t>Where A=4,B=5, C=4, </a:t>
            </a:r>
            <a:br>
              <a:rPr lang="en"/>
            </a:br>
            <a:r>
              <a:rPr lang="en"/>
              <a:t>D=2, E=2, F=2, G=9 &amp; F=3</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u="sng"/>
              <a:t>DO THIS:</a:t>
            </a:r>
            <a:endParaRPr b="1" u="sng"/>
          </a:p>
          <a:p>
            <a:pPr indent="0" lvl="0" marL="0" rtl="0" algn="l">
              <a:spcBef>
                <a:spcPts val="1200"/>
              </a:spcBef>
              <a:spcAft>
                <a:spcPts val="0"/>
              </a:spcAft>
              <a:buNone/>
            </a:pPr>
            <a:r>
              <a:rPr b="1" lang="en"/>
              <a:t>123+*321-+* =&gt; ??</a:t>
            </a:r>
            <a:endParaRPr b="1"/>
          </a:p>
          <a:p>
            <a:pPr indent="0" lvl="0" marL="0" rtl="0" algn="l">
              <a:spcBef>
                <a:spcPts val="1200"/>
              </a:spcBef>
              <a:spcAft>
                <a:spcPts val="1200"/>
              </a:spcAft>
              <a:buNone/>
            </a:pPr>
            <a:r>
              <a:t/>
            </a:r>
            <a:endParaRPr/>
          </a:p>
        </p:txBody>
      </p:sp>
      <p:pic>
        <p:nvPicPr>
          <p:cNvPr id="285" name="Google Shape;285;p49"/>
          <p:cNvPicPr preferRelativeResize="0"/>
          <p:nvPr/>
        </p:nvPicPr>
        <p:blipFill>
          <a:blip r:embed="rId3">
            <a:alphaModFix/>
          </a:blip>
          <a:stretch>
            <a:fillRect/>
          </a:stretch>
        </p:blipFill>
        <p:spPr>
          <a:xfrm>
            <a:off x="4121781" y="1017725"/>
            <a:ext cx="5022218" cy="4125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of prefix expression</a:t>
            </a:r>
            <a:endParaRPr/>
          </a:p>
        </p:txBody>
      </p:sp>
      <p:sp>
        <p:nvSpPr>
          <p:cNvPr id="291" name="Google Shape;29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a:t>
            </a:r>
            <a:endParaRPr/>
          </a:p>
          <a:p>
            <a:pPr indent="-342900" lvl="0" marL="457200" rtl="0" algn="l">
              <a:spcBef>
                <a:spcPts val="1200"/>
              </a:spcBef>
              <a:spcAft>
                <a:spcPts val="0"/>
              </a:spcAft>
              <a:buSzPts val="1800"/>
              <a:buAutoNum type="arabicPeriod"/>
            </a:pPr>
            <a:r>
              <a:rPr lang="en"/>
              <a:t>Begin with initializing opndstack as an empty operand stack.</a:t>
            </a:r>
            <a:endParaRPr/>
          </a:p>
          <a:p>
            <a:pPr indent="-342900" lvl="0" marL="457200" rtl="0" algn="l">
              <a:spcBef>
                <a:spcPts val="0"/>
              </a:spcBef>
              <a:spcAft>
                <a:spcPts val="0"/>
              </a:spcAft>
              <a:buSzPts val="1800"/>
              <a:buAutoNum type="arabicPeriod"/>
            </a:pPr>
            <a:r>
              <a:rPr lang="en"/>
              <a:t>Scan infix expression one char at a time from right to left.</a:t>
            </a:r>
            <a:endParaRPr/>
          </a:p>
          <a:p>
            <a:pPr indent="-342900" lvl="0" marL="457200" rtl="0" algn="l">
              <a:spcBef>
                <a:spcPts val="0"/>
              </a:spcBef>
              <a:spcAft>
                <a:spcPts val="0"/>
              </a:spcAft>
              <a:buSzPts val="1800"/>
              <a:buAutoNum type="arabicPeriod"/>
            </a:pPr>
            <a:r>
              <a:rPr lang="en"/>
              <a:t>Do the following until no more characters in infix expressions.</a:t>
            </a:r>
            <a:endParaRPr/>
          </a:p>
          <a:p>
            <a:pPr indent="-317500" lvl="1" marL="914400" rtl="0" algn="l">
              <a:spcBef>
                <a:spcPts val="0"/>
              </a:spcBef>
              <a:spcAft>
                <a:spcPts val="0"/>
              </a:spcAft>
              <a:buSzPts val="1400"/>
              <a:buAutoNum type="alphaLcPeriod"/>
            </a:pPr>
            <a:r>
              <a:rPr lang="en"/>
              <a:t>If the scan char is operand, push it to opndstack</a:t>
            </a:r>
            <a:endParaRPr/>
          </a:p>
          <a:p>
            <a:pPr indent="-317500" lvl="1" marL="914400" rtl="0" algn="l">
              <a:spcBef>
                <a:spcPts val="0"/>
              </a:spcBef>
              <a:spcAft>
                <a:spcPts val="0"/>
              </a:spcAft>
              <a:buSzPts val="1400"/>
              <a:buAutoNum type="alphaLcPeriod"/>
            </a:pPr>
            <a:r>
              <a:rPr lang="en"/>
              <a:t>If the scan char is operator, pop opndstack[top] and opndstack[top-1] and perform the specified operation as:</a:t>
            </a:r>
            <a:br>
              <a:rPr lang="en"/>
            </a:br>
            <a:r>
              <a:rPr lang="en"/>
              <a:t>Opndstack[top] operator opndstack[top-1]</a:t>
            </a:r>
            <a:br>
              <a:rPr lang="en"/>
            </a:br>
            <a:r>
              <a:rPr lang="en"/>
              <a:t> Push the result into stack</a:t>
            </a:r>
            <a:endParaRPr/>
          </a:p>
          <a:p>
            <a:pPr indent="-342900" lvl="0" marL="457200" rtl="0" algn="l">
              <a:spcBef>
                <a:spcPts val="0"/>
              </a:spcBef>
              <a:spcAft>
                <a:spcPts val="0"/>
              </a:spcAft>
              <a:buSzPts val="1800"/>
              <a:buAutoNum type="arabicPeriod"/>
            </a:pPr>
            <a:r>
              <a:rPr lang="en"/>
              <a:t>Pop opndstack and display the required value.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of prefix expression[2]</a:t>
            </a:r>
            <a:endParaRPr/>
          </a:p>
        </p:txBody>
      </p:sp>
      <p:sp>
        <p:nvSpPr>
          <p:cNvPr id="297" name="Google Shape;297;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Ex: -*+4325							Do THIS: </a:t>
            </a:r>
            <a:r>
              <a:rPr b="1" lang="en"/>
              <a:t>/ + 5 3 – 4 2</a:t>
            </a:r>
            <a:endParaRPr b="1"/>
          </a:p>
        </p:txBody>
      </p:sp>
      <p:pic>
        <p:nvPicPr>
          <p:cNvPr id="298" name="Google Shape;298;p51"/>
          <p:cNvPicPr preferRelativeResize="0"/>
          <p:nvPr/>
        </p:nvPicPr>
        <p:blipFill>
          <a:blip r:embed="rId3">
            <a:alphaModFix/>
          </a:blip>
          <a:stretch>
            <a:fillRect/>
          </a:stretch>
        </p:blipFill>
        <p:spPr>
          <a:xfrm>
            <a:off x="311700" y="1594950"/>
            <a:ext cx="7342900" cy="3548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 for balancing of parenthesis</a:t>
            </a:r>
            <a:endParaRPr/>
          </a:p>
        </p:txBody>
      </p:sp>
      <p:sp>
        <p:nvSpPr>
          <p:cNvPr id="304" name="Google Shape;304;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u="sng"/>
              <a:t>Algorithm: </a:t>
            </a:r>
            <a:endParaRPr b="1" u="sng"/>
          </a:p>
          <a:p>
            <a:pPr indent="-342900" lvl="0" marL="457200" rtl="0" algn="l">
              <a:spcBef>
                <a:spcPts val="1200"/>
              </a:spcBef>
              <a:spcAft>
                <a:spcPts val="0"/>
              </a:spcAft>
              <a:buSzPts val="1800"/>
              <a:buAutoNum type="arabicPeriod"/>
            </a:pPr>
            <a:r>
              <a:rPr lang="en"/>
              <a:t>Declare a character stack S as empty stack.</a:t>
            </a:r>
            <a:endParaRPr/>
          </a:p>
          <a:p>
            <a:pPr indent="-342900" lvl="0" marL="457200" rtl="0" algn="l">
              <a:spcBef>
                <a:spcPts val="0"/>
              </a:spcBef>
              <a:spcAft>
                <a:spcPts val="0"/>
              </a:spcAft>
              <a:buSzPts val="1800"/>
              <a:buAutoNum type="arabicPeriod"/>
            </a:pPr>
            <a:r>
              <a:rPr lang="en"/>
              <a:t>Now traverse the expression string from left to right. </a:t>
            </a:r>
            <a:endParaRPr/>
          </a:p>
          <a:p>
            <a:pPr indent="-342900" lvl="0" marL="457200" rtl="0" algn="l">
              <a:spcBef>
                <a:spcPts val="0"/>
              </a:spcBef>
              <a:spcAft>
                <a:spcPts val="0"/>
              </a:spcAft>
              <a:buSzPts val="1800"/>
              <a:buAutoNum type="arabicPeriod"/>
            </a:pPr>
            <a:r>
              <a:rPr lang="en"/>
              <a:t>If the current character is a starting parenthesis (</a:t>
            </a:r>
            <a:r>
              <a:rPr lang="en" sz="2232"/>
              <a:t>‘(‘ or ‘{‘ or ‘[‘</a:t>
            </a:r>
            <a:r>
              <a:rPr lang="en"/>
              <a:t>) then push it to S.</a:t>
            </a:r>
            <a:endParaRPr/>
          </a:p>
          <a:p>
            <a:pPr indent="-342900" lvl="0" marL="457200" rtl="0" algn="l">
              <a:spcBef>
                <a:spcPts val="0"/>
              </a:spcBef>
              <a:spcAft>
                <a:spcPts val="0"/>
              </a:spcAft>
              <a:buSzPts val="1800"/>
              <a:buAutoNum type="arabicPeriod"/>
            </a:pPr>
            <a:r>
              <a:rPr lang="en"/>
              <a:t>If the current character is a closing bracket (</a:t>
            </a:r>
            <a:r>
              <a:rPr lang="en" sz="2016"/>
              <a:t>‘)’ or ‘}’ or ‘]’</a:t>
            </a:r>
            <a:r>
              <a:rPr lang="en"/>
              <a:t>) then pop from stack and if the popped character is the matching starting bracket then ok, else brackets are not balanced.</a:t>
            </a:r>
            <a:endParaRPr/>
          </a:p>
          <a:p>
            <a:pPr indent="-342900" lvl="0" marL="457200" rtl="0" algn="l">
              <a:spcBef>
                <a:spcPts val="0"/>
              </a:spcBef>
              <a:spcAft>
                <a:spcPts val="0"/>
              </a:spcAft>
              <a:buSzPts val="1800"/>
              <a:buAutoNum type="arabicPeriod"/>
            </a:pPr>
            <a:r>
              <a:rPr lang="en"/>
              <a:t>After complete traversal, if there is some starting bracket left in stack then “not balanced”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 for balancing of parenthesis[2]</a:t>
            </a:r>
            <a:endParaRPr/>
          </a:p>
        </p:txBody>
      </p:sp>
      <p:sp>
        <p:nvSpPr>
          <p:cNvPr id="310" name="Google Shape;310;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1" name="Google Shape;311;p53"/>
          <p:cNvPicPr preferRelativeResize="0"/>
          <p:nvPr/>
        </p:nvPicPr>
        <p:blipFill rotWithShape="1">
          <a:blip r:embed="rId3">
            <a:alphaModFix/>
          </a:blip>
          <a:srcRect b="5432" l="9297" r="0" t="51277"/>
          <a:stretch/>
        </p:blipFill>
        <p:spPr>
          <a:xfrm>
            <a:off x="4253650" y="2624659"/>
            <a:ext cx="4890350" cy="2518840"/>
          </a:xfrm>
          <a:prstGeom prst="rect">
            <a:avLst/>
          </a:prstGeom>
          <a:noFill/>
          <a:ln>
            <a:noFill/>
          </a:ln>
        </p:spPr>
      </p:pic>
      <p:pic>
        <p:nvPicPr>
          <p:cNvPr id="312" name="Google Shape;312;p53"/>
          <p:cNvPicPr preferRelativeResize="0"/>
          <p:nvPr/>
        </p:nvPicPr>
        <p:blipFill rotWithShape="1">
          <a:blip r:embed="rId3">
            <a:alphaModFix/>
          </a:blip>
          <a:srcRect b="50000" l="8243" r="7983" t="0"/>
          <a:stretch/>
        </p:blipFill>
        <p:spPr>
          <a:xfrm>
            <a:off x="0" y="1152475"/>
            <a:ext cx="4253649" cy="27399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