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2ABA14-19D1-4B73-8DAC-1598ABCF6163}">
  <a:tblStyle styleId="{472ABA14-19D1-4B73-8DAC-1598ABCF616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418" y="6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99909913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9298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4797af5c0e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797af5c0e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2239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4797af5c0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4797af5c0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629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4797af5c0e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4797af5c0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5729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4797af5c0e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14797af5c0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3078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4797af5c0e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4797af5c0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7137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4797af5c0e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4797af5c0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627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4797af5c0e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4797af5c0e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1036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4797af5c0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4797af5c0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6232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47b37945dc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47b37945d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321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4797af5c0e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4797af5c0e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790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47b37945dc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147b37945dc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3368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47b37945d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47b37945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6434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47b37945d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147b37945d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1921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7b37945d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7b37945d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2765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47b37945d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47b37945d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17789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47b37945dc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147b37945dc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4850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47b37945dc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47b37945d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4183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47b37945dc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147b37945dc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11314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47b37945dc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47b37945dc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3433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47b37945dc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147b37945dc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9790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458c577de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1458c577de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298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458c577de6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1458c577de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513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470092720d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470092720d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43574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458c577de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458c577de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8596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50846925b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150846925b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2213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50846925b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50846925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7425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CH 6</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Sorting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25755" algn="l" rtl="0">
              <a:spcBef>
                <a:spcPts val="0"/>
              </a:spcBef>
              <a:spcAft>
                <a:spcPts val="0"/>
              </a:spcAft>
              <a:buSzPct val="100000"/>
              <a:buChar char="●"/>
            </a:pPr>
            <a:r>
              <a:rPr lang="en"/>
              <a:t>Sorting is a technique to </a:t>
            </a:r>
            <a:r>
              <a:rPr lang="en" b="1"/>
              <a:t>rearrange the elements of a list</a:t>
            </a:r>
            <a:r>
              <a:rPr lang="en"/>
              <a:t> in ascending or descending order, which can be numerical, lexicographical, or any user-defined order. </a:t>
            </a:r>
            <a:endParaRPr/>
          </a:p>
          <a:p>
            <a:pPr marL="457200" lvl="0" indent="-325755" algn="l" rtl="0">
              <a:spcBef>
                <a:spcPts val="0"/>
              </a:spcBef>
              <a:spcAft>
                <a:spcPts val="0"/>
              </a:spcAft>
              <a:buSzPct val="100000"/>
              <a:buChar char="●"/>
            </a:pPr>
            <a:r>
              <a:rPr lang="en"/>
              <a:t>Sorting is a process through which the data is arranged in ascending or descending order </a:t>
            </a:r>
            <a:endParaRPr/>
          </a:p>
          <a:p>
            <a:pPr marL="457200" lvl="0" indent="-325755" algn="l" rtl="0">
              <a:spcBef>
                <a:spcPts val="0"/>
              </a:spcBef>
              <a:spcAft>
                <a:spcPts val="0"/>
              </a:spcAft>
              <a:buSzPct val="100000"/>
              <a:buChar char="●"/>
            </a:pPr>
            <a:r>
              <a:rPr lang="en"/>
              <a:t>The complexity of a sorting algorithm can be measured in terms of </a:t>
            </a:r>
            <a:endParaRPr/>
          </a:p>
          <a:p>
            <a:pPr marL="914400" lvl="1" indent="-304165" algn="l" rtl="0">
              <a:spcBef>
                <a:spcPts val="0"/>
              </a:spcBef>
              <a:spcAft>
                <a:spcPts val="0"/>
              </a:spcAft>
              <a:buSzPct val="100000"/>
              <a:buChar char="○"/>
            </a:pPr>
            <a:r>
              <a:rPr lang="en"/>
              <a:t>number of algorithm steps to sort n records </a:t>
            </a:r>
            <a:endParaRPr/>
          </a:p>
          <a:p>
            <a:pPr marL="914400" lvl="1" indent="-304165" algn="l" rtl="0">
              <a:spcBef>
                <a:spcPts val="0"/>
              </a:spcBef>
              <a:spcAft>
                <a:spcPts val="0"/>
              </a:spcAft>
              <a:buSzPct val="100000"/>
              <a:buChar char="○"/>
            </a:pPr>
            <a:r>
              <a:rPr lang="en"/>
              <a:t>number of comparisons between keys (appropriate when the keys are long character strings) </a:t>
            </a:r>
            <a:endParaRPr/>
          </a:p>
          <a:p>
            <a:pPr marL="914400" lvl="1" indent="-304165" algn="l" rtl="0">
              <a:spcBef>
                <a:spcPts val="0"/>
              </a:spcBef>
              <a:spcAft>
                <a:spcPts val="0"/>
              </a:spcAft>
              <a:buSzPct val="100000"/>
              <a:buChar char="○"/>
            </a:pPr>
            <a:r>
              <a:rPr lang="en"/>
              <a:t>number of times records must be moved (appropriate when record size is large) </a:t>
            </a:r>
            <a:endParaRPr/>
          </a:p>
          <a:p>
            <a:pPr marL="457200" lvl="0" indent="-325755" algn="l" rtl="0">
              <a:spcBef>
                <a:spcPts val="0"/>
              </a:spcBef>
              <a:spcAft>
                <a:spcPts val="0"/>
              </a:spcAft>
              <a:buSzPct val="100000"/>
              <a:buChar char="●"/>
            </a:pPr>
            <a:r>
              <a:rPr lang="en"/>
              <a:t>Example: </a:t>
            </a:r>
            <a:endParaRPr/>
          </a:p>
          <a:p>
            <a:pPr marL="914400" lvl="1" indent="-304165" algn="l" rtl="0">
              <a:spcBef>
                <a:spcPts val="0"/>
              </a:spcBef>
              <a:spcAft>
                <a:spcPts val="0"/>
              </a:spcAft>
              <a:buSzPct val="100000"/>
              <a:buChar char="○"/>
            </a:pPr>
            <a:r>
              <a:rPr lang="en"/>
              <a:t>1, 3, 4, 6, 8, 9 are in increasing order, as every next element is greater than the previous element. </a:t>
            </a:r>
            <a:endParaRPr/>
          </a:p>
          <a:p>
            <a:pPr marL="914400" lvl="1" indent="-304165" algn="l" rtl="0">
              <a:spcBef>
                <a:spcPts val="0"/>
              </a:spcBef>
              <a:spcAft>
                <a:spcPts val="0"/>
              </a:spcAft>
              <a:buSzPct val="100000"/>
              <a:buChar char="○"/>
            </a:pPr>
            <a:r>
              <a:rPr lang="en"/>
              <a:t>9, 8, 6, 4, 3, 1 are in decreasing order, as every next element is less than the previous element. </a:t>
            </a:r>
            <a:endParaRPr/>
          </a:p>
          <a:p>
            <a:pPr marL="914400" lvl="1" indent="-304165" algn="l" rtl="0">
              <a:spcBef>
                <a:spcPts val="0"/>
              </a:spcBef>
              <a:spcAft>
                <a:spcPts val="0"/>
              </a:spcAft>
              <a:buSzPct val="100000"/>
              <a:buChar char="○"/>
            </a:pPr>
            <a:r>
              <a:rPr lang="en"/>
              <a:t>9, 8, 6, 3, 3, 1 are in non-increasing order, as every next element is less than or equal to (in case of 3) but not greater than any previous element. </a:t>
            </a:r>
            <a:endParaRPr/>
          </a:p>
          <a:p>
            <a:pPr marL="914400" lvl="1" indent="-304165" algn="l" rtl="0">
              <a:spcBef>
                <a:spcPts val="0"/>
              </a:spcBef>
              <a:spcAft>
                <a:spcPts val="0"/>
              </a:spcAft>
              <a:buSzPct val="100000"/>
              <a:buChar char="○"/>
            </a:pPr>
            <a:r>
              <a:rPr lang="en"/>
              <a:t>1, 3, 3, 6, 8, 9 are in non-decreasing order, as every next element is greater than or equal to (in case of 3) but not less than the previous one.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 [2]</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a:t>Sorting algorithms may require some extra space for comparison and temporary storage of few data elements. </a:t>
            </a:r>
            <a:endParaRPr/>
          </a:p>
          <a:p>
            <a:pPr marL="457200" lvl="0" indent="-342900" algn="l" rtl="0">
              <a:spcBef>
                <a:spcPts val="0"/>
              </a:spcBef>
              <a:spcAft>
                <a:spcPts val="0"/>
              </a:spcAft>
              <a:buSzPts val="1800"/>
              <a:buChar char="●"/>
            </a:pPr>
            <a:r>
              <a:rPr lang="en"/>
              <a:t>These algorithms do not require any extra space and sorting is said to happen in-place, or for example, within the array itself. </a:t>
            </a:r>
            <a:endParaRPr/>
          </a:p>
          <a:p>
            <a:pPr marL="457200" lvl="0" indent="-342900" algn="l" rtl="0">
              <a:spcBef>
                <a:spcPts val="0"/>
              </a:spcBef>
              <a:spcAft>
                <a:spcPts val="0"/>
              </a:spcAft>
              <a:buSzPts val="1800"/>
              <a:buChar char="●"/>
            </a:pPr>
            <a:r>
              <a:rPr lang="en"/>
              <a:t>This is called </a:t>
            </a:r>
            <a:r>
              <a:rPr lang="en" b="1"/>
              <a:t>in-place sorting</a:t>
            </a:r>
            <a:r>
              <a:rPr lang="en"/>
              <a:t>. </a:t>
            </a:r>
            <a:endParaRPr/>
          </a:p>
          <a:p>
            <a:pPr marL="457200" lvl="0" indent="-342900" algn="l" rtl="0">
              <a:spcBef>
                <a:spcPts val="0"/>
              </a:spcBef>
              <a:spcAft>
                <a:spcPts val="0"/>
              </a:spcAft>
              <a:buSzPts val="1800"/>
              <a:buChar char="●"/>
            </a:pPr>
            <a:r>
              <a:rPr lang="en"/>
              <a:t>Bubble sort is an example of in-place sorting. </a:t>
            </a:r>
            <a:endParaRPr/>
          </a:p>
          <a:p>
            <a:pPr marL="457200" lvl="0" indent="-342900" algn="l" rtl="0">
              <a:spcBef>
                <a:spcPts val="0"/>
              </a:spcBef>
              <a:spcAft>
                <a:spcPts val="0"/>
              </a:spcAft>
              <a:buSzPts val="1800"/>
              <a:buChar char="●"/>
            </a:pPr>
            <a:r>
              <a:rPr lang="en"/>
              <a:t>Sorting which uses equal or more space is called </a:t>
            </a:r>
            <a:r>
              <a:rPr lang="en" b="1"/>
              <a:t>not-in-place sorting</a:t>
            </a:r>
            <a:r>
              <a:rPr lang="en"/>
              <a:t>. </a:t>
            </a:r>
            <a:endParaRPr/>
          </a:p>
          <a:p>
            <a:pPr marL="457200" lvl="0" indent="-342900" algn="l" rtl="0">
              <a:spcBef>
                <a:spcPts val="0"/>
              </a:spcBef>
              <a:spcAft>
                <a:spcPts val="0"/>
              </a:spcAft>
              <a:buSzPts val="1800"/>
              <a:buChar char="●"/>
            </a:pPr>
            <a:r>
              <a:rPr lang="en"/>
              <a:t>Merge-sort is an example of not-in-place sorting. </a:t>
            </a:r>
            <a:endParaRPr/>
          </a:p>
          <a:p>
            <a:pPr marL="457200" lvl="0" indent="-342900" algn="l" rtl="0">
              <a:spcBef>
                <a:spcPts val="0"/>
              </a:spcBef>
              <a:spcAft>
                <a:spcPts val="0"/>
              </a:spcAft>
              <a:buSzPts val="1800"/>
              <a:buChar char="●"/>
            </a:pPr>
            <a:r>
              <a:rPr lang="en"/>
              <a:t>If a sorting algorithm, after sorting the contents, does not change the sequence of similar content in which they annear, it is called </a:t>
            </a:r>
            <a:r>
              <a:rPr lang="en" b="1"/>
              <a:t>stable sorting.</a:t>
            </a:r>
            <a:r>
              <a:rPr lang="en"/>
              <a:t> </a:t>
            </a:r>
            <a:endParaRPr/>
          </a:p>
          <a:p>
            <a:pPr marL="457200" lvl="0" indent="-342900" algn="l" rtl="0">
              <a:spcBef>
                <a:spcPts val="0"/>
              </a:spcBef>
              <a:spcAft>
                <a:spcPts val="0"/>
              </a:spcAft>
              <a:buSzPts val="1800"/>
              <a:buChar char="●"/>
            </a:pPr>
            <a:r>
              <a:rPr lang="en"/>
              <a:t>If a sorting algorithm, after sorting the contents, changes the sequence of similar content in which they appear, It is called </a:t>
            </a:r>
            <a:r>
              <a:rPr lang="en" b="1"/>
              <a:t>unstable sorting</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 [3]</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endParaRPr/>
          </a:p>
        </p:txBody>
      </p:sp>
      <p:pic>
        <p:nvPicPr>
          <p:cNvPr id="74" name="Google Shape;74;p16"/>
          <p:cNvPicPr preferRelativeResize="0"/>
          <p:nvPr/>
        </p:nvPicPr>
        <p:blipFill>
          <a:blip r:embed="rId3">
            <a:alphaModFix/>
          </a:blip>
          <a:stretch>
            <a:fillRect/>
          </a:stretch>
        </p:blipFill>
        <p:spPr>
          <a:xfrm>
            <a:off x="349925" y="1152475"/>
            <a:ext cx="6210300" cy="1123950"/>
          </a:xfrm>
          <a:prstGeom prst="rect">
            <a:avLst/>
          </a:prstGeom>
          <a:noFill/>
          <a:ln>
            <a:noFill/>
          </a:ln>
        </p:spPr>
      </p:pic>
      <p:pic>
        <p:nvPicPr>
          <p:cNvPr id="75" name="Google Shape;75;p16"/>
          <p:cNvPicPr preferRelativeResize="0"/>
          <p:nvPr/>
        </p:nvPicPr>
        <p:blipFill>
          <a:blip r:embed="rId4">
            <a:alphaModFix/>
          </a:blip>
          <a:stretch>
            <a:fillRect/>
          </a:stretch>
        </p:blipFill>
        <p:spPr>
          <a:xfrm>
            <a:off x="533675" y="3585625"/>
            <a:ext cx="5467350" cy="1257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Internal vs External Sorting</a:t>
            </a:r>
            <a:endParaRPr/>
          </a:p>
        </p:txBody>
      </p:sp>
      <p:sp>
        <p:nvSpPr>
          <p:cNvPr id="81" name="Google Shape;81;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457200" lvl="0" indent="-325755" algn="l" rtl="0">
              <a:spcBef>
                <a:spcPts val="0"/>
              </a:spcBef>
              <a:spcAft>
                <a:spcPts val="0"/>
              </a:spcAft>
              <a:buSzPct val="100000"/>
              <a:buChar char="●"/>
            </a:pPr>
            <a:r>
              <a:rPr lang="en" b="1"/>
              <a:t>An internal sort</a:t>
            </a:r>
            <a:r>
              <a:rPr lang="en"/>
              <a:t> is any data sorting process that takes place entirely within the main memory of a computer. </a:t>
            </a:r>
            <a:endParaRPr/>
          </a:p>
          <a:p>
            <a:pPr marL="457200" lvl="0" indent="-325755" algn="l" rtl="0">
              <a:spcBef>
                <a:spcPts val="0"/>
              </a:spcBef>
              <a:spcAft>
                <a:spcPts val="0"/>
              </a:spcAft>
              <a:buSzPct val="100000"/>
              <a:buChar char="●"/>
            </a:pPr>
            <a:r>
              <a:rPr lang="en"/>
              <a:t>This is possible whenever the data to be sorted is small enough to all be held in the main memory.</a:t>
            </a:r>
            <a:endParaRPr/>
          </a:p>
          <a:p>
            <a:pPr marL="457200" lvl="0" indent="-325755" algn="l" rtl="0">
              <a:spcBef>
                <a:spcPts val="0"/>
              </a:spcBef>
              <a:spcAft>
                <a:spcPts val="0"/>
              </a:spcAft>
              <a:buSzPct val="100000"/>
              <a:buChar char="●"/>
            </a:pPr>
            <a:r>
              <a:rPr lang="en"/>
              <a:t>There are 3 types of internal sorts. </a:t>
            </a:r>
            <a:endParaRPr/>
          </a:p>
          <a:p>
            <a:pPr marL="914400" lvl="1" indent="-304165" algn="l" rtl="0">
              <a:spcBef>
                <a:spcPts val="0"/>
              </a:spcBef>
              <a:spcAft>
                <a:spcPts val="0"/>
              </a:spcAft>
              <a:buSzPct val="100000"/>
              <a:buChar char="○"/>
            </a:pPr>
            <a:r>
              <a:rPr lang="en"/>
              <a:t>(i) SELECTION SORT :- Ex- Selection sort algorithm, Heap Sort algorithm </a:t>
            </a:r>
            <a:endParaRPr/>
          </a:p>
          <a:p>
            <a:pPr marL="914400" lvl="1" indent="-304165" algn="l" rtl="0">
              <a:spcBef>
                <a:spcPts val="0"/>
              </a:spcBef>
              <a:spcAft>
                <a:spcPts val="0"/>
              </a:spcAft>
              <a:buSzPct val="100000"/>
              <a:buChar char="○"/>
            </a:pPr>
            <a:r>
              <a:rPr lang="en"/>
              <a:t>(ii) INSERTION SORT :- Ex:- Insertion sort algorithm, Shell Sort algorithm </a:t>
            </a:r>
            <a:endParaRPr/>
          </a:p>
          <a:p>
            <a:pPr marL="914400" lvl="1" indent="-304165" algn="l" rtl="0">
              <a:spcBef>
                <a:spcPts val="0"/>
              </a:spcBef>
              <a:spcAft>
                <a:spcPts val="0"/>
              </a:spcAft>
              <a:buSzPct val="100000"/>
              <a:buChar char="○"/>
            </a:pPr>
            <a:r>
              <a:rPr lang="en"/>
              <a:t>(iii) EXCHANGE SORT :- Ex:- Bubble Sort Algorithm, Quick sort algorithm </a:t>
            </a:r>
            <a:endParaRPr/>
          </a:p>
          <a:p>
            <a:pPr marL="457200" lvl="0" indent="-325755" algn="l" rtl="0">
              <a:spcBef>
                <a:spcPts val="0"/>
              </a:spcBef>
              <a:spcAft>
                <a:spcPts val="0"/>
              </a:spcAft>
              <a:buSzPct val="100000"/>
              <a:buChar char="●"/>
            </a:pPr>
            <a:r>
              <a:rPr lang="en"/>
              <a:t>Sorting large amount of data requires external or secondary memory. This process uses external memory such as HDD, to store the data which is not fit into the main memory therefore called </a:t>
            </a:r>
            <a:r>
              <a:rPr lang="en" b="1"/>
              <a:t>external sort</a:t>
            </a:r>
            <a:r>
              <a:rPr lang="en"/>
              <a:t>. </a:t>
            </a:r>
            <a:endParaRPr/>
          </a:p>
          <a:p>
            <a:pPr marL="457200" lvl="0" indent="-325755" algn="l" rtl="0">
              <a:spcBef>
                <a:spcPts val="0"/>
              </a:spcBef>
              <a:spcAft>
                <a:spcPts val="0"/>
              </a:spcAft>
              <a:buSzPct val="100000"/>
              <a:buChar char="●"/>
            </a:pPr>
            <a:r>
              <a:rPr lang="en"/>
              <a:t>So, primary memory holds the currently being sorted data only. All external sorts are based on process of merging. Different parts of data are sorted separately and merged together. </a:t>
            </a:r>
            <a:endParaRPr/>
          </a:p>
          <a:p>
            <a:pPr marL="457200" lvl="0" indent="-325755" algn="l" rtl="0">
              <a:spcBef>
                <a:spcPts val="0"/>
              </a:spcBef>
              <a:spcAft>
                <a:spcPts val="0"/>
              </a:spcAft>
              <a:buSzPct val="100000"/>
              <a:buChar char="●"/>
            </a:pPr>
            <a:r>
              <a:rPr lang="en"/>
              <a:t>Ex:- Merge Sort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Insertion Sort</a:t>
            </a:r>
            <a:endParaRPr/>
          </a:p>
        </p:txBody>
      </p:sp>
      <p:sp>
        <p:nvSpPr>
          <p:cNvPr id="87" name="Google Shape;8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Insertion sort is a simple sorting algorithm that works similar to the way you sort playing cards in your hands. </a:t>
            </a:r>
            <a:endParaRPr/>
          </a:p>
          <a:p>
            <a:pPr marL="457200" lvl="0" indent="-342900" algn="l" rtl="0">
              <a:spcBef>
                <a:spcPts val="0"/>
              </a:spcBef>
              <a:spcAft>
                <a:spcPts val="0"/>
              </a:spcAft>
              <a:buSzPts val="1800"/>
              <a:buChar char="●"/>
            </a:pPr>
            <a:r>
              <a:rPr lang="en"/>
              <a:t>The array is virtually split into a sorted and an unsorted part. </a:t>
            </a:r>
            <a:endParaRPr/>
          </a:p>
          <a:p>
            <a:pPr marL="457200" lvl="0" indent="-342900" algn="l" rtl="0">
              <a:spcBef>
                <a:spcPts val="0"/>
              </a:spcBef>
              <a:spcAft>
                <a:spcPts val="0"/>
              </a:spcAft>
              <a:buSzPts val="1800"/>
              <a:buChar char="●"/>
            </a:pPr>
            <a:r>
              <a:rPr lang="en"/>
              <a:t>Values from the unsorted part are picked and placed at the correct position in the sorted part. </a:t>
            </a:r>
            <a:endParaRPr/>
          </a:p>
          <a:p>
            <a:pPr marL="0" lvl="0" indent="0" algn="l" rtl="0">
              <a:spcBef>
                <a:spcPts val="1200"/>
              </a:spcBef>
              <a:spcAft>
                <a:spcPts val="1200"/>
              </a:spcAft>
              <a:buNone/>
            </a:pPr>
            <a:endParaRPr/>
          </a:p>
        </p:txBody>
      </p:sp>
      <p:pic>
        <p:nvPicPr>
          <p:cNvPr id="88" name="Google Shape;88;p18"/>
          <p:cNvPicPr preferRelativeResize="0"/>
          <p:nvPr/>
        </p:nvPicPr>
        <p:blipFill>
          <a:blip r:embed="rId3">
            <a:alphaModFix/>
          </a:blip>
          <a:stretch>
            <a:fillRect/>
          </a:stretch>
        </p:blipFill>
        <p:spPr>
          <a:xfrm>
            <a:off x="2964425" y="2479975"/>
            <a:ext cx="4788476" cy="2600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Insertion Sort Algorithm</a:t>
            </a:r>
            <a:endParaRPr/>
          </a:p>
        </p:txBody>
      </p:sp>
      <p:sp>
        <p:nvSpPr>
          <p:cNvPr id="94" name="Google Shape;9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a:t>We start with an empty left hand [</a:t>
            </a:r>
            <a:r>
              <a:rPr lang="en" b="1"/>
              <a:t>sorted array]</a:t>
            </a:r>
            <a:r>
              <a:rPr lang="en"/>
              <a:t> and the cards face down on the table [</a:t>
            </a:r>
            <a:r>
              <a:rPr lang="en" b="1"/>
              <a:t>unsorted array</a:t>
            </a:r>
            <a:r>
              <a:rPr lang="en"/>
              <a:t>]</a:t>
            </a:r>
            <a:endParaRPr/>
          </a:p>
          <a:p>
            <a:pPr marL="457200" lvl="0" indent="-342900" algn="l" rtl="0">
              <a:spcBef>
                <a:spcPts val="0"/>
              </a:spcBef>
              <a:spcAft>
                <a:spcPts val="0"/>
              </a:spcAft>
              <a:buSzPts val="1800"/>
              <a:buAutoNum type="arabicPeriod"/>
            </a:pPr>
            <a:r>
              <a:rPr lang="en"/>
              <a:t>Then remove one card at a time from the table [unsorted array], and insert it into the correct position in the left hand </a:t>
            </a:r>
            <a:br>
              <a:rPr lang="en"/>
            </a:br>
            <a:r>
              <a:rPr lang="en"/>
              <a:t>[sorted array]. </a:t>
            </a:r>
            <a:endParaRPr/>
          </a:p>
          <a:p>
            <a:pPr marL="457200" lvl="0" indent="-342900" algn="l" rtl="0">
              <a:spcBef>
                <a:spcPts val="0"/>
              </a:spcBef>
              <a:spcAft>
                <a:spcPts val="0"/>
              </a:spcAft>
              <a:buSzPts val="1800"/>
              <a:buAutoNum type="arabicPeriod"/>
            </a:pPr>
            <a:r>
              <a:rPr lang="en"/>
              <a:t>To find the correct position for the card, </a:t>
            </a:r>
            <a:br>
              <a:rPr lang="en"/>
            </a:br>
            <a:r>
              <a:rPr lang="en"/>
              <a:t>we compare it with each of the cards </a:t>
            </a:r>
            <a:br>
              <a:rPr lang="en"/>
            </a:br>
            <a:r>
              <a:rPr lang="en"/>
              <a:t>already in the hand, from right to left. </a:t>
            </a:r>
            <a:endParaRPr/>
          </a:p>
        </p:txBody>
      </p:sp>
      <p:pic>
        <p:nvPicPr>
          <p:cNvPr id="95" name="Google Shape;95;p19"/>
          <p:cNvPicPr preferRelativeResize="0"/>
          <p:nvPr/>
        </p:nvPicPr>
        <p:blipFill>
          <a:blip r:embed="rId3">
            <a:alphaModFix/>
          </a:blip>
          <a:stretch>
            <a:fillRect/>
          </a:stretch>
        </p:blipFill>
        <p:spPr>
          <a:xfrm>
            <a:off x="5153000" y="2125425"/>
            <a:ext cx="3991000" cy="3018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Insertion Sort Algorithm</a:t>
            </a:r>
            <a:endParaRPr/>
          </a:p>
        </p:txBody>
      </p:sp>
      <p:sp>
        <p:nvSpPr>
          <p:cNvPr id="101" name="Google Shape;101;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endParaRPr/>
          </a:p>
        </p:txBody>
      </p:sp>
      <p:pic>
        <p:nvPicPr>
          <p:cNvPr id="102" name="Google Shape;102;p20"/>
          <p:cNvPicPr preferRelativeResize="0"/>
          <p:nvPr/>
        </p:nvPicPr>
        <p:blipFill>
          <a:blip r:embed="rId3">
            <a:alphaModFix/>
          </a:blip>
          <a:stretch>
            <a:fillRect/>
          </a:stretch>
        </p:blipFill>
        <p:spPr>
          <a:xfrm>
            <a:off x="311700" y="1143000"/>
            <a:ext cx="5694000" cy="341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Insertion Sort - Implementation</a:t>
            </a:r>
            <a:endParaRPr/>
          </a:p>
        </p:txBody>
      </p:sp>
      <p:sp>
        <p:nvSpPr>
          <p:cNvPr id="108" name="Google Shape;108;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t>void insertionSort(int a[],int n){</a:t>
            </a:r>
            <a:endParaRPr/>
          </a:p>
          <a:p>
            <a:pPr marL="0" lvl="0" indent="0" algn="l" rtl="0">
              <a:spcBef>
                <a:spcPts val="1200"/>
              </a:spcBef>
              <a:spcAft>
                <a:spcPts val="0"/>
              </a:spcAft>
              <a:buNone/>
            </a:pPr>
            <a:r>
              <a:rPr lang="en"/>
              <a:t>	for(int i=1;i&lt;n;i++){</a:t>
            </a:r>
            <a:endParaRPr/>
          </a:p>
          <a:p>
            <a:pPr marL="0" lvl="0" indent="0" algn="l" rtl="0">
              <a:spcBef>
                <a:spcPts val="1200"/>
              </a:spcBef>
              <a:spcAft>
                <a:spcPts val="0"/>
              </a:spcAft>
              <a:buNone/>
            </a:pPr>
            <a:r>
              <a:rPr lang="en"/>
              <a:t>		Int next = a[i];</a:t>
            </a:r>
            <a:endParaRPr/>
          </a:p>
          <a:p>
            <a:pPr marL="0" lvl="0" indent="0" algn="l" rtl="0">
              <a:spcBef>
                <a:spcPts val="1200"/>
              </a:spcBef>
              <a:spcAft>
                <a:spcPts val="0"/>
              </a:spcAft>
              <a:buNone/>
            </a:pPr>
            <a:r>
              <a:rPr lang="en"/>
              <a:t>		for(int j=i-1;j&gt;=0 &amp;&amp; a[j]&gt;next ; j--)</a:t>
            </a:r>
            <a:endParaRPr/>
          </a:p>
          <a:p>
            <a:pPr marL="0" lvl="0" indent="0" algn="l" rtl="0">
              <a:spcBef>
                <a:spcPts val="1200"/>
              </a:spcBef>
              <a:spcAft>
                <a:spcPts val="0"/>
              </a:spcAft>
              <a:buNone/>
            </a:pPr>
            <a:r>
              <a:rPr lang="en"/>
              <a:t>			a[j+1]=a[j];</a:t>
            </a:r>
            <a:endParaRPr/>
          </a:p>
          <a:p>
            <a:pPr marL="0" lvl="0" indent="0" algn="l" rtl="0">
              <a:spcBef>
                <a:spcPts val="1200"/>
              </a:spcBef>
              <a:spcAft>
                <a:spcPts val="0"/>
              </a:spcAft>
              <a:buNone/>
            </a:pPr>
            <a:r>
              <a:rPr lang="en"/>
              <a:t>		a[j+1] = next;</a:t>
            </a:r>
            <a:endParaRPr/>
          </a:p>
          <a:p>
            <a:pPr marL="0" lvl="0" indent="457200" algn="l" rtl="0">
              <a:spcBef>
                <a:spcPts val="1200"/>
              </a:spcBef>
              <a:spcAft>
                <a:spcPts val="0"/>
              </a:spcAft>
              <a:buNone/>
            </a:pPr>
            <a:r>
              <a:rPr lang="en"/>
              <a:t>}</a:t>
            </a:r>
            <a:endParaRPr/>
          </a:p>
          <a:p>
            <a:pPr marL="0" lvl="0" indent="0" algn="l" rtl="0">
              <a:spcBef>
                <a:spcPts val="1200"/>
              </a:spcBef>
              <a:spcAft>
                <a:spcPts val="1200"/>
              </a:spcAft>
              <a:buNone/>
            </a:pPr>
            <a:r>
              <a:rPr lang="en"/>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Insertion Sort - Implementation</a:t>
            </a:r>
            <a:endParaRPr/>
          </a:p>
        </p:txBody>
      </p:sp>
      <p:sp>
        <p:nvSpPr>
          <p:cNvPr id="114" name="Google Shape;114;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Input: 9,1,3,2,7,6,5,8,0</a:t>
            </a:r>
            <a:endParaRPr/>
          </a:p>
        </p:txBody>
      </p:sp>
      <p:graphicFrame>
        <p:nvGraphicFramePr>
          <p:cNvPr id="115" name="Google Shape;115;p22"/>
          <p:cNvGraphicFramePr/>
          <p:nvPr/>
        </p:nvGraphicFramePr>
        <p:xfrm>
          <a:off x="384400" y="1666475"/>
          <a:ext cx="3000000" cy="3000000"/>
        </p:xfrm>
        <a:graphic>
          <a:graphicData uri="http://schemas.openxmlformats.org/drawingml/2006/table">
            <a:tbl>
              <a:tblPr>
                <a:noFill/>
                <a:tableStyleId>{472ABA14-19D1-4B73-8DAC-1598ABCF6163}</a:tableStyleId>
              </a:tblPr>
              <a:tblGrid>
                <a:gridCol w="1809750"/>
                <a:gridCol w="1809750"/>
                <a:gridCol w="1809750"/>
                <a:gridCol w="1809750"/>
              </a:tblGrid>
              <a:tr h="381000">
                <a:tc>
                  <a:txBody>
                    <a:bodyPr/>
                    <a:lstStyle/>
                    <a:p>
                      <a:pPr marL="0" lvl="0" indent="0" algn="l" rtl="0">
                        <a:spcBef>
                          <a:spcPts val="0"/>
                        </a:spcBef>
                        <a:spcAft>
                          <a:spcPts val="0"/>
                        </a:spcAft>
                        <a:buNone/>
                      </a:pPr>
                      <a:r>
                        <a:rPr lang="en"/>
                        <a:t>next</a:t>
                      </a:r>
                      <a:endParaRPr/>
                    </a:p>
                  </a:txBody>
                  <a:tcPr marL="91425" marR="91425" marT="91425" marB="91425"/>
                </a:tc>
                <a:tc>
                  <a:txBody>
                    <a:bodyPr/>
                    <a:lstStyle/>
                    <a:p>
                      <a:pPr marL="0" lvl="0" indent="0" algn="l" rtl="0">
                        <a:spcBef>
                          <a:spcPts val="0"/>
                        </a:spcBef>
                        <a:spcAft>
                          <a:spcPts val="0"/>
                        </a:spcAft>
                        <a:buNone/>
                      </a:pPr>
                      <a:r>
                        <a:rPr lang="en"/>
                        <a:t>i</a:t>
                      </a:r>
                      <a:endParaRPr/>
                    </a:p>
                  </a:txBody>
                  <a:tcPr marL="91425" marR="91425" marT="91425" marB="91425"/>
                </a:tc>
                <a:tc>
                  <a:txBody>
                    <a:bodyPr/>
                    <a:lstStyle/>
                    <a:p>
                      <a:pPr marL="0" lvl="0" indent="0" algn="l" rtl="0">
                        <a:spcBef>
                          <a:spcPts val="0"/>
                        </a:spcBef>
                        <a:spcAft>
                          <a:spcPts val="0"/>
                        </a:spcAft>
                        <a:buNone/>
                      </a:pPr>
                      <a:r>
                        <a:rPr lang="en"/>
                        <a:t>j</a:t>
                      </a:r>
                      <a:endParaRPr/>
                    </a:p>
                  </a:txBody>
                  <a:tcPr marL="91425" marR="91425" marT="91425" marB="91425"/>
                </a:tc>
                <a:tc>
                  <a:txBody>
                    <a:bodyPr/>
                    <a:lstStyle/>
                    <a:p>
                      <a:pPr marL="0" lvl="0" indent="0" algn="l" rtl="0">
                        <a:spcBef>
                          <a:spcPts val="0"/>
                        </a:spcBef>
                        <a:spcAft>
                          <a:spcPts val="0"/>
                        </a:spcAft>
                        <a:buNone/>
                      </a:pPr>
                      <a:r>
                        <a:rPr lang="en"/>
                        <a:t>array</a:t>
                      </a:r>
                      <a:endParaRPr/>
                    </a:p>
                  </a:txBody>
                  <a:tcPr marL="91425" marR="91425" marT="91425" marB="91425"/>
                </a:tc>
              </a:tr>
              <a:tr h="381000">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0, </a:t>
                      </a:r>
                      <a:endParaRPr/>
                    </a:p>
                  </a:txBody>
                  <a:tcPr marL="91425" marR="91425" marT="91425" marB="91425"/>
                </a:tc>
                <a:tc>
                  <a:txBody>
                    <a:bodyPr/>
                    <a:lstStyle/>
                    <a:p>
                      <a:pPr marL="0" lvl="0" indent="0" algn="l" rtl="0">
                        <a:spcBef>
                          <a:spcPts val="0"/>
                        </a:spcBef>
                        <a:spcAft>
                          <a:spcPts val="0"/>
                        </a:spcAft>
                        <a:buNone/>
                      </a:pPr>
                      <a:r>
                        <a:rPr lang="en"/>
                        <a:t>1,9, 3,2,7,6,5,8,0</a:t>
                      </a:r>
                      <a:endParaRPr/>
                    </a:p>
                  </a:txBody>
                  <a:tcPr marL="91425" marR="91425" marT="91425" marB="91425"/>
                </a:tc>
              </a:tr>
              <a:tr h="381000">
                <a:tc>
                  <a:txBody>
                    <a:bodyPr/>
                    <a:lstStyle/>
                    <a:p>
                      <a:pPr marL="0" lvl="0" indent="0" algn="l" rtl="0">
                        <a:spcBef>
                          <a:spcPts val="0"/>
                        </a:spcBef>
                        <a:spcAft>
                          <a:spcPts val="0"/>
                        </a:spcAft>
                        <a:buNone/>
                      </a:pPr>
                      <a:r>
                        <a:rPr lang="en"/>
                        <a:t>3</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1, 0</a:t>
                      </a:r>
                      <a:endParaRPr/>
                    </a:p>
                  </a:txBody>
                  <a:tcPr marL="91425" marR="91425" marT="91425" marB="91425"/>
                </a:tc>
                <a:tc>
                  <a:txBody>
                    <a:bodyPr/>
                    <a:lstStyle/>
                    <a:p>
                      <a:pPr marL="0" lvl="0" indent="0" algn="l" rtl="0">
                        <a:spcBef>
                          <a:spcPts val="0"/>
                        </a:spcBef>
                        <a:spcAft>
                          <a:spcPts val="0"/>
                        </a:spcAft>
                        <a:buNone/>
                      </a:pPr>
                      <a:r>
                        <a:rPr lang="en"/>
                        <a:t>1,3,9, 2,7,6,5,8,0</a:t>
                      </a:r>
                      <a:endParaRPr/>
                    </a:p>
                  </a:txBody>
                  <a:tcPr marL="91425" marR="91425" marT="91425" marB="91425"/>
                </a:tc>
              </a:tr>
              <a:tr h="381000">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3</a:t>
                      </a:r>
                      <a:endParaRPr/>
                    </a:p>
                  </a:txBody>
                  <a:tcPr marL="91425" marR="91425" marT="91425" marB="91425"/>
                </a:tc>
                <a:tc>
                  <a:txBody>
                    <a:bodyPr/>
                    <a:lstStyle/>
                    <a:p>
                      <a:pPr marL="0" lvl="0" indent="0" algn="l" rtl="0">
                        <a:spcBef>
                          <a:spcPts val="0"/>
                        </a:spcBef>
                        <a:spcAft>
                          <a:spcPts val="0"/>
                        </a:spcAft>
                        <a:buNone/>
                      </a:pPr>
                      <a:r>
                        <a:rPr lang="en"/>
                        <a:t>2, 1</a:t>
                      </a:r>
                      <a:endParaRPr/>
                    </a:p>
                  </a:txBody>
                  <a:tcPr marL="91425" marR="91425" marT="91425" marB="91425"/>
                </a:tc>
                <a:tc>
                  <a:txBody>
                    <a:bodyPr/>
                    <a:lstStyle/>
                    <a:p>
                      <a:pPr marL="0" lvl="0" indent="0" algn="l" rtl="0">
                        <a:spcBef>
                          <a:spcPts val="0"/>
                        </a:spcBef>
                        <a:spcAft>
                          <a:spcPts val="0"/>
                        </a:spcAft>
                        <a:buNone/>
                      </a:pPr>
                      <a:r>
                        <a:rPr lang="en"/>
                        <a:t>1,2,3,9, 7,6,5,8,0</a:t>
                      </a:r>
                      <a:endParaRPr/>
                    </a:p>
                  </a:txBody>
                  <a:tcPr marL="91425" marR="91425" marT="91425" marB="91425"/>
                </a:tc>
              </a:tr>
              <a:tr h="381000">
                <a:tc>
                  <a:txBody>
                    <a:bodyPr/>
                    <a:lstStyle/>
                    <a:p>
                      <a:pPr marL="0" lvl="0" indent="0" algn="l" rtl="0">
                        <a:spcBef>
                          <a:spcPts val="0"/>
                        </a:spcBef>
                        <a:spcAft>
                          <a:spcPts val="0"/>
                        </a:spcAft>
                        <a:buNone/>
                      </a:pPr>
                      <a:r>
                        <a:rPr lang="en"/>
                        <a:t>7</a:t>
                      </a:r>
                      <a:endParaRPr/>
                    </a:p>
                  </a:txBody>
                  <a:tcPr marL="91425" marR="91425" marT="91425" marB="91425"/>
                </a:tc>
                <a:tc>
                  <a:txBody>
                    <a:bodyPr/>
                    <a:lstStyle/>
                    <a:p>
                      <a:pPr marL="0" lvl="0" indent="0" algn="l" rtl="0">
                        <a:spcBef>
                          <a:spcPts val="0"/>
                        </a:spcBef>
                        <a:spcAft>
                          <a:spcPts val="0"/>
                        </a:spcAft>
                        <a:buNone/>
                      </a:pPr>
                      <a:r>
                        <a:rPr lang="en"/>
                        <a:t>4</a:t>
                      </a:r>
                      <a:endParaRPr/>
                    </a:p>
                  </a:txBody>
                  <a:tcPr marL="91425" marR="91425" marT="91425" marB="91425"/>
                </a:tc>
                <a:tc>
                  <a:txBody>
                    <a:bodyPr/>
                    <a:lstStyle/>
                    <a:p>
                      <a:pPr marL="0" lvl="0" indent="0" algn="l" rtl="0">
                        <a:spcBef>
                          <a:spcPts val="0"/>
                        </a:spcBef>
                        <a:spcAft>
                          <a:spcPts val="0"/>
                        </a:spcAft>
                        <a:buNone/>
                      </a:pPr>
                      <a:r>
                        <a:rPr lang="en"/>
                        <a:t>3,</a:t>
                      </a:r>
                      <a:endParaRPr/>
                    </a:p>
                  </a:txBody>
                  <a:tcPr marL="91425" marR="91425" marT="91425" marB="91425"/>
                </a:tc>
                <a:tc>
                  <a:txBody>
                    <a:bodyPr/>
                    <a:lstStyle/>
                    <a:p>
                      <a:pPr marL="0" lvl="0" indent="0" algn="l" rtl="0">
                        <a:spcBef>
                          <a:spcPts val="0"/>
                        </a:spcBef>
                        <a:spcAft>
                          <a:spcPts val="0"/>
                        </a:spcAft>
                        <a:buNone/>
                      </a:pPr>
                      <a:r>
                        <a:rPr lang="en"/>
                        <a:t>1,2,3,7,9, 6,5,8,0</a:t>
                      </a:r>
                      <a:endParaRPr/>
                    </a:p>
                  </a:txBody>
                  <a:tcPr marL="91425" marR="91425" marT="91425" marB="91425"/>
                </a:tc>
              </a:tr>
              <a:tr h="381000">
                <a:tc>
                  <a:txBody>
                    <a:bodyPr/>
                    <a:lstStyle/>
                    <a:p>
                      <a:pPr marL="0" lvl="0" indent="0" algn="l" rtl="0">
                        <a:spcBef>
                          <a:spcPts val="0"/>
                        </a:spcBef>
                        <a:spcAft>
                          <a:spcPts val="0"/>
                        </a:spcAft>
                        <a:buNone/>
                      </a:pPr>
                      <a:r>
                        <a:rPr lang="en"/>
                        <a:t>6</a:t>
                      </a:r>
                      <a:endParaRPr/>
                    </a:p>
                  </a:txBody>
                  <a:tcPr marL="91425" marR="91425" marT="91425" marB="91425"/>
                </a:tc>
                <a:tc>
                  <a:txBody>
                    <a:bodyPr/>
                    <a:lstStyle/>
                    <a:p>
                      <a:pPr marL="0" lvl="0" indent="0" algn="l" rtl="0">
                        <a:spcBef>
                          <a:spcPts val="0"/>
                        </a:spcBef>
                        <a:spcAft>
                          <a:spcPts val="0"/>
                        </a:spcAft>
                        <a:buNone/>
                      </a:pPr>
                      <a:r>
                        <a:rPr lang="en"/>
                        <a:t>5</a:t>
                      </a:r>
                      <a:endParaRPr/>
                    </a:p>
                  </a:txBody>
                  <a:tcPr marL="91425" marR="91425" marT="91425" marB="91425"/>
                </a:tc>
                <a:tc>
                  <a:txBody>
                    <a:bodyPr/>
                    <a:lstStyle/>
                    <a:p>
                      <a:pPr marL="0" lvl="0" indent="0" algn="l" rtl="0">
                        <a:spcBef>
                          <a:spcPts val="0"/>
                        </a:spcBef>
                        <a:spcAft>
                          <a:spcPts val="0"/>
                        </a:spcAft>
                        <a:buNone/>
                      </a:pPr>
                      <a:r>
                        <a:rPr lang="en"/>
                        <a:t>4,3</a:t>
                      </a:r>
                      <a:endParaRPr/>
                    </a:p>
                  </a:txBody>
                  <a:tcPr marL="91425" marR="91425" marT="91425" marB="91425"/>
                </a:tc>
                <a:tc>
                  <a:txBody>
                    <a:bodyPr/>
                    <a:lstStyle/>
                    <a:p>
                      <a:pPr marL="0" lvl="0" indent="0" algn="l" rtl="0">
                        <a:spcBef>
                          <a:spcPts val="0"/>
                        </a:spcBef>
                        <a:spcAft>
                          <a:spcPts val="0"/>
                        </a:spcAft>
                        <a:buNone/>
                      </a:pPr>
                      <a:r>
                        <a:rPr lang="en"/>
                        <a:t>1,2,3,6,7,9, 5,8,0</a:t>
                      </a:r>
                      <a:endParaRPr/>
                    </a:p>
                  </a:txBody>
                  <a:tcPr marL="91425" marR="91425" marT="91425" marB="91425"/>
                </a:tc>
              </a:tr>
              <a:tr h="381000">
                <a:tc>
                  <a:txBody>
                    <a:bodyPr/>
                    <a:lstStyle/>
                    <a:p>
                      <a:pPr marL="0" lvl="0" indent="0" algn="l" rtl="0">
                        <a:spcBef>
                          <a:spcPts val="0"/>
                        </a:spcBef>
                        <a:spcAft>
                          <a:spcPts val="0"/>
                        </a:spcAft>
                        <a:buNone/>
                      </a:pPr>
                      <a:r>
                        <a:rPr lang="en"/>
                        <a:t>5</a:t>
                      </a:r>
                      <a:endParaRPr/>
                    </a:p>
                  </a:txBody>
                  <a:tcPr marL="91425" marR="91425" marT="91425" marB="91425"/>
                </a:tc>
                <a:tc>
                  <a:txBody>
                    <a:bodyPr/>
                    <a:lstStyle/>
                    <a:p>
                      <a:pPr marL="0" lvl="0" indent="0" algn="l" rtl="0">
                        <a:spcBef>
                          <a:spcPts val="0"/>
                        </a:spcBef>
                        <a:spcAft>
                          <a:spcPts val="0"/>
                        </a:spcAft>
                        <a:buNone/>
                      </a:pPr>
                      <a:r>
                        <a:rPr lang="en"/>
                        <a:t>6</a:t>
                      </a:r>
                      <a:endParaRPr/>
                    </a:p>
                  </a:txBody>
                  <a:tcPr marL="91425" marR="91425" marT="91425" marB="91425"/>
                </a:tc>
                <a:tc>
                  <a:txBody>
                    <a:bodyPr/>
                    <a:lstStyle/>
                    <a:p>
                      <a:pPr marL="0" lvl="0" indent="0" algn="l" rtl="0">
                        <a:spcBef>
                          <a:spcPts val="0"/>
                        </a:spcBef>
                        <a:spcAft>
                          <a:spcPts val="0"/>
                        </a:spcAft>
                        <a:buNone/>
                      </a:pPr>
                      <a:r>
                        <a:rPr lang="en"/>
                        <a:t>5,4,3</a:t>
                      </a:r>
                      <a:endParaRPr/>
                    </a:p>
                  </a:txBody>
                  <a:tcPr marL="91425" marR="91425" marT="91425" marB="91425"/>
                </a:tc>
                <a:tc>
                  <a:txBody>
                    <a:bodyPr/>
                    <a:lstStyle/>
                    <a:p>
                      <a:pPr marL="0" lvl="0" indent="0" algn="l" rtl="0">
                        <a:spcBef>
                          <a:spcPts val="0"/>
                        </a:spcBef>
                        <a:spcAft>
                          <a:spcPts val="0"/>
                        </a:spcAft>
                        <a:buNone/>
                      </a:pPr>
                      <a:r>
                        <a:rPr lang="en"/>
                        <a:t>1,2,3,5,6,7,9, 8,0</a:t>
                      </a:r>
                      <a:endParaRPr/>
                    </a:p>
                  </a:txBody>
                  <a:tcPr marL="91425" marR="91425" marT="91425" marB="91425"/>
                </a:tc>
              </a:tr>
              <a:tr h="381000">
                <a:tc>
                  <a:txBody>
                    <a:bodyPr/>
                    <a:lstStyle/>
                    <a:p>
                      <a:pPr marL="0" lvl="0" indent="0" algn="l" rtl="0">
                        <a:spcBef>
                          <a:spcPts val="0"/>
                        </a:spcBef>
                        <a:spcAft>
                          <a:spcPts val="0"/>
                        </a:spcAft>
                        <a:buNone/>
                      </a:pPr>
                      <a:r>
                        <a:rPr lang="en"/>
                        <a:t>8</a:t>
                      </a:r>
                      <a:endParaRPr/>
                    </a:p>
                  </a:txBody>
                  <a:tcPr marL="91425" marR="91425" marT="91425" marB="91425"/>
                </a:tc>
                <a:tc>
                  <a:txBody>
                    <a:bodyPr/>
                    <a:lstStyle/>
                    <a:p>
                      <a:pPr marL="0" lvl="0" indent="0" algn="l" rtl="0">
                        <a:spcBef>
                          <a:spcPts val="0"/>
                        </a:spcBef>
                        <a:spcAft>
                          <a:spcPts val="0"/>
                        </a:spcAft>
                        <a:buNone/>
                      </a:pPr>
                      <a:r>
                        <a:rPr lang="en"/>
                        <a:t>7</a:t>
                      </a:r>
                      <a:endParaRPr/>
                    </a:p>
                  </a:txBody>
                  <a:tcPr marL="91425" marR="91425" marT="91425" marB="91425"/>
                </a:tc>
                <a:tc>
                  <a:txBody>
                    <a:bodyPr/>
                    <a:lstStyle/>
                    <a:p>
                      <a:pPr marL="0" lvl="0" indent="0" algn="l" rtl="0">
                        <a:spcBef>
                          <a:spcPts val="0"/>
                        </a:spcBef>
                        <a:spcAft>
                          <a:spcPts val="0"/>
                        </a:spcAft>
                        <a:buNone/>
                      </a:pPr>
                      <a:r>
                        <a:rPr lang="en"/>
                        <a:t>6,</a:t>
                      </a:r>
                      <a:endParaRPr/>
                    </a:p>
                  </a:txBody>
                  <a:tcPr marL="91425" marR="91425" marT="91425" marB="91425"/>
                </a:tc>
                <a:tc>
                  <a:txBody>
                    <a:bodyPr/>
                    <a:lstStyle/>
                    <a:p>
                      <a:pPr marL="0" lvl="0" indent="0" algn="l" rtl="0">
                        <a:spcBef>
                          <a:spcPts val="0"/>
                        </a:spcBef>
                        <a:spcAft>
                          <a:spcPts val="0"/>
                        </a:spcAft>
                        <a:buNone/>
                      </a:pPr>
                      <a:r>
                        <a:rPr lang="en"/>
                        <a:t>1,2,3,5,6,7,8,9, 0</a:t>
                      </a:r>
                      <a:endParaRPr/>
                    </a:p>
                  </a:txBody>
                  <a:tcPr marL="91425" marR="91425" marT="91425" marB="91425"/>
                </a:tc>
              </a:tr>
              <a:tr h="381000">
                <a:tc>
                  <a:txBody>
                    <a:bodyPr/>
                    <a:lstStyle/>
                    <a:p>
                      <a:pPr marL="0" lvl="0" indent="0" algn="l" rtl="0">
                        <a:spcBef>
                          <a:spcPts val="0"/>
                        </a:spcBef>
                        <a:spcAft>
                          <a:spcPts val="0"/>
                        </a:spcAft>
                        <a:buNone/>
                      </a:pPr>
                      <a:r>
                        <a:rPr lang="en"/>
                        <a:t>0</a:t>
                      </a:r>
                      <a:endParaRPr/>
                    </a:p>
                  </a:txBody>
                  <a:tcPr marL="91425" marR="91425" marT="91425" marB="91425"/>
                </a:tc>
                <a:tc>
                  <a:txBody>
                    <a:bodyPr/>
                    <a:lstStyle/>
                    <a:p>
                      <a:pPr marL="0" lvl="0" indent="0" algn="l" rtl="0">
                        <a:spcBef>
                          <a:spcPts val="0"/>
                        </a:spcBef>
                        <a:spcAft>
                          <a:spcPts val="0"/>
                        </a:spcAft>
                        <a:buNone/>
                      </a:pPr>
                      <a:r>
                        <a:rPr lang="en"/>
                        <a:t>8</a:t>
                      </a:r>
                      <a:endParaRPr/>
                    </a:p>
                  </a:txBody>
                  <a:tcPr marL="91425" marR="91425" marT="91425" marB="91425"/>
                </a:tc>
                <a:tc>
                  <a:txBody>
                    <a:bodyPr/>
                    <a:lstStyle/>
                    <a:p>
                      <a:pPr marL="0" lvl="0" indent="0" algn="l" rtl="0">
                        <a:spcBef>
                          <a:spcPts val="0"/>
                        </a:spcBef>
                        <a:spcAft>
                          <a:spcPts val="0"/>
                        </a:spcAft>
                        <a:buNone/>
                      </a:pPr>
                      <a:r>
                        <a:rPr lang="en"/>
                        <a:t>7,6,5,4,3,2,1,0</a:t>
                      </a:r>
                      <a:endParaRPr/>
                    </a:p>
                  </a:txBody>
                  <a:tcPr marL="91425" marR="91425" marT="91425" marB="91425"/>
                </a:tc>
                <a:tc>
                  <a:txBody>
                    <a:bodyPr/>
                    <a:lstStyle/>
                    <a:p>
                      <a:pPr marL="0" lvl="0" indent="0" algn="l" rtl="0">
                        <a:spcBef>
                          <a:spcPts val="0"/>
                        </a:spcBef>
                        <a:spcAft>
                          <a:spcPts val="0"/>
                        </a:spcAft>
                        <a:buNone/>
                      </a:pPr>
                      <a:r>
                        <a:rPr lang="en"/>
                        <a:t>0,1,2,3,5,6,7,8,9</a:t>
                      </a:r>
                      <a:endParaRPr/>
                    </a:p>
                  </a:txBody>
                  <a:tcPr marL="91425" marR="91425" marT="91425" marB="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Insertion Sort - Analysis</a:t>
            </a:r>
            <a:endParaRPr/>
          </a:p>
        </p:txBody>
      </p:sp>
      <p:sp>
        <p:nvSpPr>
          <p:cNvPr id="121" name="Google Shape;121;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Outer loop executes (n-1) times</a:t>
            </a:r>
            <a:endParaRPr/>
          </a:p>
          <a:p>
            <a:pPr marL="457200" lvl="0" indent="-342900" algn="l" rtl="0">
              <a:spcBef>
                <a:spcPts val="0"/>
              </a:spcBef>
              <a:spcAft>
                <a:spcPts val="0"/>
              </a:spcAft>
              <a:buSzPts val="1800"/>
              <a:buChar char="-"/>
            </a:pPr>
            <a:r>
              <a:rPr lang="en"/>
              <a:t>Number of times, the inner loop executes depends on the input</a:t>
            </a:r>
            <a:endParaRPr/>
          </a:p>
          <a:p>
            <a:pPr marL="914400" lvl="1" indent="-317500" algn="l" rtl="0">
              <a:spcBef>
                <a:spcPts val="0"/>
              </a:spcBef>
              <a:spcAft>
                <a:spcPts val="0"/>
              </a:spcAft>
              <a:buSzPts val="1400"/>
              <a:buChar char="-"/>
            </a:pPr>
            <a:r>
              <a:rPr lang="en"/>
              <a:t>Best Case: the array is already sorted and (a[j]&gt;next) is always false. No shifting of data is necessary in that case.</a:t>
            </a:r>
            <a:endParaRPr/>
          </a:p>
          <a:p>
            <a:pPr marL="914400" lvl="1" indent="-317500" algn="l" rtl="0">
              <a:spcBef>
                <a:spcPts val="0"/>
              </a:spcBef>
              <a:spcAft>
                <a:spcPts val="0"/>
              </a:spcAft>
              <a:buSzPts val="1400"/>
              <a:buChar char="-"/>
            </a:pPr>
            <a:r>
              <a:rPr lang="en"/>
              <a:t>Worst Case: The array is sorted in reverse order and (a[j]&gt;next) is always true.</a:t>
            </a:r>
            <a:endParaRPr/>
          </a:p>
          <a:p>
            <a:pPr marL="914400" lvl="1" indent="-317500" algn="l" rtl="0">
              <a:spcBef>
                <a:spcPts val="0"/>
              </a:spcBef>
              <a:spcAft>
                <a:spcPts val="0"/>
              </a:spcAft>
              <a:buSzPts val="1400"/>
              <a:buChar char="-"/>
            </a:pPr>
            <a:r>
              <a:rPr lang="en"/>
              <a:t>Average case: The data is mixed and sometimes shifting of data need to be done.</a:t>
            </a:r>
            <a:endParaRPr/>
          </a:p>
          <a:p>
            <a:pPr marL="457200" lvl="0" indent="-342900" algn="l" rtl="0">
              <a:spcBef>
                <a:spcPts val="0"/>
              </a:spcBef>
              <a:spcAft>
                <a:spcPts val="0"/>
              </a:spcAft>
              <a:buSzPts val="1800"/>
              <a:buChar char="-"/>
            </a:pPr>
            <a:r>
              <a:rPr lang="en"/>
              <a:t>So the Big O of insertion sort is given as:</a:t>
            </a:r>
            <a:endParaRPr/>
          </a:p>
          <a:p>
            <a:pPr marL="914400" lvl="1" indent="-317500" algn="l" rtl="0">
              <a:spcBef>
                <a:spcPts val="0"/>
              </a:spcBef>
              <a:spcAft>
                <a:spcPts val="0"/>
              </a:spcAft>
              <a:buSzPts val="1400"/>
              <a:buChar char="-"/>
            </a:pPr>
            <a:r>
              <a:rPr lang="en"/>
              <a:t>Best case time is O(n)</a:t>
            </a:r>
            <a:endParaRPr/>
          </a:p>
          <a:p>
            <a:pPr marL="914400" lvl="1" indent="-317500" algn="l" rtl="0">
              <a:spcBef>
                <a:spcPts val="0"/>
              </a:spcBef>
              <a:spcAft>
                <a:spcPts val="0"/>
              </a:spcAft>
              <a:buSzPts val="1400"/>
              <a:buChar char="-"/>
            </a:pPr>
            <a:r>
              <a:rPr lang="en"/>
              <a:t>Worst case time is O(n</a:t>
            </a:r>
            <a:r>
              <a:rPr lang="en" baseline="30000"/>
              <a:t>2</a:t>
            </a:r>
            <a:r>
              <a:rPr lang="en"/>
              <a:t>)</a:t>
            </a:r>
            <a:endParaRPr/>
          </a:p>
          <a:p>
            <a:pPr marL="914400" lvl="1" indent="-317500" algn="l" rtl="0">
              <a:spcBef>
                <a:spcPts val="0"/>
              </a:spcBef>
              <a:spcAft>
                <a:spcPts val="0"/>
              </a:spcAft>
              <a:buSzPts val="1400"/>
              <a:buChar char="-"/>
            </a:pPr>
            <a:r>
              <a:rPr lang="en"/>
              <a:t>Average case time is O(n</a:t>
            </a:r>
            <a:r>
              <a:rPr lang="en" baseline="30000"/>
              <a:t>2</a:t>
            </a:r>
            <a:r>
              <a:rPr lang="en"/>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Assignment</a:t>
            </a:r>
            <a:endParaRPr/>
          </a:p>
        </p:txBody>
      </p:sp>
      <p:sp>
        <p:nvSpPr>
          <p:cNvPr id="127" name="Google Shape;127;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Trace the insertion sort algorithm for sorting the following list of elements in ascending order:</a:t>
            </a:r>
            <a:endParaRPr/>
          </a:p>
          <a:p>
            <a:pPr marL="457200" lvl="0" indent="-342900" algn="l" rtl="0">
              <a:spcBef>
                <a:spcPts val="1200"/>
              </a:spcBef>
              <a:spcAft>
                <a:spcPts val="0"/>
              </a:spcAft>
              <a:buSzPts val="1800"/>
              <a:buAutoNum type="arabicPeriod"/>
            </a:pPr>
            <a:r>
              <a:rPr lang="en"/>
              <a:t>{0,1,2,3,4,5,6,7,8,9}</a:t>
            </a:r>
            <a:endParaRPr/>
          </a:p>
          <a:p>
            <a:pPr marL="457200" lvl="0" indent="-342900" algn="l" rtl="0">
              <a:spcBef>
                <a:spcPts val="0"/>
              </a:spcBef>
              <a:spcAft>
                <a:spcPts val="0"/>
              </a:spcAft>
              <a:buSzPts val="1800"/>
              <a:buAutoNum type="arabicPeriod"/>
            </a:pPr>
            <a:r>
              <a:rPr lang="en"/>
              <a:t>{9,8,7,6,5,4,3,2,1,0}</a:t>
            </a:r>
            <a:endParaRPr/>
          </a:p>
          <a:p>
            <a:pPr marL="457200" lvl="0" indent="-342900" algn="l" rtl="0">
              <a:spcBef>
                <a:spcPts val="0"/>
              </a:spcBef>
              <a:spcAft>
                <a:spcPts val="0"/>
              </a:spcAft>
              <a:buSzPts val="1800"/>
              <a:buAutoNum type="arabicPeriod"/>
            </a:pPr>
            <a:r>
              <a:rPr lang="en"/>
              <a:t>{0,9,1,8,2,7,3,6,4,5}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Selection Sort</a:t>
            </a:r>
            <a:endParaRPr/>
          </a:p>
        </p:txBody>
      </p:sp>
      <p:sp>
        <p:nvSpPr>
          <p:cNvPr id="133" name="Google Shape;133;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Sort an array by repeatedly finding the minimum element (assuming ascending order) from unsorted part and putting it at the beginning.</a:t>
            </a:r>
            <a:endParaRPr/>
          </a:p>
          <a:p>
            <a:pPr marL="0" lvl="0" indent="0" algn="l" rtl="0">
              <a:spcBef>
                <a:spcPts val="1200"/>
              </a:spcBef>
              <a:spcAft>
                <a:spcPts val="0"/>
              </a:spcAft>
              <a:buNone/>
            </a:pPr>
            <a:r>
              <a:rPr lang="en" b="1" u="sng"/>
              <a:t>Algorithm</a:t>
            </a:r>
            <a:endParaRPr b="1" u="sng"/>
          </a:p>
          <a:p>
            <a:pPr marL="457200" lvl="0" indent="-342900" algn="l" rtl="0">
              <a:spcBef>
                <a:spcPts val="1200"/>
              </a:spcBef>
              <a:spcAft>
                <a:spcPts val="0"/>
              </a:spcAft>
              <a:buSzPts val="1800"/>
              <a:buAutoNum type="arabicPeriod"/>
            </a:pPr>
            <a:r>
              <a:rPr lang="en"/>
              <a:t>Find the min value in the array</a:t>
            </a:r>
            <a:endParaRPr/>
          </a:p>
          <a:p>
            <a:pPr marL="457200" lvl="0" indent="-342900" algn="l" rtl="0">
              <a:spcBef>
                <a:spcPts val="0"/>
              </a:spcBef>
              <a:spcAft>
                <a:spcPts val="0"/>
              </a:spcAft>
              <a:buSzPts val="1800"/>
              <a:buAutoNum type="arabicPeriod"/>
            </a:pPr>
            <a:r>
              <a:rPr lang="en"/>
              <a:t>Swap it with the value in the first position</a:t>
            </a:r>
            <a:endParaRPr/>
          </a:p>
          <a:p>
            <a:pPr marL="457200" lvl="0" indent="-342900" algn="l" rtl="0">
              <a:spcBef>
                <a:spcPts val="0"/>
              </a:spcBef>
              <a:spcAft>
                <a:spcPts val="0"/>
              </a:spcAft>
              <a:buSzPts val="1800"/>
              <a:buAutoNum type="arabicPeriod"/>
            </a:pPr>
            <a:r>
              <a:rPr lang="en"/>
              <a:t>Repeat this process for all the elements until the entire array is sorted.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Selection sort [2]</a:t>
            </a:r>
            <a:endParaRPr/>
          </a:p>
        </p:txBody>
      </p:sp>
      <p:sp>
        <p:nvSpPr>
          <p:cNvPr id="139" name="Google Shape;139;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0" name="Google Shape;140;p26"/>
          <p:cNvPicPr preferRelativeResize="0"/>
          <p:nvPr/>
        </p:nvPicPr>
        <p:blipFill>
          <a:blip r:embed="rId3">
            <a:alphaModFix/>
          </a:blip>
          <a:stretch>
            <a:fillRect/>
          </a:stretch>
        </p:blipFill>
        <p:spPr>
          <a:xfrm>
            <a:off x="904875" y="911375"/>
            <a:ext cx="7334250" cy="4286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Selection Sort [3]</a:t>
            </a:r>
            <a:endParaRPr/>
          </a:p>
        </p:txBody>
      </p:sp>
      <p:sp>
        <p:nvSpPr>
          <p:cNvPr id="146" name="Google Shape;146;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7" name="Google Shape;147;p27"/>
          <p:cNvPicPr preferRelativeResize="0"/>
          <p:nvPr/>
        </p:nvPicPr>
        <p:blipFill>
          <a:blip r:embed="rId3">
            <a:alphaModFix/>
          </a:blip>
          <a:stretch>
            <a:fillRect/>
          </a:stretch>
        </p:blipFill>
        <p:spPr>
          <a:xfrm>
            <a:off x="311702" y="1217000"/>
            <a:ext cx="5995021" cy="3416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Selection sort Analysis</a:t>
            </a:r>
            <a:endParaRPr/>
          </a:p>
        </p:txBody>
      </p:sp>
      <p:sp>
        <p:nvSpPr>
          <p:cNvPr id="153" name="Google Shape;153;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Selection of the lowest element requires scanning all </a:t>
            </a:r>
            <a:r>
              <a:rPr lang="en" b="1"/>
              <a:t>n</a:t>
            </a:r>
            <a:r>
              <a:rPr lang="en"/>
              <a:t> elements. This will take (n-1) comparisons.</a:t>
            </a:r>
            <a:endParaRPr/>
          </a:p>
          <a:p>
            <a:pPr marL="457200" lvl="0" indent="-342900" algn="l" rtl="0">
              <a:spcBef>
                <a:spcPts val="0"/>
              </a:spcBef>
              <a:spcAft>
                <a:spcPts val="0"/>
              </a:spcAft>
              <a:buSzPts val="1800"/>
              <a:buChar char="●"/>
            </a:pPr>
            <a:r>
              <a:rPr lang="en"/>
              <a:t> Swapping it into the first position.</a:t>
            </a:r>
            <a:endParaRPr/>
          </a:p>
          <a:p>
            <a:pPr marL="457200" lvl="0" indent="-342900" algn="l" rtl="0">
              <a:spcBef>
                <a:spcPts val="0"/>
              </a:spcBef>
              <a:spcAft>
                <a:spcPts val="0"/>
              </a:spcAft>
              <a:buSzPts val="1800"/>
              <a:buChar char="●"/>
            </a:pPr>
            <a:r>
              <a:rPr lang="en"/>
              <a:t>Finding the next lowest element requires scanning remaining n-1 elements and so on, therefore it will take comparisons as=&gt; (n-1)+(n-2)+ … + 2 + 1 comparisons ie: O(n</a:t>
            </a:r>
            <a:r>
              <a:rPr lang="en" baseline="30000"/>
              <a:t>2</a:t>
            </a:r>
            <a:r>
              <a:rPr lang="en"/>
              <a:t>) comparisons.</a:t>
            </a:r>
            <a:endParaRPr/>
          </a:p>
          <a:p>
            <a:pPr marL="457200" lvl="0" indent="-342900" algn="l" rtl="0">
              <a:spcBef>
                <a:spcPts val="0"/>
              </a:spcBef>
              <a:spcAft>
                <a:spcPts val="0"/>
              </a:spcAft>
              <a:buSzPts val="1800"/>
              <a:buChar char="●"/>
            </a:pPr>
            <a:r>
              <a:rPr lang="en"/>
              <a:t>At every loop, it requires swapping of 1 swap for n-1 elements.</a:t>
            </a:r>
            <a:endParaRPr/>
          </a:p>
          <a:p>
            <a:pPr marL="457200" lvl="0" indent="-342900" algn="l" rtl="0">
              <a:spcBef>
                <a:spcPts val="0"/>
              </a:spcBef>
              <a:spcAft>
                <a:spcPts val="0"/>
              </a:spcAft>
              <a:buSzPts val="1800"/>
              <a:buChar char="●"/>
            </a:pPr>
            <a:r>
              <a:rPr lang="en"/>
              <a:t>Therefore:</a:t>
            </a:r>
            <a:endParaRPr/>
          </a:p>
          <a:p>
            <a:pPr marL="914400" lvl="1" indent="-317500" algn="l" rtl="0">
              <a:spcBef>
                <a:spcPts val="0"/>
              </a:spcBef>
              <a:spcAft>
                <a:spcPts val="0"/>
              </a:spcAft>
              <a:buSzPts val="1400"/>
              <a:buChar char="○"/>
            </a:pPr>
            <a:r>
              <a:rPr lang="en"/>
              <a:t>Worst case performance: O(n</a:t>
            </a:r>
            <a:r>
              <a:rPr lang="en" baseline="30000"/>
              <a:t>2</a:t>
            </a:r>
            <a:r>
              <a:rPr lang="en"/>
              <a:t>).</a:t>
            </a:r>
            <a:endParaRPr/>
          </a:p>
          <a:p>
            <a:pPr marL="914400" lvl="1" indent="-317500" algn="l" rtl="0">
              <a:spcBef>
                <a:spcPts val="0"/>
              </a:spcBef>
              <a:spcAft>
                <a:spcPts val="0"/>
              </a:spcAft>
              <a:buSzPts val="1400"/>
              <a:buChar char="○"/>
            </a:pPr>
            <a:r>
              <a:rPr lang="en"/>
              <a:t>Best case performance: O(n</a:t>
            </a:r>
            <a:r>
              <a:rPr lang="en" baseline="30000"/>
              <a:t>2</a:t>
            </a:r>
            <a:r>
              <a:rPr lang="en"/>
              <a:t>).</a:t>
            </a:r>
            <a:endParaRPr/>
          </a:p>
          <a:p>
            <a:pPr marL="914400" lvl="1" indent="-317500" algn="l" rtl="0">
              <a:spcBef>
                <a:spcPts val="0"/>
              </a:spcBef>
              <a:spcAft>
                <a:spcPts val="0"/>
              </a:spcAft>
              <a:buSzPts val="1400"/>
              <a:buChar char="○"/>
            </a:pPr>
            <a:r>
              <a:rPr lang="en"/>
              <a:t>Average case performance: O(n</a:t>
            </a:r>
            <a:r>
              <a:rPr lang="en" baseline="30000"/>
              <a:t>2</a:t>
            </a:r>
            <a:r>
              <a:rPr lang="en"/>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Assignment</a:t>
            </a:r>
            <a:endParaRPr/>
          </a:p>
        </p:txBody>
      </p:sp>
      <p:sp>
        <p:nvSpPr>
          <p:cNvPr id="159" name="Google Shape;159;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Trace the selection sort algorithm for sorting the following list of elements in ascending order:</a:t>
            </a:r>
            <a:endParaRPr/>
          </a:p>
          <a:p>
            <a:pPr marL="457200" lvl="0" indent="-342900" algn="l" rtl="0">
              <a:spcBef>
                <a:spcPts val="1200"/>
              </a:spcBef>
              <a:spcAft>
                <a:spcPts val="0"/>
              </a:spcAft>
              <a:buSzPts val="1800"/>
              <a:buAutoNum type="arabicPeriod"/>
            </a:pPr>
            <a:r>
              <a:rPr lang="en"/>
              <a:t>{0,1,2,3,4,5,6,7,8,9}</a:t>
            </a:r>
            <a:endParaRPr/>
          </a:p>
          <a:p>
            <a:pPr marL="457200" lvl="0" indent="-342900" algn="l" rtl="0">
              <a:spcBef>
                <a:spcPts val="0"/>
              </a:spcBef>
              <a:spcAft>
                <a:spcPts val="0"/>
              </a:spcAft>
              <a:buSzPts val="1800"/>
              <a:buAutoNum type="arabicPeriod"/>
            </a:pPr>
            <a:r>
              <a:rPr lang="en"/>
              <a:t>{9,8,7,6,5,4,3,2,1,0}</a:t>
            </a:r>
            <a:endParaRPr/>
          </a:p>
          <a:p>
            <a:pPr marL="457200" lvl="0" indent="-342900" algn="l" rtl="0">
              <a:spcBef>
                <a:spcPts val="0"/>
              </a:spcBef>
              <a:spcAft>
                <a:spcPts val="0"/>
              </a:spcAft>
              <a:buSzPts val="1800"/>
              <a:buAutoNum type="arabicPeriod"/>
            </a:pPr>
            <a:r>
              <a:rPr lang="en"/>
              <a:t>{0,9,1,8,2,7,3,6,4,5}</a:t>
            </a:r>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Bubble Sort</a:t>
            </a:r>
            <a:endParaRPr/>
          </a:p>
        </p:txBody>
      </p:sp>
      <p:sp>
        <p:nvSpPr>
          <p:cNvPr id="165" name="Google Shape;165;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Repeatedly swap the adjacent elements if they are in the wrong order.</a:t>
            </a:r>
            <a:endParaRPr/>
          </a:p>
          <a:p>
            <a:pPr marL="0" lvl="0" indent="0" algn="l" rtl="0">
              <a:spcBef>
                <a:spcPts val="1200"/>
              </a:spcBef>
              <a:spcAft>
                <a:spcPts val="0"/>
              </a:spcAft>
              <a:buNone/>
            </a:pPr>
            <a:r>
              <a:rPr lang="en"/>
              <a:t>Algorithm</a:t>
            </a:r>
            <a:endParaRPr/>
          </a:p>
          <a:p>
            <a:pPr marL="457200" lvl="0" indent="-342900" algn="l" rtl="0">
              <a:spcBef>
                <a:spcPts val="1200"/>
              </a:spcBef>
              <a:spcAft>
                <a:spcPts val="0"/>
              </a:spcAft>
              <a:buSzPts val="1800"/>
              <a:buAutoNum type="arabicPeriod"/>
            </a:pPr>
            <a:r>
              <a:rPr lang="en"/>
              <a:t>Compare each pair of adjacent elements in the array containing n elements.</a:t>
            </a:r>
            <a:endParaRPr/>
          </a:p>
          <a:p>
            <a:pPr marL="457200" lvl="0" indent="-342900" algn="l" rtl="0">
              <a:spcBef>
                <a:spcPts val="0"/>
              </a:spcBef>
              <a:spcAft>
                <a:spcPts val="0"/>
              </a:spcAft>
              <a:buSzPts val="1800"/>
              <a:buAutoNum type="arabicPeriod"/>
            </a:pPr>
            <a:r>
              <a:rPr lang="en"/>
              <a:t>Swap two elements if necessary</a:t>
            </a:r>
            <a:endParaRPr/>
          </a:p>
          <a:p>
            <a:pPr marL="457200" lvl="0" indent="-342900" algn="l" rtl="0">
              <a:spcBef>
                <a:spcPts val="0"/>
              </a:spcBef>
              <a:spcAft>
                <a:spcPts val="0"/>
              </a:spcAft>
              <a:buSzPts val="1800"/>
              <a:buAutoNum type="arabicPeriod"/>
            </a:pPr>
            <a:r>
              <a:rPr lang="en"/>
              <a:t>Repeat this process for all elements until the entire array is sorted.</a:t>
            </a:r>
            <a:endParaRPr/>
          </a:p>
          <a:p>
            <a:pPr marL="457200" lvl="0" indent="-342900" algn="l" rtl="0">
              <a:spcBef>
                <a:spcPts val="0"/>
              </a:spcBef>
              <a:spcAft>
                <a:spcPts val="0"/>
              </a:spcAft>
              <a:buSzPts val="1800"/>
              <a:buAutoNum type="arabicPeriod"/>
            </a:pPr>
            <a:r>
              <a:rPr lang="en"/>
              <a:t>Reduce n by 1 and go to step 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Bubble Sort [2]</a:t>
            </a:r>
            <a:endParaRPr/>
          </a:p>
        </p:txBody>
      </p:sp>
      <p:sp>
        <p:nvSpPr>
          <p:cNvPr id="171" name="Google Shape;171;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2" name="Google Shape;172;p31"/>
          <p:cNvPicPr preferRelativeResize="0"/>
          <p:nvPr/>
        </p:nvPicPr>
        <p:blipFill rotWithShape="1">
          <a:blip r:embed="rId3">
            <a:alphaModFix/>
          </a:blip>
          <a:srcRect b="4807"/>
          <a:stretch/>
        </p:blipFill>
        <p:spPr>
          <a:xfrm>
            <a:off x="1490895" y="1017725"/>
            <a:ext cx="7653105" cy="4125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Bubble Sort [3]</a:t>
            </a:r>
            <a:endParaRPr/>
          </a:p>
        </p:txBody>
      </p:sp>
      <p:sp>
        <p:nvSpPr>
          <p:cNvPr id="178" name="Google Shape;178;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9" name="Google Shape;179;p32"/>
          <p:cNvPicPr preferRelativeResize="0"/>
          <p:nvPr/>
        </p:nvPicPr>
        <p:blipFill>
          <a:blip r:embed="rId3">
            <a:alphaModFix/>
          </a:blip>
          <a:stretch>
            <a:fillRect/>
          </a:stretch>
        </p:blipFill>
        <p:spPr>
          <a:xfrm>
            <a:off x="1222475" y="1152475"/>
            <a:ext cx="6528425" cy="3917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Bubble sort[4]</a:t>
            </a:r>
            <a:endParaRPr/>
          </a:p>
        </p:txBody>
      </p:sp>
      <p:sp>
        <p:nvSpPr>
          <p:cNvPr id="185" name="Google Shape;185;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Trace the selection sort algorithm for sorting the following list of elements in ascending order:</a:t>
            </a:r>
            <a:endParaRPr/>
          </a:p>
          <a:p>
            <a:pPr marL="457200" lvl="0" indent="-342900" algn="l" rtl="0">
              <a:spcBef>
                <a:spcPts val="1200"/>
              </a:spcBef>
              <a:spcAft>
                <a:spcPts val="0"/>
              </a:spcAft>
              <a:buSzPts val="1800"/>
              <a:buAutoNum type="arabicPeriod"/>
            </a:pPr>
            <a:r>
              <a:rPr lang="en"/>
              <a:t>{0,1,2,3,4,5,6,7,8,9}</a:t>
            </a:r>
            <a:endParaRPr/>
          </a:p>
          <a:p>
            <a:pPr marL="457200" lvl="0" indent="-342900" algn="l" rtl="0">
              <a:spcBef>
                <a:spcPts val="0"/>
              </a:spcBef>
              <a:spcAft>
                <a:spcPts val="0"/>
              </a:spcAft>
              <a:buSzPts val="1800"/>
              <a:buAutoNum type="arabicPeriod"/>
            </a:pPr>
            <a:r>
              <a:rPr lang="en"/>
              <a:t>{9,8,7,6,5,4,3,2,1,0}</a:t>
            </a:r>
            <a:endParaRPr/>
          </a:p>
          <a:p>
            <a:pPr marL="457200" lvl="0" indent="-342900" algn="l" rtl="0">
              <a:spcBef>
                <a:spcPts val="0"/>
              </a:spcBef>
              <a:spcAft>
                <a:spcPts val="0"/>
              </a:spcAft>
              <a:buSzPts val="1800"/>
              <a:buAutoNum type="arabicPeriod"/>
            </a:pPr>
            <a:r>
              <a:rPr lang="en"/>
              <a:t>{0,9,1,8,2,7,3,6,4,5}</a:t>
            </a:r>
            <a:endParaRPr/>
          </a:p>
          <a:p>
            <a:pPr marL="0" lvl="0" indent="0" algn="l" rtl="0">
              <a:spcBef>
                <a:spcPts val="1200"/>
              </a:spcBef>
              <a:spcAft>
                <a:spcPts val="120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Bubble Sort Analysis</a:t>
            </a:r>
            <a:endParaRPr/>
          </a:p>
        </p:txBody>
      </p:sp>
      <p:sp>
        <p:nvSpPr>
          <p:cNvPr id="191" name="Google Shape;191;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Outer loop requires n iterations</a:t>
            </a:r>
            <a:endParaRPr/>
          </a:p>
          <a:p>
            <a:pPr marL="457200" lvl="0" indent="-342900" algn="l" rtl="0">
              <a:spcBef>
                <a:spcPts val="0"/>
              </a:spcBef>
              <a:spcAft>
                <a:spcPts val="0"/>
              </a:spcAft>
              <a:buSzPts val="1800"/>
              <a:buChar char="●"/>
            </a:pPr>
            <a:r>
              <a:rPr lang="en"/>
              <a:t>A single iteration of the inner loop requires time bounded by the constant c.</a:t>
            </a:r>
            <a:endParaRPr/>
          </a:p>
          <a:p>
            <a:pPr marL="457200" lvl="0" indent="-342900" algn="l" rtl="0">
              <a:spcBef>
                <a:spcPts val="0"/>
              </a:spcBef>
              <a:spcAft>
                <a:spcPts val="0"/>
              </a:spcAft>
              <a:buSzPts val="1800"/>
              <a:buChar char="●"/>
            </a:pPr>
            <a:r>
              <a:rPr lang="en"/>
              <a:t>Inner loop</a:t>
            </a:r>
            <a:endParaRPr/>
          </a:p>
          <a:p>
            <a:pPr marL="914400" lvl="1" indent="-317500" algn="l" rtl="0">
              <a:spcBef>
                <a:spcPts val="0"/>
              </a:spcBef>
              <a:spcAft>
                <a:spcPts val="0"/>
              </a:spcAft>
              <a:buSzPts val="1400"/>
              <a:buChar char="○"/>
            </a:pPr>
            <a:r>
              <a:rPr lang="en"/>
              <a:t>When i=0, requires n-1 iterations</a:t>
            </a:r>
            <a:endParaRPr/>
          </a:p>
          <a:p>
            <a:pPr marL="914400" lvl="1" indent="-317500" algn="l" rtl="0">
              <a:spcBef>
                <a:spcPts val="0"/>
              </a:spcBef>
              <a:spcAft>
                <a:spcPts val="0"/>
              </a:spcAft>
              <a:buSzPts val="1400"/>
              <a:buChar char="○"/>
            </a:pPr>
            <a:r>
              <a:rPr lang="en"/>
              <a:t>When i=1, requires n-2 iterations</a:t>
            </a:r>
            <a:endParaRPr/>
          </a:p>
          <a:p>
            <a:pPr marL="914400" lvl="1" indent="-317500" algn="l" rtl="0">
              <a:spcBef>
                <a:spcPts val="0"/>
              </a:spcBef>
              <a:spcAft>
                <a:spcPts val="0"/>
              </a:spcAft>
              <a:buSzPts val="1400"/>
              <a:buChar char="○"/>
            </a:pPr>
            <a:r>
              <a:rPr lang="en"/>
              <a:t>When i=n-1, requires 0 iterations.</a:t>
            </a:r>
            <a:endParaRPr/>
          </a:p>
          <a:p>
            <a:pPr marL="457200" lvl="0" indent="-342900" algn="l" rtl="0">
              <a:spcBef>
                <a:spcPts val="0"/>
              </a:spcBef>
              <a:spcAft>
                <a:spcPts val="0"/>
              </a:spcAft>
              <a:buSzPts val="1800"/>
              <a:buChar char="●"/>
            </a:pPr>
            <a:r>
              <a:rPr lang="en"/>
              <a:t>So, the total number of iterations = 0+1+ … + (n-1) = n(n-1)/2</a:t>
            </a:r>
            <a:endParaRPr/>
          </a:p>
          <a:p>
            <a:pPr marL="457200" lvl="0" indent="-342900" algn="l" rtl="0">
              <a:spcBef>
                <a:spcPts val="0"/>
              </a:spcBef>
              <a:spcAft>
                <a:spcPts val="0"/>
              </a:spcAft>
              <a:buSzPts val="1800"/>
              <a:buChar char="●"/>
            </a:pPr>
            <a:r>
              <a:rPr lang="en"/>
              <a:t>Total time = c*n(n-1)/2 = O(n</a:t>
            </a:r>
            <a:r>
              <a:rPr lang="en" baseline="30000"/>
              <a:t>2</a:t>
            </a:r>
            <a:r>
              <a:rPr lang="en"/>
              <a:t>).</a:t>
            </a:r>
            <a:endParaRPr/>
          </a:p>
          <a:p>
            <a:pPr marL="457200" lvl="0" indent="-342900" algn="l" rtl="0">
              <a:spcBef>
                <a:spcPts val="0"/>
              </a:spcBef>
              <a:spcAft>
                <a:spcPts val="0"/>
              </a:spcAft>
              <a:buSzPts val="1800"/>
              <a:buChar char="●"/>
            </a:pPr>
            <a:r>
              <a:rPr lang="en"/>
              <a:t>Worst case and average case complexity is O(n</a:t>
            </a:r>
            <a:r>
              <a:rPr lang="en" baseline="30000"/>
              <a:t>2</a:t>
            </a:r>
            <a:r>
              <a:rPr lang="en"/>
              <a:t>) </a:t>
            </a:r>
            <a:endParaRPr/>
          </a:p>
          <a:p>
            <a:pPr marL="457200" lvl="0" indent="-342900" algn="l" rtl="0">
              <a:spcBef>
                <a:spcPts val="0"/>
              </a:spcBef>
              <a:spcAft>
                <a:spcPts val="0"/>
              </a:spcAft>
              <a:buSzPts val="1800"/>
              <a:buChar char="●"/>
            </a:pPr>
            <a:r>
              <a:rPr lang="en"/>
              <a:t>best case it is O(n</a:t>
            </a:r>
            <a:r>
              <a:rPr lang="en" baseline="30000"/>
              <a:t>2</a:t>
            </a:r>
            <a:r>
              <a:rPr lang="en"/>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Shell Sort</a:t>
            </a:r>
            <a:endParaRPr/>
          </a:p>
        </p:txBody>
      </p:sp>
      <p:sp>
        <p:nvSpPr>
          <p:cNvPr id="197" name="Google Shape;197;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Char char="●"/>
            </a:pPr>
            <a:r>
              <a:rPr lang="en"/>
              <a:t>Shell sort is a generalized version of the insertion sort algorithm. </a:t>
            </a:r>
            <a:endParaRPr/>
          </a:p>
          <a:p>
            <a:pPr marL="457200" lvl="0" indent="-325755" algn="l" rtl="0">
              <a:spcBef>
                <a:spcPts val="0"/>
              </a:spcBef>
              <a:spcAft>
                <a:spcPts val="0"/>
              </a:spcAft>
              <a:buSzPct val="100000"/>
              <a:buChar char="●"/>
            </a:pPr>
            <a:r>
              <a:rPr lang="en"/>
              <a:t>It first </a:t>
            </a:r>
            <a:r>
              <a:rPr lang="en" b="1"/>
              <a:t>sorts elements that are far apart from each other and successively reduces the interval</a:t>
            </a:r>
            <a:r>
              <a:rPr lang="en"/>
              <a:t> between the elements to be sorted.</a:t>
            </a:r>
            <a:endParaRPr/>
          </a:p>
          <a:p>
            <a:pPr marL="457200" lvl="0" indent="-325755" algn="l" rtl="0">
              <a:spcBef>
                <a:spcPts val="0"/>
              </a:spcBef>
              <a:spcAft>
                <a:spcPts val="0"/>
              </a:spcAft>
              <a:buSzPct val="100000"/>
              <a:buChar char="●"/>
            </a:pPr>
            <a:r>
              <a:rPr lang="en"/>
              <a:t>The interval between the elements is reduced based on the sequence used.</a:t>
            </a:r>
            <a:endParaRPr/>
          </a:p>
          <a:p>
            <a:pPr marL="457200" lvl="0" indent="-325755" algn="l" rtl="0">
              <a:spcBef>
                <a:spcPts val="0"/>
              </a:spcBef>
              <a:spcAft>
                <a:spcPts val="0"/>
              </a:spcAft>
              <a:buSzPct val="100000"/>
              <a:buChar char="●"/>
            </a:pPr>
            <a:r>
              <a:rPr lang="en"/>
              <a:t>Compare elements in the array that are separated by a gap of &gt;1 indexes.</a:t>
            </a:r>
            <a:endParaRPr/>
          </a:p>
          <a:p>
            <a:pPr marL="457200" lvl="0" indent="-325755" algn="l" rtl="0">
              <a:spcBef>
                <a:spcPts val="0"/>
              </a:spcBef>
              <a:spcAft>
                <a:spcPts val="0"/>
              </a:spcAft>
              <a:buSzPct val="100000"/>
              <a:buChar char="●"/>
            </a:pPr>
            <a:r>
              <a:rPr lang="en"/>
              <a:t>Makes multiple passes through the array and sorts a number of equally sized sets using insertion sort.</a:t>
            </a:r>
            <a:endParaRPr/>
          </a:p>
          <a:p>
            <a:pPr marL="0" lvl="0" indent="0" algn="l" rtl="0">
              <a:spcBef>
                <a:spcPts val="1200"/>
              </a:spcBef>
              <a:spcAft>
                <a:spcPts val="0"/>
              </a:spcAft>
              <a:buNone/>
            </a:pPr>
            <a:r>
              <a:rPr lang="en" b="1" u="sng"/>
              <a:t>Algorithm</a:t>
            </a:r>
            <a:endParaRPr b="1" u="sng"/>
          </a:p>
          <a:p>
            <a:pPr marL="457200" lvl="0" indent="-325755" algn="l" rtl="0">
              <a:spcBef>
                <a:spcPts val="1200"/>
              </a:spcBef>
              <a:spcAft>
                <a:spcPts val="0"/>
              </a:spcAft>
              <a:buSzPct val="100000"/>
              <a:buChar char="●"/>
            </a:pPr>
            <a:r>
              <a:rPr lang="en"/>
              <a:t>Initialize the gap size (N/2, N/4, ...1)</a:t>
            </a:r>
            <a:endParaRPr/>
          </a:p>
          <a:p>
            <a:pPr marL="457200" lvl="0" indent="-325755" algn="l" rtl="0">
              <a:spcBef>
                <a:spcPts val="0"/>
              </a:spcBef>
              <a:spcAft>
                <a:spcPts val="0"/>
              </a:spcAft>
              <a:buSzPct val="100000"/>
              <a:buChar char="●"/>
            </a:pPr>
            <a:r>
              <a:rPr lang="en"/>
              <a:t>Divide the array into subarrays of equal gap size</a:t>
            </a:r>
            <a:endParaRPr/>
          </a:p>
          <a:p>
            <a:pPr marL="457200" lvl="0" indent="-325755" algn="l" rtl="0">
              <a:spcBef>
                <a:spcPts val="0"/>
              </a:spcBef>
              <a:spcAft>
                <a:spcPts val="0"/>
              </a:spcAft>
              <a:buSzPct val="100000"/>
              <a:buChar char="●"/>
            </a:pPr>
            <a:r>
              <a:rPr lang="en"/>
              <a:t>Apply insertion sort on the subarrays.</a:t>
            </a:r>
            <a:endParaRPr/>
          </a:p>
          <a:p>
            <a:pPr marL="457200" lvl="0" indent="-325755" algn="l" rtl="0">
              <a:spcBef>
                <a:spcPts val="0"/>
              </a:spcBef>
              <a:spcAft>
                <a:spcPts val="0"/>
              </a:spcAft>
              <a:buSzPct val="100000"/>
              <a:buChar char="●"/>
            </a:pPr>
            <a:r>
              <a:rPr lang="en"/>
              <a:t>Repeat the above steps by decreasing the gap size until the gap size becomes 0 resulting into a sorted array.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Shell Sort - Implementation</a:t>
            </a:r>
            <a:endParaRPr/>
          </a:p>
        </p:txBody>
      </p:sp>
      <p:sp>
        <p:nvSpPr>
          <p:cNvPr id="203" name="Google Shape;203;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4" name="Google Shape;204;p36"/>
          <p:cNvPicPr preferRelativeResize="0"/>
          <p:nvPr/>
        </p:nvPicPr>
        <p:blipFill>
          <a:blip r:embed="rId3">
            <a:alphaModFix/>
          </a:blip>
          <a:stretch>
            <a:fillRect/>
          </a:stretch>
        </p:blipFill>
        <p:spPr>
          <a:xfrm>
            <a:off x="0" y="1261163"/>
            <a:ext cx="9144001" cy="35597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Shell Sort - example</a:t>
            </a:r>
            <a:endParaRPr/>
          </a:p>
        </p:txBody>
      </p:sp>
      <p:sp>
        <p:nvSpPr>
          <p:cNvPr id="210" name="Google Shape;210;p37"/>
          <p:cNvSpPr txBox="1">
            <a:spLocks noGrp="1"/>
          </p:cNvSpPr>
          <p:nvPr>
            <p:ph type="body" idx="1"/>
          </p:nvPr>
        </p:nvSpPr>
        <p:spPr>
          <a:xfrm>
            <a:off x="311700" y="1152475"/>
            <a:ext cx="8520600" cy="39258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Consider an unsorted array: 81 94 11 96 12 35 17 95 28 58</a:t>
            </a:r>
            <a:endParaRPr dirty="0"/>
          </a:p>
          <a:p>
            <a:pPr marL="457200" lvl="0" indent="-342900" algn="l" rtl="0">
              <a:spcBef>
                <a:spcPts val="1200"/>
              </a:spcBef>
              <a:spcAft>
                <a:spcPts val="0"/>
              </a:spcAft>
              <a:buSzPts val="1800"/>
              <a:buAutoNum type="arabicPeriod"/>
            </a:pPr>
            <a:r>
              <a:rPr lang="en" dirty="0"/>
              <a:t>n=10, consider gap as k=5 [</a:t>
            </a:r>
            <a:r>
              <a:rPr lang="en" b="1" dirty="0"/>
              <a:t>10/2</a:t>
            </a:r>
            <a:r>
              <a:rPr lang="en" dirty="0"/>
              <a:t>]</a:t>
            </a:r>
            <a:br>
              <a:rPr lang="en" dirty="0"/>
            </a:br>
            <a:r>
              <a:rPr lang="en" dirty="0"/>
              <a:t>[</a:t>
            </a:r>
            <a:r>
              <a:rPr lang="en" dirty="0">
                <a:solidFill>
                  <a:srgbClr val="FF0000"/>
                </a:solidFill>
              </a:rPr>
              <a:t>81 94 11 96 12</a:t>
            </a:r>
            <a:r>
              <a:rPr lang="en" dirty="0"/>
              <a:t>] [</a:t>
            </a:r>
            <a:r>
              <a:rPr lang="en" dirty="0">
                <a:solidFill>
                  <a:srgbClr val="1155CC"/>
                </a:solidFill>
              </a:rPr>
              <a:t>35 17 95 28 58</a:t>
            </a:r>
            <a:r>
              <a:rPr lang="en" dirty="0"/>
              <a:t>]</a:t>
            </a:r>
            <a:br>
              <a:rPr lang="en" dirty="0"/>
            </a:br>
            <a:r>
              <a:rPr lang="en" dirty="0"/>
              <a:t>First pass: [35 17 11 28 12 81 94 95 96 58]</a:t>
            </a:r>
            <a:br>
              <a:rPr lang="en" dirty="0"/>
            </a:br>
            <a:endParaRPr dirty="0"/>
          </a:p>
          <a:p>
            <a:pPr marL="457200" lvl="0" indent="-342900" algn="l" rtl="0">
              <a:spcBef>
                <a:spcPts val="0"/>
              </a:spcBef>
              <a:spcAft>
                <a:spcPts val="0"/>
              </a:spcAft>
              <a:buSzPts val="1800"/>
              <a:buAutoNum type="arabicPeriod"/>
            </a:pPr>
            <a:r>
              <a:rPr lang="en" dirty="0">
                <a:solidFill>
                  <a:schemeClr val="accent6">
                    <a:lumMod val="75000"/>
                  </a:schemeClr>
                </a:solidFill>
              </a:rPr>
              <a:t>In second pass, K is reduced to 3 </a:t>
            </a:r>
            <a:r>
              <a:rPr lang="en" b="1" dirty="0">
                <a:solidFill>
                  <a:schemeClr val="accent6">
                    <a:lumMod val="75000"/>
                  </a:schemeClr>
                </a:solidFill>
              </a:rPr>
              <a:t>[10/4]</a:t>
            </a:r>
            <a:r>
              <a:rPr lang="en" dirty="0"/>
              <a:t/>
            </a:r>
            <a:br>
              <a:rPr lang="en" dirty="0"/>
            </a:br>
            <a:r>
              <a:rPr lang="en" dirty="0"/>
              <a:t>[35 17 11] [28 12 81] [94 95 96] [58]</a:t>
            </a:r>
            <a:br>
              <a:rPr lang="en" dirty="0"/>
            </a:br>
            <a:r>
              <a:rPr lang="en" dirty="0"/>
              <a:t>Result: [28 12 11 35 17 81 58 95 96 94]</a:t>
            </a:r>
            <a:br>
              <a:rPr lang="en" dirty="0"/>
            </a:br>
            <a:endParaRPr dirty="0"/>
          </a:p>
          <a:p>
            <a:pPr marL="457200" lvl="0" indent="-342900" algn="l" rtl="0">
              <a:spcBef>
                <a:spcPts val="0"/>
              </a:spcBef>
              <a:spcAft>
                <a:spcPts val="0"/>
              </a:spcAft>
              <a:buSzPts val="1800"/>
              <a:buAutoNum type="arabicPeriod"/>
            </a:pPr>
            <a:r>
              <a:rPr lang="en" dirty="0"/>
              <a:t>In third pass, K is reduced to 1 </a:t>
            </a:r>
            <a:r>
              <a:rPr lang="en" b="1" dirty="0"/>
              <a:t>[10/8]</a:t>
            </a:r>
            <a:r>
              <a:rPr lang="en" dirty="0"/>
              <a:t> </a:t>
            </a:r>
            <a:br>
              <a:rPr lang="en" dirty="0"/>
            </a:br>
            <a:r>
              <a:rPr lang="en" dirty="0"/>
              <a:t>[28] [12] [11] [35] [17] [81] [58] [95] [96] [94]</a:t>
            </a:r>
            <a:br>
              <a:rPr lang="en" dirty="0"/>
            </a:br>
            <a:r>
              <a:rPr lang="en" dirty="0"/>
              <a:t>Result: [11 12 17 28 35 58 81 94 95 96]</a:t>
            </a:r>
            <a:endParaRPr dirty="0"/>
          </a:p>
        </p:txBody>
      </p:sp>
      <p:pic>
        <p:nvPicPr>
          <p:cNvPr id="211" name="Google Shape;211;p37"/>
          <p:cNvPicPr preferRelativeResize="0"/>
          <p:nvPr/>
        </p:nvPicPr>
        <p:blipFill>
          <a:blip r:embed="rId3">
            <a:alphaModFix/>
          </a:blip>
          <a:stretch>
            <a:fillRect/>
          </a:stretch>
        </p:blipFill>
        <p:spPr>
          <a:xfrm>
            <a:off x="7095900" y="1680275"/>
            <a:ext cx="1597575" cy="321475"/>
          </a:xfrm>
          <a:prstGeom prst="rect">
            <a:avLst/>
          </a:prstGeom>
          <a:noFill/>
          <a:ln>
            <a:noFill/>
          </a:ln>
        </p:spPr>
      </p:pic>
      <p:pic>
        <p:nvPicPr>
          <p:cNvPr id="212" name="Google Shape;212;p37"/>
          <p:cNvPicPr preferRelativeResize="0"/>
          <p:nvPr/>
        </p:nvPicPr>
        <p:blipFill>
          <a:blip r:embed="rId4">
            <a:alphaModFix/>
          </a:blip>
          <a:stretch>
            <a:fillRect/>
          </a:stretch>
        </p:blipFill>
        <p:spPr>
          <a:xfrm>
            <a:off x="7176075" y="2001750"/>
            <a:ext cx="1442325" cy="279450"/>
          </a:xfrm>
          <a:prstGeom prst="rect">
            <a:avLst/>
          </a:prstGeom>
          <a:noFill/>
          <a:ln>
            <a:noFill/>
          </a:ln>
        </p:spPr>
      </p:pic>
      <p:pic>
        <p:nvPicPr>
          <p:cNvPr id="213" name="Google Shape;213;p37"/>
          <p:cNvPicPr preferRelativeResize="0"/>
          <p:nvPr/>
        </p:nvPicPr>
        <p:blipFill>
          <a:blip r:embed="rId5">
            <a:alphaModFix/>
          </a:blip>
          <a:stretch>
            <a:fillRect/>
          </a:stretch>
        </p:blipFill>
        <p:spPr>
          <a:xfrm>
            <a:off x="5787942" y="2563413"/>
            <a:ext cx="925458" cy="321475"/>
          </a:xfrm>
          <a:prstGeom prst="rect">
            <a:avLst/>
          </a:prstGeom>
          <a:noFill/>
          <a:ln>
            <a:noFill/>
          </a:ln>
        </p:spPr>
      </p:pic>
      <p:pic>
        <p:nvPicPr>
          <p:cNvPr id="214" name="Google Shape;214;p37"/>
          <p:cNvPicPr preferRelativeResize="0"/>
          <p:nvPr/>
        </p:nvPicPr>
        <p:blipFill>
          <a:blip r:embed="rId6">
            <a:alphaModFix/>
          </a:blip>
          <a:stretch>
            <a:fillRect/>
          </a:stretch>
        </p:blipFill>
        <p:spPr>
          <a:xfrm>
            <a:off x="5800963" y="2884875"/>
            <a:ext cx="899416" cy="269825"/>
          </a:xfrm>
          <a:prstGeom prst="rect">
            <a:avLst/>
          </a:prstGeom>
          <a:noFill/>
          <a:ln>
            <a:noFill/>
          </a:ln>
        </p:spPr>
      </p:pic>
      <p:pic>
        <p:nvPicPr>
          <p:cNvPr id="215" name="Google Shape;215;p37"/>
          <p:cNvPicPr preferRelativeResize="0"/>
          <p:nvPr/>
        </p:nvPicPr>
        <p:blipFill>
          <a:blip r:embed="rId7">
            <a:alphaModFix/>
          </a:blip>
          <a:stretch>
            <a:fillRect/>
          </a:stretch>
        </p:blipFill>
        <p:spPr>
          <a:xfrm>
            <a:off x="5773663" y="3154700"/>
            <a:ext cx="954024" cy="269825"/>
          </a:xfrm>
          <a:prstGeom prst="rect">
            <a:avLst/>
          </a:prstGeom>
          <a:noFill/>
          <a:ln>
            <a:noFill/>
          </a:ln>
        </p:spPr>
      </p:pic>
      <p:pic>
        <p:nvPicPr>
          <p:cNvPr id="216" name="Google Shape;216;p37"/>
          <p:cNvPicPr preferRelativeResize="0"/>
          <p:nvPr/>
        </p:nvPicPr>
        <p:blipFill>
          <a:blip r:embed="rId8">
            <a:alphaModFix/>
          </a:blip>
          <a:stretch>
            <a:fillRect/>
          </a:stretch>
        </p:blipFill>
        <p:spPr>
          <a:xfrm>
            <a:off x="5792513" y="3424525"/>
            <a:ext cx="394360" cy="2698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Shell Sort - Analysis</a:t>
            </a:r>
            <a:endParaRPr/>
          </a:p>
        </p:txBody>
      </p:sp>
      <p:sp>
        <p:nvSpPr>
          <p:cNvPr id="222" name="Google Shape;222;p38"/>
          <p:cNvSpPr txBox="1">
            <a:spLocks noGrp="1"/>
          </p:cNvSpPr>
          <p:nvPr>
            <p:ph type="body" idx="1"/>
          </p:nvPr>
        </p:nvSpPr>
        <p:spPr>
          <a:xfrm>
            <a:off x="311700" y="1152475"/>
            <a:ext cx="8520600" cy="392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Best Case = 0(nLogn)</a:t>
            </a:r>
            <a:endParaRPr/>
          </a:p>
          <a:p>
            <a:pPr marL="0" lvl="0" indent="0" algn="l" rtl="0">
              <a:spcBef>
                <a:spcPts val="1200"/>
              </a:spcBef>
              <a:spcAft>
                <a:spcPts val="0"/>
              </a:spcAft>
              <a:buNone/>
            </a:pPr>
            <a:r>
              <a:rPr lang="en"/>
              <a:t>Average Case = 0(nlogn)</a:t>
            </a:r>
            <a:endParaRPr/>
          </a:p>
          <a:p>
            <a:pPr marL="0" lvl="0" indent="0" algn="l" rtl="0">
              <a:spcBef>
                <a:spcPts val="1200"/>
              </a:spcBef>
              <a:spcAft>
                <a:spcPts val="1200"/>
              </a:spcAft>
              <a:buNone/>
            </a:pPr>
            <a:r>
              <a:rPr lang="en"/>
              <a:t>Worst Case = O(n</a:t>
            </a:r>
            <a:r>
              <a:rPr lang="en" baseline="30000"/>
              <a:t>2</a:t>
            </a:r>
            <a:r>
              <a:rPr lang="en"/>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8" name="Google Shape;228;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1435</Words>
  <Application>Microsoft Office PowerPoint</Application>
  <PresentationFormat>On-screen Show (16:9)</PresentationFormat>
  <Paragraphs>173</Paragraphs>
  <Slides>27</Slides>
  <Notes>27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27</vt:i4>
      </vt:variant>
    </vt:vector>
  </HeadingPairs>
  <TitlesOfParts>
    <vt:vector size="29" baseType="lpstr">
      <vt:lpstr>Arial</vt:lpstr>
      <vt:lpstr>Simple Light</vt:lpstr>
      <vt:lpstr>CH 6</vt:lpstr>
      <vt:lpstr>Introduction</vt:lpstr>
      <vt:lpstr>Introduction [2]</vt:lpstr>
      <vt:lpstr>Introduction [3]</vt:lpstr>
      <vt:lpstr>Internal vs External Sorting</vt:lpstr>
      <vt:lpstr>Insertion Sort</vt:lpstr>
      <vt:lpstr>Insertion Sort Algorithm</vt:lpstr>
      <vt:lpstr>Insertion Sort Algorithm</vt:lpstr>
      <vt:lpstr>Insertion Sort - Implementation</vt:lpstr>
      <vt:lpstr>Insertion Sort - Implementation</vt:lpstr>
      <vt:lpstr>Insertion Sort - Analysis</vt:lpstr>
      <vt:lpstr>Assignment</vt:lpstr>
      <vt:lpstr>Selection Sort</vt:lpstr>
      <vt:lpstr>Selection sort [2]</vt:lpstr>
      <vt:lpstr>Selection Sort [3]</vt:lpstr>
      <vt:lpstr>Selection sort Analysis</vt:lpstr>
      <vt:lpstr>Assignment</vt:lpstr>
      <vt:lpstr>Bubble Sort</vt:lpstr>
      <vt:lpstr>Bubble Sort [2]</vt:lpstr>
      <vt:lpstr>Bubble Sort [3]</vt:lpstr>
      <vt:lpstr>Bubble sort[4]</vt:lpstr>
      <vt:lpstr>Bubble Sort Analysis</vt:lpstr>
      <vt:lpstr>Shell Sort</vt:lpstr>
      <vt:lpstr>Shell Sort - Implementation</vt:lpstr>
      <vt:lpstr>Shell Sort - example</vt:lpstr>
      <vt:lpstr>Shell Sort - Analysis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6</dc:title>
  <cp:lastModifiedBy>Microsoft account</cp:lastModifiedBy>
  <cp:revision>1</cp:revision>
  <dcterms:modified xsi:type="dcterms:W3CDTF">2022-09-02T01:08:36Z</dcterms:modified>
</cp:coreProperties>
</file>